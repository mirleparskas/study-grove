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08" r:id="rId2"/>
    <p:sldId id="640" r:id="rId3"/>
    <p:sldId id="639" r:id="rId4"/>
    <p:sldId id="642" r:id="rId5"/>
    <p:sldId id="643" r:id="rId6"/>
    <p:sldId id="644" r:id="rId7"/>
    <p:sldId id="648" r:id="rId8"/>
    <p:sldId id="290" r:id="rId9"/>
    <p:sldId id="261" r:id="rId10"/>
    <p:sldId id="647" r:id="rId11"/>
    <p:sldId id="65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7/11/2024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899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7/11/2024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501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7/11/2024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551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7/11/2024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609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7/11/2024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6364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7/11/2024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735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7/11/2024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789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7/11/2024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51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7/11/2024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1553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7/11/2024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183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7/11/2024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374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7/11/2024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23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oundscanada.ca/eboutiqu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E741A-83DC-6609-E378-51EA3E1B4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 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4A616-632B-4140-7D65-A0C478745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Arterial Disease</a:t>
            </a:r>
          </a:p>
          <a:p>
            <a:r>
              <a:rPr lang="en-US" sz="1600" dirty="0" err="1"/>
              <a:t>S.Morrell</a:t>
            </a:r>
            <a:r>
              <a:rPr lang="en-US" sz="1600" dirty="0"/>
              <a:t> NP </a:t>
            </a:r>
            <a:r>
              <a:rPr lang="en-US" sz="1600" dirty="0" err="1"/>
              <a:t>MClSc</a:t>
            </a:r>
            <a:r>
              <a:rPr lang="en-US" sz="1600" dirty="0"/>
              <a:t>-wound healing</a:t>
            </a: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1557628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C9438-7FB4-D3CC-48BC-52FD0408B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769" y="89452"/>
            <a:ext cx="7504160" cy="667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87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59B68-6DC1-7588-1CD9-06AB7BDBC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5E16A-6DDD-5EB1-5632-539DD0D19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Treatment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D4E84-CED1-C91F-B5CD-2CDB67B00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74" y="2369735"/>
            <a:ext cx="12076043" cy="4488265"/>
          </a:xfrm>
        </p:spPr>
        <p:txBody>
          <a:bodyPr anchor="t">
            <a:normAutofit/>
          </a:bodyPr>
          <a:lstStyle/>
          <a:p>
            <a:r>
              <a:rPr lang="en-US" sz="2400" dirty="0"/>
              <a:t>Adequate perfusion indicates sufficient blood flow to support tissue viability and wound healing.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EF61198-1A1A-7882-5C0E-10EB0BCF2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781" y="4613867"/>
            <a:ext cx="1213209" cy="176799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9F626E0-F68D-0B32-315D-B71AF6A54C22}"/>
              </a:ext>
            </a:extLst>
          </p:cNvPr>
          <p:cNvSpPr/>
          <p:nvPr/>
        </p:nvSpPr>
        <p:spPr>
          <a:xfrm>
            <a:off x="520179" y="3448878"/>
            <a:ext cx="9952351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/>
                <a:solidFill>
                  <a:srgbClr val="FF5C21"/>
                </a:solidFill>
                <a:effectLst/>
                <a:uLnTx/>
                <a:uFillTx/>
                <a:latin typeface="Franklin Gothic Medium"/>
                <a:ea typeface="+mn-ea"/>
                <a:cs typeface="+mn-cs"/>
              </a:rPr>
              <a:t>What is the treatment for arterial disease?</a:t>
            </a:r>
          </a:p>
        </p:txBody>
      </p:sp>
    </p:spTree>
    <p:extLst>
      <p:ext uri="{BB962C8B-B14F-4D97-AF65-F5344CB8AC3E}">
        <p14:creationId xmlns:p14="http://schemas.microsoft.com/office/powerpoint/2010/main" val="1086899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16EF-740E-6B19-BCE0-C48616915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5456C-9B57-5A31-310D-0D5ED317E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83" y="2587752"/>
            <a:ext cx="11608904" cy="359359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Adequate perfusion indicates sufficient blood flow to support tissue viability and wound healing.</a:t>
            </a:r>
          </a:p>
          <a:p>
            <a:r>
              <a:rPr lang="en-US" dirty="0"/>
              <a:t>Treatment goal= Reducing cardiovascular risk and claudication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Lower LDL-C &lt;2.0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Lower BP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≥ 50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SBP ≤ 120; DM &lt;130/80; other &lt;140/90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Antiplatlet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/antithrombotic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line= ASA 75- 325mg Daily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line=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Colpidogrel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(Plavix) 75 mg daily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Claudication- Pentoxifylline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TRENtal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400mg TID &amp; Statins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10070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EE3D6-6FD1-BB6D-1278-4884E49A3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Treatment:</a:t>
            </a:r>
            <a:r>
              <a:rPr lang="en-CA" dirty="0"/>
              <a:t> critical limb-threatening ischemia (CLTI)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FF252-A92C-463C-C50B-2D519858C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46244"/>
            <a:ext cx="5695122" cy="461175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Diagnostic Imaging-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Diagnose &amp; identify vessels (Computed tomographic angiography (CTA))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Contraindication- Normal post-exercise ABPI</a:t>
            </a:r>
          </a:p>
          <a:p>
            <a:r>
              <a:rPr lang="en-US" dirty="0"/>
              <a:t>Revascularization- optimal treatment CLTI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Examples: balloon angioplasty, stent, atherectomy, thrombolysis, laser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BE8DA2-B162-F32F-234A-E1FF4CD91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018" y="2246244"/>
            <a:ext cx="6500982" cy="380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879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1799C-953A-43FE-22E8-7D7DBFC77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74" y="317814"/>
            <a:ext cx="10930658" cy="1700784"/>
          </a:xfrm>
        </p:spPr>
        <p:txBody>
          <a:bodyPr>
            <a:normAutofit fontScale="90000"/>
          </a:bodyPr>
          <a:lstStyle/>
          <a:p>
            <a:r>
              <a:rPr lang="en-US" dirty="0"/>
              <a:t>Treatment:</a:t>
            </a:r>
            <a:r>
              <a:rPr lang="en-CA" dirty="0"/>
              <a:t> Acute limb- ischemia (ALI)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C0AE3-89DC-C63A-2064-E9AABBD7C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529" y="2508239"/>
            <a:ext cx="10268712" cy="359359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Acute ischemia = urgent revascularization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Management ASAP- heparin and analgesics </a:t>
            </a:r>
          </a:p>
          <a:p>
            <a:r>
              <a:rPr lang="en-US" b="1" dirty="0"/>
              <a:t>Amputation for chronic ischemia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Failed revascularization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Lack of suitable target arteries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Severe patient comorbidities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Poor functional status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Extensive gangrene/infection &amp; limb preservation not possible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78B560-A7B8-76C1-7BD9-CC6D10E69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258" y="3429000"/>
            <a:ext cx="2938527" cy="293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881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F1B7D-395C-14FA-6F9F-EF30A104A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Surgical Treatment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9DF058-5217-72CB-4BD6-F551D96F5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0" y="2521086"/>
            <a:ext cx="6112277" cy="34343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48B1E6-5269-3AF9-6034-A9C25A5C4C0D}"/>
              </a:ext>
            </a:extLst>
          </p:cNvPr>
          <p:cNvSpPr/>
          <p:nvPr/>
        </p:nvSpPr>
        <p:spPr>
          <a:xfrm>
            <a:off x="475946" y="5955411"/>
            <a:ext cx="439690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Franklin Gothic Medium"/>
                <a:ea typeface="+mn-ea"/>
                <a:cs typeface="+mn-cs"/>
              </a:rPr>
              <a:t>Femoropopliteal Bypass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D0265B-FB54-70A8-8B9E-FE420A075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130" y="2686017"/>
            <a:ext cx="5971190" cy="31044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694C00E-A8BA-649B-AE73-D9ADA874D3E6}"/>
              </a:ext>
            </a:extLst>
          </p:cNvPr>
          <p:cNvSpPr/>
          <p:nvPr/>
        </p:nvSpPr>
        <p:spPr>
          <a:xfrm>
            <a:off x="7169734" y="5873121"/>
            <a:ext cx="443223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Franklin Gothic Medium"/>
                <a:ea typeface="+mn-ea"/>
                <a:cs typeface="+mn-cs"/>
              </a:rPr>
              <a:t>Below Knee Amputation</a:t>
            </a:r>
          </a:p>
        </p:txBody>
      </p:sp>
    </p:spTree>
    <p:extLst>
      <p:ext uri="{BB962C8B-B14F-4D97-AF65-F5344CB8AC3E}">
        <p14:creationId xmlns:p14="http://schemas.microsoft.com/office/powerpoint/2010/main" val="968297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Content Placeholder 2"/>
          <p:cNvSpPr>
            <a:spLocks noGrp="1"/>
          </p:cNvSpPr>
          <p:nvPr>
            <p:ph idx="1"/>
          </p:nvPr>
        </p:nvSpPr>
        <p:spPr>
          <a:xfrm>
            <a:off x="287009" y="2371007"/>
            <a:ext cx="11411348" cy="4038600"/>
          </a:xfrm>
        </p:spPr>
        <p:txBody>
          <a:bodyPr>
            <a:normAutofit fontScale="92500" lnSpcReduction="10000"/>
          </a:bodyPr>
          <a:lstStyle/>
          <a:p>
            <a:pPr lvl="1" eaLnBrk="1" hangingPunct="1">
              <a:buClrTx/>
              <a:buFont typeface="Courier New" pitchFamily="49" charset="0"/>
              <a:buChar char="o"/>
            </a:pPr>
            <a:r>
              <a:rPr lang="en-US" sz="2800" dirty="0"/>
              <a:t>Smoking cessation </a:t>
            </a:r>
          </a:p>
          <a:p>
            <a:pPr lvl="1" eaLnBrk="1" hangingPunct="1">
              <a:buClrTx/>
              <a:buFont typeface="Courier New" pitchFamily="49" charset="0"/>
              <a:buChar char="o"/>
            </a:pPr>
            <a:r>
              <a:rPr lang="en-US" sz="2800" b="1" dirty="0"/>
              <a:t>Control blood glucose levels</a:t>
            </a:r>
          </a:p>
          <a:p>
            <a:pPr marL="625475" lvl="2" indent="-268288">
              <a:buFont typeface="Courier New" pitchFamily="49" charset="0"/>
              <a:buChar char="o"/>
            </a:pPr>
            <a:r>
              <a:rPr lang="en-US" sz="2300" dirty="0"/>
              <a:t>glycated hemoglobin (A1C) levels &gt;7.0%- increased risk of both microvascular &amp; cardiovascular (CV) complications </a:t>
            </a:r>
            <a:endParaRPr lang="en-US" sz="2300" b="1" dirty="0"/>
          </a:p>
          <a:p>
            <a:pPr lvl="1" eaLnBrk="1" hangingPunct="1">
              <a:buClrTx/>
              <a:buFont typeface="Courier New" pitchFamily="49" charset="0"/>
              <a:buChar char="o"/>
            </a:pPr>
            <a:r>
              <a:rPr lang="en-US" sz="2800" dirty="0"/>
              <a:t>Control blood pressure</a:t>
            </a:r>
          </a:p>
          <a:p>
            <a:pPr lvl="2">
              <a:buFont typeface="Courier New" pitchFamily="49" charset="0"/>
              <a:buChar char="o"/>
            </a:pPr>
            <a:r>
              <a:rPr lang="en-US" sz="2300" dirty="0"/>
              <a:t> decrease CV complications</a:t>
            </a:r>
          </a:p>
          <a:p>
            <a:pPr lvl="1" eaLnBrk="1" hangingPunct="1">
              <a:buClrTx/>
              <a:buFont typeface="Courier New" pitchFamily="49" charset="0"/>
              <a:buChar char="o"/>
            </a:pPr>
            <a:r>
              <a:rPr lang="en-US" sz="2800" dirty="0"/>
              <a:t>Assess feet</a:t>
            </a:r>
          </a:p>
          <a:p>
            <a:pPr lvl="1">
              <a:buFont typeface="Courier New" pitchFamily="49" charset="0"/>
              <a:buChar char="o"/>
            </a:pPr>
            <a:r>
              <a:rPr lang="en-US" sz="2800" dirty="0"/>
              <a:t>Exercise-risk reduction </a:t>
            </a:r>
          </a:p>
          <a:p>
            <a:pPr lvl="1">
              <a:buFont typeface="Courier New" pitchFamily="49" charset="0"/>
              <a:buChar char="o"/>
            </a:pPr>
            <a:r>
              <a:rPr lang="en-US" sz="2800" dirty="0"/>
              <a:t>Diet- low saturated fat</a:t>
            </a:r>
          </a:p>
          <a:p>
            <a:pPr lvl="1" eaLnBrk="1" hangingPunct="1">
              <a:buClrTx/>
              <a:buFont typeface="Courier New" pitchFamily="49" charset="0"/>
              <a:buChar char="o"/>
            </a:pPr>
            <a:endParaRPr lang="en-US" sz="2800" dirty="0"/>
          </a:p>
        </p:txBody>
      </p:sp>
      <p:sp>
        <p:nvSpPr>
          <p:cNvPr id="67590" name="Title 1"/>
          <p:cNvSpPr txBox="1">
            <a:spLocks/>
          </p:cNvSpPr>
          <p:nvPr/>
        </p:nvSpPr>
        <p:spPr bwMode="auto">
          <a:xfrm>
            <a:off x="0" y="233364"/>
            <a:ext cx="12016409" cy="144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/>
                <a:ea typeface="宋体" charset="-122"/>
                <a:cs typeface="Arial" charset="0"/>
              </a:rPr>
              <a:t>HEALTH TEACHING: ARTERIAL DISEASE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1B2B40-9C6B-121D-A56F-91A378A52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204" y="4103612"/>
            <a:ext cx="4526672" cy="20499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109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7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75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75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75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75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3B8C4-770D-FE44-D37C-0B49EDACF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95061"/>
            <a:ext cx="12238617" cy="103036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HEALTH TEACHING: ARTERIAL DISEASE 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EDBE1-AE66-AEA9-AE99-AC6A205FD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74" y="2369735"/>
            <a:ext cx="12076043" cy="4488265"/>
          </a:xfrm>
        </p:spPr>
        <p:txBody>
          <a:bodyPr anchor="t">
            <a:normAutofit/>
          </a:bodyPr>
          <a:lstStyle/>
          <a:p>
            <a:pPr algn="l" rtl="0" fontAlgn="base"/>
            <a:r>
              <a:rPr lang="fi-FI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Pain 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i-FI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Pallor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i-FI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Pulselessness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i-FI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Paresthesia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i-FI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Paralysis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fi-FI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Poikilothermia (Polar)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36C3FEE-8F99-12BD-2E1E-DF56F7029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781" y="4613867"/>
            <a:ext cx="1213209" cy="176799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BB095FB-DABA-5058-ABEE-8EED65FD4CD0}"/>
              </a:ext>
            </a:extLst>
          </p:cNvPr>
          <p:cNvSpPr/>
          <p:nvPr/>
        </p:nvSpPr>
        <p:spPr>
          <a:xfrm>
            <a:off x="2408614" y="2215227"/>
            <a:ext cx="934937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/>
                <a:solidFill>
                  <a:srgbClr val="FF5C21"/>
                </a:solidFill>
                <a:effectLst/>
                <a:uLnTx/>
                <a:uFillTx/>
                <a:latin typeface="Franklin Gothic Medium"/>
                <a:ea typeface="+mn-ea"/>
                <a:cs typeface="+mn-cs"/>
              </a:rPr>
              <a:t>When do you expect they may get surgical intervention?</a:t>
            </a:r>
          </a:p>
        </p:txBody>
      </p:sp>
    </p:spTree>
    <p:extLst>
      <p:ext uri="{BB962C8B-B14F-4D97-AF65-F5344CB8AC3E}">
        <p14:creationId xmlns:p14="http://schemas.microsoft.com/office/powerpoint/2010/main" val="2348849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E3B3A-6174-F81A-184A-B27E81AC0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09" y="317814"/>
            <a:ext cx="11099623" cy="1700784"/>
          </a:xfrm>
        </p:spPr>
        <p:txBody>
          <a:bodyPr>
            <a:normAutofit fontScale="90000"/>
          </a:bodyPr>
          <a:lstStyle/>
          <a:p>
            <a:r>
              <a:rPr lang="en-US" dirty="0"/>
              <a:t>Compression: Arterial Disease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CD87D-F64C-17AA-BFF0-E5AFD08EB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209" y="2587752"/>
            <a:ext cx="11817626" cy="3593592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Limited evidence- compression therapy- mixed etiology (arterial and venous)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Lower extremity edema- barrier to wound healing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Accurate blood flow determined prior to compression (consult vascular)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Lower levels of compression- ABPI &gt;0.50 to &lt;0.80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Avoid compression ABPI measure &lt;0.50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After revascularization procedure- adequate blood flow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lower compression (18–30 mmHg) after lower extremity bypass to manage edema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87490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B240C-C728-55D1-EC9B-E54D819DC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/>
              <a:t>References</a:t>
            </a:r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3439BB-80EF-7CD2-8C8B-77000FB2B079}"/>
              </a:ext>
            </a:extLst>
          </p:cNvPr>
          <p:cNvSpPr txBox="1"/>
          <p:nvPr/>
        </p:nvSpPr>
        <p:spPr>
          <a:xfrm>
            <a:off x="540260" y="2813343"/>
            <a:ext cx="106885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4500" marR="0" lvl="0" indent="-4445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Orsted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, H.L. &amp; Rosenthal, S. (2021). Foundations of Best Practice for 	Skin and 	Wound Management. Wounds Canada.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Ebook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  Available to purchase at </a:t>
            </a:r>
            <a:r>
              <a:rPr kumimoji="0" lang="en-US" sz="18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  <a:hlinkClick r:id="rId2"/>
              </a:rPr>
              <a:t>https://www.woundscanada.ca/eboutique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  <a:hlinkClick r:id="rId2"/>
              </a:rPr>
              <a:t>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and the 	code for 25% discount on the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ebook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 is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UWNursing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 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vity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vit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11947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heme/theme1.xml><?xml version="1.0" encoding="utf-8"?>
<a:theme xmlns:a="http://schemas.openxmlformats.org/drawingml/2006/main" name="JuxtaposeVTI">
  <a:themeElements>
    <a:clrScheme name="Juxtapose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397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Courier New</vt:lpstr>
      <vt:lpstr>Franklin Gothic Demi Cond</vt:lpstr>
      <vt:lpstr>Franklin Gothic Medium</vt:lpstr>
      <vt:lpstr>Gravity</vt:lpstr>
      <vt:lpstr>Segoe UI</vt:lpstr>
      <vt:lpstr>Wingdings</vt:lpstr>
      <vt:lpstr>JuxtaposeVTI</vt:lpstr>
      <vt:lpstr>Treatment </vt:lpstr>
      <vt:lpstr>PowerPoint Presentation</vt:lpstr>
      <vt:lpstr>Treatment</vt:lpstr>
      <vt:lpstr>Treatment</vt:lpstr>
      <vt:lpstr>Treatment: critical limb-threatening ischemia (CLTI)</vt:lpstr>
      <vt:lpstr>Treatment: Acute limb- ischemia (ALI)</vt:lpstr>
      <vt:lpstr>Surgical Treatment</vt:lpstr>
      <vt:lpstr>PowerPoint Presentation</vt:lpstr>
      <vt:lpstr>HEALTH TEACHING: ARTERIAL DISEASE </vt:lpstr>
      <vt:lpstr>Compression: Arterial Disease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Sherry Morrell</dc:creator>
  <cp:lastModifiedBy>Sherry Morrell</cp:lastModifiedBy>
  <cp:revision>1</cp:revision>
  <dcterms:created xsi:type="dcterms:W3CDTF">2024-07-11T18:30:38Z</dcterms:created>
  <dcterms:modified xsi:type="dcterms:W3CDTF">2024-07-11T18:39:10Z</dcterms:modified>
</cp:coreProperties>
</file>