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708" r:id="rId2"/>
  </p:sldMasterIdLst>
  <p:notesMasterIdLst>
    <p:notesMasterId r:id="rId19"/>
  </p:notesMasterIdLst>
  <p:sldIdLst>
    <p:sldId id="590" r:id="rId3"/>
    <p:sldId id="591" r:id="rId4"/>
    <p:sldId id="592" r:id="rId5"/>
    <p:sldId id="593" r:id="rId6"/>
    <p:sldId id="594" r:id="rId7"/>
    <p:sldId id="595" r:id="rId8"/>
    <p:sldId id="596" r:id="rId9"/>
    <p:sldId id="597" r:id="rId10"/>
    <p:sldId id="598" r:id="rId11"/>
    <p:sldId id="599" r:id="rId12"/>
    <p:sldId id="600" r:id="rId13"/>
    <p:sldId id="601" r:id="rId14"/>
    <p:sldId id="602" r:id="rId15"/>
    <p:sldId id="603" r:id="rId16"/>
    <p:sldId id="604" r:id="rId17"/>
    <p:sldId id="58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0AC16C-C805-41B1-973E-E505E2231DB1}" v="7" dt="2024-07-11T18:35:01.696"/>
    <p1510:client id="{85EDACC4-B859-A495-5A1F-B0C78310456C}" v="65" dt="2024-07-11T18:05:32.9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844" autoAdjust="0"/>
    <p:restoredTop sz="94660"/>
  </p:normalViewPr>
  <p:slideViewPr>
    <p:cSldViewPr snapToGrid="0">
      <p:cViewPr>
        <p:scale>
          <a:sx n="77" d="100"/>
          <a:sy n="77" d="100"/>
        </p:scale>
        <p:origin x="1210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slides/slide6.xml" Id="rId8" /><Relationship Type="http://schemas.openxmlformats.org/officeDocument/2006/relationships/slide" Target="slides/slide11.xml" Id="rId13" /><Relationship Type="http://schemas.openxmlformats.org/officeDocument/2006/relationships/slide" Target="slides/slide16.xml" Id="rId18" /><Relationship Type="http://schemas.openxmlformats.org/officeDocument/2006/relationships/slide" Target="slides/slide1.xml" Id="rId3" /><Relationship Type="http://schemas.openxmlformats.org/officeDocument/2006/relationships/viewProps" Target="viewProps.xml" Id="rId21" /><Relationship Type="http://schemas.openxmlformats.org/officeDocument/2006/relationships/slide" Target="slides/slide5.xml" Id="rId7" /><Relationship Type="http://schemas.openxmlformats.org/officeDocument/2006/relationships/slide" Target="slides/slide10.xml" Id="rId12" /><Relationship Type="http://schemas.openxmlformats.org/officeDocument/2006/relationships/slide" Target="slides/slide15.xml" Id="rId17" /><Relationship Type="http://schemas.microsoft.com/office/2015/10/relationships/revisionInfo" Target="revisionInfo.xml" Id="rId25" /><Relationship Type="http://schemas.openxmlformats.org/officeDocument/2006/relationships/slideMaster" Target="slideMasters/slideMaster2.xml" Id="rId2" /><Relationship Type="http://schemas.openxmlformats.org/officeDocument/2006/relationships/slide" Target="slides/slide14.xml" Id="rId16" /><Relationship Type="http://schemas.openxmlformats.org/officeDocument/2006/relationships/presProps" Target="presProps.xml" Id="rId20" /><Relationship Type="http://schemas.openxmlformats.org/officeDocument/2006/relationships/slideMaster" Target="slideMasters/slideMaster1.xml" Id="rId1" /><Relationship Type="http://schemas.openxmlformats.org/officeDocument/2006/relationships/slide" Target="slides/slide4.xml" Id="rId6" /><Relationship Type="http://schemas.openxmlformats.org/officeDocument/2006/relationships/slide" Target="slides/slide9.xml" Id="rId11" /><Relationship Type="http://schemas.openxmlformats.org/officeDocument/2006/relationships/slide" Target="slides/slide3.xml" Id="rId5" /><Relationship Type="http://schemas.openxmlformats.org/officeDocument/2006/relationships/slide" Target="slides/slide13.xml" Id="rId15" /><Relationship Type="http://schemas.openxmlformats.org/officeDocument/2006/relationships/tableStyles" Target="tableStyles.xml" Id="rId23" /><Relationship Type="http://schemas.openxmlformats.org/officeDocument/2006/relationships/slide" Target="slides/slide8.xml" Id="rId10" /><Relationship Type="http://schemas.openxmlformats.org/officeDocument/2006/relationships/notesMaster" Target="notesMasters/notesMaster1.xml" Id="rId19" /><Relationship Type="http://schemas.openxmlformats.org/officeDocument/2006/relationships/slide" Target="slides/slide2.xml" Id="rId4" /><Relationship Type="http://schemas.openxmlformats.org/officeDocument/2006/relationships/slide" Target="slides/slide7.xml" Id="rId9" /><Relationship Type="http://schemas.openxmlformats.org/officeDocument/2006/relationships/slide" Target="slides/slide12.xml" Id="rId14" /><Relationship Type="http://schemas.openxmlformats.org/officeDocument/2006/relationships/theme" Target="theme/theme1.xml" Id="rId22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B1432A-88F3-4C61-B9D9-7A640969B40E}" type="datetimeFigureOut">
              <a:t>7/11/2024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222772-F8C1-49A3-BCDC-0C7FBBF74CC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879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2968/jowc.2023.32.4.229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dirty="0"/>
              <a:t>International validation of a venous leg ulcer risk assessment tool Parker et al. </a:t>
            </a:r>
            <a:r>
              <a:rPr lang="en-CA" b="0" i="0" dirty="0">
                <a:solidFill>
                  <a:srgbClr val="212121"/>
                </a:solidFill>
                <a:effectLst/>
                <a:latin typeface="BlinkMacSystemFont"/>
              </a:rPr>
              <a:t>DOI: </a:t>
            </a:r>
            <a:r>
              <a:rPr lang="en-CA" b="0" i="0" u="none" strike="noStrike" dirty="0">
                <a:solidFill>
                  <a:srgbClr val="0071BC"/>
                </a:solidFill>
                <a:effectLst/>
                <a:latin typeface="BlinkMacSystemFont"/>
                <a:hlinkClick r:id="rId3"/>
              </a:rPr>
              <a:t>10.12968/jowc.2023.32.4.229</a:t>
            </a:r>
            <a:endParaRPr lang="en-CA" b="0" i="0" dirty="0">
              <a:solidFill>
                <a:srgbClr val="212121"/>
              </a:solidFill>
              <a:effectLst/>
              <a:latin typeface="BlinkMacSystemFont"/>
            </a:endParaRPr>
          </a:p>
          <a:p>
            <a:endParaRPr lang="en-CA" dirty="0"/>
          </a:p>
          <a:p>
            <a:r>
              <a:rPr lang="en-CA" dirty="0"/>
              <a:t>(2017), Meulendijks et al. (2018)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384558-B7F0-4BBE-B094-E7A9263B0AE3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2633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Intermittent pneumatic compression- used in hospital to prevent DVT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384558-B7F0-4BBE-B094-E7A9263B0AE3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15862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384558-B7F0-4BBE-B094-E7A9263B0AE3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38430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384558-B7F0-4BBE-B094-E7A9263B0AE3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32951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D69555-EE48-4B19-812B-4E1068DBF976}"/>
              </a:ext>
            </a:extLst>
          </p:cNvPr>
          <p:cNvSpPr/>
          <p:nvPr/>
        </p:nvSpPr>
        <p:spPr>
          <a:xfrm>
            <a:off x="7573754" y="0"/>
            <a:ext cx="4618246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reeform 57">
            <a:extLst>
              <a:ext uri="{FF2B5EF4-FFF2-40B4-BE49-F238E27FC236}">
                <a16:creationId xmlns:a16="http://schemas.microsoft.com/office/drawing/2014/main" id="{57AEB73D-F521-4B19-820F-12DB6BCC8406}"/>
              </a:ext>
            </a:extLst>
          </p:cNvPr>
          <p:cNvSpPr/>
          <p:nvPr/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5388" y="863068"/>
            <a:ext cx="6007691" cy="4985916"/>
          </a:xfrm>
        </p:spPr>
        <p:txBody>
          <a:bodyPr anchor="ctr">
            <a:noAutofit/>
          </a:bodyPr>
          <a:lstStyle>
            <a:lvl1pPr algn="l">
              <a:lnSpc>
                <a:spcPct val="125000"/>
              </a:lnSpc>
              <a:defRPr sz="6000" b="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97352" y="863068"/>
            <a:ext cx="3351729" cy="5120069"/>
          </a:xfrm>
        </p:spPr>
        <p:txBody>
          <a:bodyPr anchor="ctr">
            <a:normAutofit/>
          </a:bodyPr>
          <a:lstStyle>
            <a:lvl1pPr marL="0" indent="0" algn="l">
              <a:lnSpc>
                <a:spcPct val="150000"/>
              </a:lnSpc>
              <a:buNone/>
              <a:defRPr sz="2400" b="0" cap="none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72EEBA-3A5D-41CE-8465-A45A0F65674E}"/>
              </a:ext>
            </a:extLst>
          </p:cNvPr>
          <p:cNvSpPr/>
          <p:nvPr/>
        </p:nvSpPr>
        <p:spPr>
          <a:xfrm rot="5400000">
            <a:off x="410121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9F4CF2F-CDFA-4A37-837C-819D5238EA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97353" y="6309360"/>
            <a:ext cx="2151134" cy="457200"/>
          </a:xfrm>
        </p:spPr>
        <p:txBody>
          <a:bodyPr/>
          <a:lstStyle/>
          <a:p>
            <a:pPr algn="l"/>
            <a:fld id="{0DCFB061-4267-4D9F-8017-6F550D3068DF}" type="datetime1">
              <a:rPr lang="en-US" smtClean="0"/>
              <a:t>7/11/2024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FECE62A-61A4-407D-8F0B-D459CD977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5388" y="6309360"/>
            <a:ext cx="6007691" cy="457200"/>
          </a:xfrm>
        </p:spPr>
        <p:txBody>
          <a:bodyPr/>
          <a:lstStyle>
            <a:lvl1pPr algn="r">
              <a:defRPr/>
            </a:lvl1pPr>
          </a:lstStyle>
          <a:p>
            <a:pPr algn="l"/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99FE60A9-FE2A-451F-9244-60FCE7FE9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349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7/11/2024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794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FD12B6-57DE-4B63-A723-500B050FB7DD}"/>
              </a:ext>
            </a:extLst>
          </p:cNvPr>
          <p:cNvSpPr/>
          <p:nvPr/>
        </p:nvSpPr>
        <p:spPr>
          <a:xfrm>
            <a:off x="0" y="4215384"/>
            <a:ext cx="12192000" cy="2642616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316" y="1406284"/>
            <a:ext cx="10593694" cy="2597841"/>
          </a:xfrm>
        </p:spPr>
        <p:txBody>
          <a:bodyPr anchor="b">
            <a:normAutofit/>
          </a:bodyPr>
          <a:lstStyle>
            <a:lvl1pPr algn="ctr">
              <a:lnSpc>
                <a:spcPct val="125000"/>
              </a:lnSpc>
              <a:defRPr sz="4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18312" y="4527856"/>
            <a:ext cx="6559018" cy="1570245"/>
          </a:xfrm>
        </p:spPr>
        <p:txBody>
          <a:bodyPr anchor="t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400" b="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1E2E75-4758-4930-8024-39287C962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ABC0C-B6DF-45E9-B954-11C99AA62C3E}" type="datetime1">
              <a:rPr lang="en-US" smtClean="0"/>
              <a:t>7/11/2024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8B9949-402C-42C2-9A94-16590FC0C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39D83F6-DAF4-4876-AA41-F246EC970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613A19-DDA2-44F6-9ED4-F87771C684B8}"/>
              </a:ext>
            </a:extLst>
          </p:cNvPr>
          <p:cNvSpPr/>
          <p:nvPr/>
        </p:nvSpPr>
        <p:spPr>
          <a:xfrm>
            <a:off x="0" y="4215384"/>
            <a:ext cx="1218895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767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376670" y="705114"/>
            <a:ext cx="6172412" cy="2403846"/>
          </a:xfrm>
        </p:spPr>
        <p:txBody>
          <a:bodyPr anchor="b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6670" y="3749040"/>
            <a:ext cx="6172411" cy="2346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B71B9-2624-4F21-93EE-35A78B1A0DAD}" type="datetime1">
              <a:rPr lang="en-US" smtClean="0"/>
              <a:t>7/11/2024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6B9B5-A5D1-4099-B52B-78F39AB0AFCB}"/>
              </a:ext>
            </a:extLst>
          </p:cNvPr>
          <p:cNvSpPr/>
          <p:nvPr/>
        </p:nvSpPr>
        <p:spPr>
          <a:xfrm rot="10800000">
            <a:off x="4693920" y="3396997"/>
            <a:ext cx="749808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0946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6667" y="658999"/>
            <a:ext cx="6166422" cy="457200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6668" y="1116199"/>
            <a:ext cx="6166422" cy="20621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76668" y="3623098"/>
            <a:ext cx="6166421" cy="457200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6670" y="4102370"/>
            <a:ext cx="6166419" cy="2066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37C2A-BE2E-4840-A907-3254E2916C96}" type="datetime1">
              <a:rPr lang="en-US" smtClean="0"/>
              <a:t>7/11/2024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26B370B-8381-431F-9492-0EA120511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A89085-2231-4A9C-B23C-B199A9DD26C5}"/>
              </a:ext>
            </a:extLst>
          </p:cNvPr>
          <p:cNvSpPr/>
          <p:nvPr/>
        </p:nvSpPr>
        <p:spPr>
          <a:xfrm rot="10800000">
            <a:off x="4693920" y="3396997"/>
            <a:ext cx="749808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849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D215-1C45-48A0-8534-39FFE8A7C95A}" type="datetime1">
              <a:rPr lang="en-US" smtClean="0"/>
              <a:t>7/11/2024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9575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F41D3-C6B9-4E99-9321-87C4E2168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63A0F-DEF3-4134-98D0-2E1276938A8B}" type="datetime1">
              <a:rPr lang="en-US" smtClean="0"/>
              <a:t>7/11/2024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5BC6EB-07B1-46AF-AC33-E998BC6AA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E3A0C1-6562-4819-9E88-4C1378FD5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0807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CA29BA-0143-49FF-8608-DB1623D99537}"/>
              </a:ext>
            </a:extLst>
          </p:cNvPr>
          <p:cNvSpPr/>
          <p:nvPr/>
        </p:nvSpPr>
        <p:spPr>
          <a:xfrm>
            <a:off x="0" y="0"/>
            <a:ext cx="8248592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3015" y="640079"/>
            <a:ext cx="2796066" cy="2551751"/>
          </a:xfrm>
        </p:spPr>
        <p:txBody>
          <a:bodyPr anchor="b">
            <a:normAutofit/>
          </a:bodyPr>
          <a:lstStyle>
            <a:lvl1pPr algn="l">
              <a:lnSpc>
                <a:spcPct val="135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8818" y="640078"/>
            <a:ext cx="6969693" cy="5455921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753015" y="3223803"/>
            <a:ext cx="2796066" cy="2872197"/>
          </a:xfrm>
        </p:spPr>
        <p:txBody>
          <a:bodyPr anchor="t">
            <a:normAutofit/>
          </a:bodyPr>
          <a:lstStyle>
            <a:lvl1pPr marL="0" indent="0">
              <a:spcBef>
                <a:spcPts val="140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10CF18-370D-4E80-AE4C-396FFDFCAE5D}"/>
              </a:ext>
            </a:extLst>
          </p:cNvPr>
          <p:cNvSpPr/>
          <p:nvPr/>
        </p:nvSpPr>
        <p:spPr>
          <a:xfrm rot="5400000">
            <a:off x="485159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C5EBFE9C-5A22-4462-9C51-E00C03F55C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53015" y="6309360"/>
            <a:ext cx="1734207" cy="457200"/>
          </a:xfrm>
        </p:spPr>
        <p:txBody>
          <a:bodyPr/>
          <a:lstStyle>
            <a:lvl1pPr algn="l">
              <a:defRPr/>
            </a:lvl1pPr>
          </a:lstStyle>
          <a:p>
            <a:fld id="{61A2E4C8-2960-4ADD-862C-4D9643CB15AC}" type="datetime1">
              <a:rPr lang="en-US" smtClean="0"/>
              <a:t>7/11/2024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EBBFF2E-AA66-4B76-9139-CB000B5A4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18" y="6309360"/>
            <a:ext cx="6993867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44F64C4-BF20-4F6B-B650-57C71C828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0416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34996" y="640079"/>
            <a:ext cx="2714085" cy="2695903"/>
          </a:xfrm>
        </p:spPr>
        <p:txBody>
          <a:bodyPr anchor="b">
            <a:noAutofit/>
          </a:bodyPr>
          <a:lstStyle>
            <a:lvl1pPr algn="l"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248592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834996" y="3429000"/>
            <a:ext cx="2714085" cy="2508026"/>
          </a:xfrm>
        </p:spPr>
        <p:txBody>
          <a:bodyPr anchor="t">
            <a:normAutofit/>
          </a:bodyPr>
          <a:lstStyle>
            <a:lvl1pPr marL="0" indent="0">
              <a:spcBef>
                <a:spcPts val="140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949BC8-9ABF-49F6-851C-5DB0B86CA70D}"/>
              </a:ext>
            </a:extLst>
          </p:cNvPr>
          <p:cNvSpPr/>
          <p:nvPr/>
        </p:nvSpPr>
        <p:spPr>
          <a:xfrm rot="5400000">
            <a:off x="485159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E1EE21-E3FA-4D43-B224-C664959637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34997" y="6309360"/>
            <a:ext cx="1645920" cy="457200"/>
          </a:xfrm>
        </p:spPr>
        <p:txBody>
          <a:bodyPr/>
          <a:lstStyle/>
          <a:p>
            <a:fld id="{48BDEA15-09CD-4275-A8E0-385C965F48B0}" type="datetime1">
              <a:rPr lang="en-US" smtClean="0"/>
              <a:t>7/11/2024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D7F83-8993-4ED4-9F02-663CC0850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3678B7-E511-4CE1-BEE5-89E959B9B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309360"/>
            <a:ext cx="4946592" cy="457200"/>
          </a:xfrm>
        </p:spPr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4756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1BC61-5547-4A60-8DA1-6699760D9972}" type="datetime1">
              <a:rPr lang="en-US" smtClean="0"/>
              <a:t>7/11/2024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408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24B9D1C6-60D0-4CD1-8F31-F912522EB041}" type="datetime1">
              <a:rPr lang="en-US" smtClean="0"/>
              <a:t>7/11/2024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 title="Rule Line">
            <a:extLst>
              <a:ext uri="{FF2B5EF4-FFF2-40B4-BE49-F238E27FC236}">
                <a16:creationId xmlns:a16="http://schemas.microsoft.com/office/drawing/2014/main" id="{A1005B08-D2D4-455C-AA62-1200E43E7AF9}"/>
              </a:ext>
            </a:extLst>
          </p:cNvPr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02079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7/11/2024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6123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7/11/2024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8333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7/11/2024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84204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7/11/2024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8620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7/11/2024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4056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7/11/2024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1951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7/11/2024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9360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7/11/2024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7034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7/11/2024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144893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7/11/2024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8746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7/11/2024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239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786F82F-1B47-46ED-8EAE-53EF71E59E9A}"/>
              </a:ext>
            </a:extLst>
          </p:cNvPr>
          <p:cNvSpPr/>
          <p:nvPr/>
        </p:nvSpPr>
        <p:spPr>
          <a:xfrm>
            <a:off x="4718302" y="0"/>
            <a:ext cx="747369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2918" y="705113"/>
            <a:ext cx="3411973" cy="5197498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6671" y="705113"/>
            <a:ext cx="6172412" cy="5197497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2917" y="6309360"/>
            <a:ext cx="341197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4AF8082C-0922-4249-A612-B415F5231620}" type="datetime1">
              <a:rPr lang="en-US" smtClean="0"/>
              <a:t>7/11/2024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76670" y="6309360"/>
            <a:ext cx="4946592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9202" y="6309360"/>
            <a:ext cx="979879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1BAF6F-6275-4646-9C59-331B29B9550F}"/>
              </a:ext>
            </a:extLst>
          </p:cNvPr>
          <p:cNvSpPr/>
          <p:nvPr/>
        </p:nvSpPr>
        <p:spPr>
          <a:xfrm rot="5400000">
            <a:off x="1257298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85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150000"/>
        </a:lnSpc>
        <a:spcBef>
          <a:spcPct val="0"/>
        </a:spcBef>
        <a:buNone/>
        <a:defRPr sz="36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7/11/2024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724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b="1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1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1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1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1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oundscanada.ca/eboutique" TargetMode="Externa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ED69555-EE48-4B19-812B-4E1068DBF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73754" y="0"/>
            <a:ext cx="4618246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2" name="Freeform 57">
            <a:extLst>
              <a:ext uri="{FF2B5EF4-FFF2-40B4-BE49-F238E27FC236}">
                <a16:creationId xmlns:a16="http://schemas.microsoft.com/office/drawing/2014/main" id="{57AEB73D-F521-4B19-820F-12DB6BCC8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72EEBA-3A5D-41CE-8465-A45A0F6567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0121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A164D6B-6878-4B9F-A2D0-985D39B17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A175829-70EA-4A6D-978C-4D0923059C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99696" y="-2"/>
            <a:ext cx="4392304" cy="121842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E5D2B4A-3399-4CCF-A171-7F8B1BF54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259253"/>
            <a:ext cx="640080" cy="436272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8F8051A-999C-4F38-985C-673617805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1238464"/>
            <a:ext cx="7201313" cy="440429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ECEEB9D-BC19-1BE1-32F8-7A360C9AF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589" y="1536751"/>
            <a:ext cx="6073254" cy="3807725"/>
          </a:xfrm>
        </p:spPr>
        <p:txBody>
          <a:bodyPr vert="horz" lIns="109728" tIns="109728" rIns="109728" bIns="91440" rtlCol="0" anchor="ctr">
            <a:normAutofit/>
          </a:bodyPr>
          <a:lstStyle/>
          <a:p>
            <a:r>
              <a:rPr lang="en-US" sz="6600" b="0" cap="all" dirty="0">
                <a:solidFill>
                  <a:schemeClr val="bg1"/>
                </a:solidFill>
              </a:rPr>
              <a:t>Treatment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85AAE23-FCB6-4663-907C-0110B0FDC5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5608879"/>
            <a:ext cx="7759826" cy="1249121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1DF095C-665A-4B22-A777-D3196F4951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43063" y="1226851"/>
            <a:ext cx="4348937" cy="442752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128298-A5CE-57D9-A80A-61B0C3CBBD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88906" y="1926016"/>
            <a:ext cx="3055581" cy="3029195"/>
          </a:xfrm>
        </p:spPr>
        <p:txBody>
          <a:bodyPr vert="horz" lIns="109728" tIns="109728" rIns="109728" bIns="91440" rtlCol="0" anchor="ctr">
            <a:normAutofit/>
          </a:bodyPr>
          <a:lstStyle/>
          <a:p>
            <a:pPr>
              <a:lnSpc>
                <a:spcPct val="150000"/>
              </a:lnSpc>
              <a:spcBef>
                <a:spcPts val="930"/>
              </a:spcBef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Venous Disease/Ulcer</a:t>
            </a:r>
          </a:p>
          <a:p>
            <a:pPr>
              <a:lnSpc>
                <a:spcPct val="150000"/>
              </a:lnSpc>
              <a:spcBef>
                <a:spcPts val="930"/>
              </a:spcBef>
            </a:pP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S.Morrell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NP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MClSc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-wound healing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EA1DA1C-6CE0-4AE4-918F-CC0E685C5F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99696" y="5631149"/>
            <a:ext cx="4392304" cy="12268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5E389A3-2501-4131-8C64-1530AAF5F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70965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A001026-2FEF-483E-964D-67CD7E0961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1204578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AEB196E-F444-432F-8790-88C18E667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5598792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1953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2526924-84D3-45FB-A5FE-62D8FCBF5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2A6256-1DD0-4E4B-A8B3-9A711B4DB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760540-185E-4652-BFD2-9B362EF3B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066A5E-8E17-3216-5189-9F3F60CBC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371" y="1044054"/>
            <a:ext cx="10013709" cy="103036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Venous Ulcer: Treatment</a:t>
            </a:r>
            <a:endParaRPr lang="en-CA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9789F4-85C1-41A0-83EB-992E22210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9D367D-6DD2-4A7C-8918-0DCAC2975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88823-C108-C619-6D91-0E29F3E1C8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5371" y="2702257"/>
            <a:ext cx="9935571" cy="3426158"/>
          </a:xfrm>
        </p:spPr>
        <p:txBody>
          <a:bodyPr anchor="t">
            <a:normAutofit/>
          </a:bodyPr>
          <a:lstStyle/>
          <a:p>
            <a:pPr>
              <a:lnSpc>
                <a:spcPct val="130000"/>
              </a:lnSpc>
            </a:pPr>
            <a:r>
              <a:rPr lang="en-US" dirty="0"/>
              <a:t>Long healing time- approx. 30% unhealed at 24 weeks</a:t>
            </a:r>
          </a:p>
          <a:p>
            <a:pPr>
              <a:lnSpc>
                <a:spcPct val="130000"/>
              </a:lnSpc>
            </a:pPr>
            <a:r>
              <a:rPr lang="en-US" dirty="0"/>
              <a:t>Predictors of non-healing ulcers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b="0" dirty="0"/>
              <a:t>Living alone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b="0" dirty="0"/>
              <a:t>Compression level &lt;30 mm Hg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b="0" dirty="0"/>
              <a:t>Pressure Ulcer Scale for Healing (PUSH) score ≥10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b="0" dirty="0"/>
              <a:t>Area reduction of &lt;25% in two weeks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CA" b="0" dirty="0"/>
              <a:t>Calf-muscle dysfunction</a:t>
            </a:r>
          </a:p>
        </p:txBody>
      </p:sp>
    </p:spTree>
    <p:extLst>
      <p:ext uri="{BB962C8B-B14F-4D97-AF65-F5344CB8AC3E}">
        <p14:creationId xmlns:p14="http://schemas.microsoft.com/office/powerpoint/2010/main" val="4115067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2526924-84D3-45FB-A5FE-62D8FCBF5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2A6256-1DD0-4E4B-A8B3-9A711B4DB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760540-185E-4652-BFD2-9B362EF3B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F7AAA9-F5A8-9F8B-77EB-E46B579A2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371" y="1044054"/>
            <a:ext cx="10013709" cy="103036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Treatment: Team Approach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9789F4-85C1-41A0-83EB-992E22210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9D367D-6DD2-4A7C-8918-0DCAC2975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DF84F7-9EB0-8B01-2B25-19B6376B10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3416" y="2221827"/>
            <a:ext cx="9331087" cy="4691977"/>
          </a:xfrm>
        </p:spPr>
      </p:pic>
    </p:spTree>
    <p:extLst>
      <p:ext uri="{BB962C8B-B14F-4D97-AF65-F5344CB8AC3E}">
        <p14:creationId xmlns:p14="http://schemas.microsoft.com/office/powerpoint/2010/main" val="2741938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2526924-84D3-45FB-A5FE-62D8FCBF5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2A6256-1DD0-4E4B-A8B3-9A711B4DB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760540-185E-4652-BFD2-9B362EF3B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103AD1-7E6B-41D4-A3C8-65D49BD05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371" y="1044054"/>
            <a:ext cx="10013709" cy="103036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Plan of Care: Compression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9789F4-85C1-41A0-83EB-992E22210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9D367D-6DD2-4A7C-8918-0DCAC2975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6C896-A22A-A00A-1796-DBD151217A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5371" y="2702257"/>
            <a:ext cx="9935571" cy="3970392"/>
          </a:xfrm>
        </p:spPr>
        <p:txBody>
          <a:bodyPr anchor="t">
            <a:normAutofit/>
          </a:bodyPr>
          <a:lstStyle/>
          <a:p>
            <a:r>
              <a:rPr lang="en-US" dirty="0"/>
              <a:t>Evidenced Based: Compression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Venous insufficiency and/or lymphedema- life-long use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Forms-compression bandaging systems, compression garments or compression devices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Compression therapy- reduce ambulatory venous pressure</a:t>
            </a:r>
          </a:p>
          <a:p>
            <a:pPr marL="285750" lvl="2" indent="344488">
              <a:buFont typeface="Arial" panose="020B0604020202020204" pitchFamily="34" charset="0"/>
              <a:buChar char="•"/>
            </a:pPr>
            <a:r>
              <a:rPr lang="en-US" sz="1800" b="0" dirty="0"/>
              <a:t>Compression improves calf-muscle pump function</a:t>
            </a:r>
          </a:p>
          <a:p>
            <a:pPr marL="285750" lvl="2" indent="344488">
              <a:buFont typeface="Arial" panose="020B0604020202020204" pitchFamily="34" charset="0"/>
              <a:buChar char="•"/>
            </a:pPr>
            <a:r>
              <a:rPr lang="en-US" sz="1800" dirty="0"/>
              <a:t>D</a:t>
            </a:r>
            <a:r>
              <a:rPr lang="en-US" sz="1800" b="0" dirty="0"/>
              <a:t>ecreases reflux in incompetent veins</a:t>
            </a:r>
            <a:endParaRPr lang="en-CA" sz="1800" b="0" dirty="0"/>
          </a:p>
        </p:txBody>
      </p:sp>
    </p:spTree>
    <p:extLst>
      <p:ext uri="{BB962C8B-B14F-4D97-AF65-F5344CB8AC3E}">
        <p14:creationId xmlns:p14="http://schemas.microsoft.com/office/powerpoint/2010/main" val="4086884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2526924-84D3-45FB-A5FE-62D8FCBF5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2A6256-1DD0-4E4B-A8B3-9A711B4DB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760540-185E-4652-BFD2-9B362EF3B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103AD1-7E6B-41D4-A3C8-65D49BD05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371" y="1044054"/>
            <a:ext cx="10013709" cy="103036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Plan of Care: Compression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9789F4-85C1-41A0-83EB-992E22210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9D367D-6DD2-4A7C-8918-0DCAC2975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6C896-A22A-A00A-1796-DBD151217A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2777" y="2391770"/>
            <a:ext cx="10929198" cy="3426158"/>
          </a:xfrm>
        </p:spPr>
        <p:txBody>
          <a:bodyPr anchor="t">
            <a:normAutofit/>
          </a:bodyPr>
          <a:lstStyle/>
          <a:p>
            <a:r>
              <a:rPr lang="en-US" dirty="0"/>
              <a:t>Evidenced Based: Compression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Bandages and compression devices- used for treatment of active VLUs &amp; reducing edema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Compression garments </a:t>
            </a:r>
            <a:r>
              <a:rPr lang="en-US" b="0" dirty="0"/>
              <a:t>used once the edema is reduced- prevent recurrence of VLUs (classified as C3 to C6(Slide 18))</a:t>
            </a:r>
            <a:endParaRPr lang="en-CA" b="0" dirty="0"/>
          </a:p>
        </p:txBody>
      </p:sp>
    </p:spTree>
    <p:extLst>
      <p:ext uri="{BB962C8B-B14F-4D97-AF65-F5344CB8AC3E}">
        <p14:creationId xmlns:p14="http://schemas.microsoft.com/office/powerpoint/2010/main" val="443526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2526924-84D3-45FB-A5FE-62D8FCBF5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2A6256-1DD0-4E4B-A8B3-9A711B4DB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760540-185E-4652-BFD2-9B362EF3B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103AD1-7E6B-41D4-A3C8-65D49BD05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371" y="1044054"/>
            <a:ext cx="10013709" cy="103036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Plan of Care: Compression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9789F4-85C1-41A0-83EB-992E22210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9D367D-6DD2-4A7C-8918-0DCAC2975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6C896-A22A-A00A-1796-DBD151217A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2777" y="2391770"/>
            <a:ext cx="10929198" cy="3426158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Short-stretch</a:t>
            </a:r>
            <a:r>
              <a:rPr lang="en-US" b="0" dirty="0"/>
              <a:t> bandages (SSB) (non-elastic)-muscle movement against rigid system- pressure is generated and distributed equally along the lower leg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b="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0" dirty="0"/>
              <a:t>SSB better for pain-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0" dirty="0"/>
              <a:t>Massage effect with walking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b="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More patients heal with high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compression stocking systems than SSB</a:t>
            </a: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C59083-25B6-CCC4-7211-6466B6519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766" y="4860105"/>
            <a:ext cx="8454053" cy="19450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549FA63-D2DA-DE97-0A7D-AFB3B0EE6A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4946" y="4724400"/>
            <a:ext cx="2143125" cy="2133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24595B-0E8F-2626-1983-C7E22EED2A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5383" y="3336260"/>
            <a:ext cx="2619375" cy="174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2197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72526924-84D3-45FB-A5FE-62D8FCBF5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2A6256-1DD0-4E4B-A8B3-9A711B4DB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760540-185E-4652-BFD2-9B362EF3B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29705C-A028-4E3E-0C1E-1086FB49F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371" y="1044054"/>
            <a:ext cx="10013709" cy="103036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Short-stretch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9789F4-85C1-41A0-83EB-992E22210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D9D367D-6DD2-4A7C-8918-0DCAC2975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510E6-5B58-AAFF-C7E2-9FBB6ED3DF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2776" y="2267299"/>
            <a:ext cx="4993223" cy="3426158"/>
          </a:xfrm>
        </p:spPr>
        <p:txBody>
          <a:bodyPr anchor="t">
            <a:normAutofit/>
          </a:bodyPr>
          <a:lstStyle/>
          <a:p>
            <a:r>
              <a:rPr lang="en-US" dirty="0"/>
              <a:t>Coban 2 Lite- </a:t>
            </a:r>
            <a:r>
              <a:rPr lang="en-US" b="0" dirty="0"/>
              <a:t>25–30mmHg ankle brachial pressure index equal to or greater than 0.5</a:t>
            </a:r>
          </a:p>
          <a:p>
            <a:endParaRPr lang="en-CA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A93C4B8-26D3-853E-355C-D69E9E8AE3F7}"/>
              </a:ext>
            </a:extLst>
          </p:cNvPr>
          <p:cNvSpPr txBox="1">
            <a:spLocks/>
          </p:cNvSpPr>
          <p:nvPr/>
        </p:nvSpPr>
        <p:spPr>
          <a:xfrm>
            <a:off x="6518008" y="2300161"/>
            <a:ext cx="5673992" cy="3426158"/>
          </a:xfrm>
          <a:prstGeom prst="rect">
            <a:avLst/>
          </a:prstGeom>
        </p:spPr>
        <p:txBody>
          <a:bodyPr vert="horz" lIns="109728" tIns="109728" rIns="109728" bIns="91440" rtlCol="0" anchor="t">
            <a:normAutofit/>
          </a:bodyPr>
          <a:lstStyle>
            <a:lvl1pPr marL="0" indent="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None/>
              <a:defRPr sz="1800" b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None/>
              <a:defRPr sz="16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-32004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-32004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-32004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2024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4028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6032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88036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Tx/>
              <a:buSzTx/>
              <a:buFont typeface="Corbel" panose="020B0503020204020204" pitchFamily="34" charset="0"/>
              <a:buNone/>
              <a:tabLst/>
              <a:defRPr/>
            </a:pPr>
            <a:r>
              <a:rPr kumimoji="0" lang="en-US" sz="1800" b="1" i="0" u="none" strike="noStrike" kern="1200" cap="none" spc="15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Meiryo"/>
                <a:ea typeface="+mn-ea"/>
                <a:cs typeface="+mn-cs"/>
              </a:rPr>
              <a:t>Coban 2- </a:t>
            </a:r>
            <a:r>
              <a:rPr kumimoji="0" lang="en-US" sz="1800" b="0" i="0" u="none" strike="noStrike" kern="1200" cap="none" spc="15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Meiryo"/>
                <a:ea typeface="+mn-ea"/>
                <a:cs typeface="+mn-cs"/>
              </a:rPr>
              <a:t>35–40mmHg brachial pressure index greater than or equal to 0.8. </a:t>
            </a:r>
            <a:endParaRPr kumimoji="0" lang="en-CA" sz="1800" b="0" i="0" u="none" strike="noStrike" kern="1200" cap="none" spc="15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Tx/>
              <a:buSzTx/>
              <a:buFont typeface="Corbel" panose="020B0503020204020204" pitchFamily="34" charset="0"/>
              <a:buNone/>
              <a:tabLst/>
              <a:defRPr/>
            </a:pPr>
            <a:endParaRPr kumimoji="0" lang="en-CA" sz="1800" b="1" i="0" u="none" strike="noStrike" kern="1200" cap="none" spc="15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D9CE15A-85AB-7914-3F45-5E4E51439B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177" y="3812416"/>
            <a:ext cx="4019244" cy="303780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3D8B308-AE2D-799F-6270-2B82B3F79A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1186" y="3411759"/>
            <a:ext cx="3448868" cy="3448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4783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2526924-84D3-45FB-A5FE-62D8FCBF5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2A6256-1DD0-4E4B-A8B3-9A711B4DB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760540-185E-4652-BFD2-9B362EF3B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103AD1-7E6B-41D4-A3C8-65D49BD05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371" y="1044054"/>
            <a:ext cx="10013709" cy="103036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Plan of Care: Compression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9789F4-85C1-41A0-83EB-992E22210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9D367D-6DD2-4A7C-8918-0DCAC2975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6C896-A22A-A00A-1796-DBD151217A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8764" y="2244357"/>
            <a:ext cx="4580537" cy="3426158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Long-stretch</a:t>
            </a:r>
            <a:r>
              <a:rPr lang="en-US" b="0" dirty="0"/>
              <a:t> -Multi-component systems more effective than those composed mainly of inelastic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b="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Bulky- can decrease ROM</a:t>
            </a: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C59083-25B6-CCC4-7211-6466B6519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74" y="4708439"/>
            <a:ext cx="8454053" cy="19450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E79C74B-8C8D-E91B-36C8-6D43F8FA91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872" y="3244750"/>
            <a:ext cx="2981325" cy="153352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6310D92-5299-E460-1FBC-666C7877D02A}"/>
              </a:ext>
            </a:extLst>
          </p:cNvPr>
          <p:cNvSpPr txBox="1"/>
          <p:nvPr/>
        </p:nvSpPr>
        <p:spPr>
          <a:xfrm>
            <a:off x="5713950" y="2314667"/>
            <a:ext cx="54712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"/>
                <a:ea typeface="+mn-ea"/>
                <a:cs typeface="+mn-cs"/>
              </a:rPr>
              <a:t>Profore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"/>
                <a:ea typeface="+mn-ea"/>
                <a:cs typeface="+mn-cs"/>
              </a:rPr>
              <a:t>-four-layer compression wrap elastic/long-stretch system providing high compression  (30 - 40 mmHg) for up to 7 days </a:t>
            </a:r>
            <a:endParaRPr kumimoji="0" lang="en-CA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7C90C6-3C76-61E3-22C3-BCCCB36C6CDA}"/>
              </a:ext>
            </a:extLst>
          </p:cNvPr>
          <p:cNvSpPr txBox="1"/>
          <p:nvPr/>
        </p:nvSpPr>
        <p:spPr>
          <a:xfrm>
            <a:off x="5884910" y="3343372"/>
            <a:ext cx="308596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"/>
                <a:ea typeface="+mn-ea"/>
                <a:cs typeface="+mn-cs"/>
              </a:rPr>
              <a:t>Two-layer perform as well as four-layer bandaging (4LB) systems.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"/>
                <a:ea typeface="+mn-ea"/>
                <a:cs typeface="+mn-cs"/>
              </a:rPr>
              <a:t>4LB- heal faster than SSB</a:t>
            </a:r>
          </a:p>
        </p:txBody>
      </p:sp>
    </p:spTree>
    <p:extLst>
      <p:ext uri="{BB962C8B-B14F-4D97-AF65-F5344CB8AC3E}">
        <p14:creationId xmlns:p14="http://schemas.microsoft.com/office/powerpoint/2010/main" val="463447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2526924-84D3-45FB-A5FE-62D8FCBF5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2A6256-1DD0-4E4B-A8B3-9A711B4DB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760540-185E-4652-BFD2-9B362EF3B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103AD1-7E6B-41D4-A3C8-65D49BD05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371" y="1044054"/>
            <a:ext cx="10013709" cy="103036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Plan of Care: Compression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9789F4-85C1-41A0-83EB-992E22210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9D367D-6DD2-4A7C-8918-0DCAC2975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CAC081-ACDE-2ED0-C0FD-38200EE65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076" y="2244357"/>
            <a:ext cx="8234326" cy="45451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4356FE3-8045-9FCD-1222-84C67CB544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7269" y="2392636"/>
            <a:ext cx="2428875" cy="18764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1919DC9-16A7-67D6-40B1-51C1A4979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2435" y="4295403"/>
            <a:ext cx="1565553" cy="2400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3263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2526924-84D3-45FB-A5FE-62D8FCBF5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2A6256-1DD0-4E4B-A8B3-9A711B4DB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760540-185E-4652-BFD2-9B362EF3B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103AD1-7E6B-41D4-A3C8-65D49BD05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371" y="1044054"/>
            <a:ext cx="10013709" cy="103036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Plan of Care: Compression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9789F4-85C1-41A0-83EB-992E22210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9D367D-6DD2-4A7C-8918-0DCAC2975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6C896-A22A-A00A-1796-DBD151217A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2777" y="2391770"/>
            <a:ext cx="10929198" cy="3426158"/>
          </a:xfrm>
        </p:spPr>
        <p:txBody>
          <a:bodyPr anchor="t">
            <a:normAutofit/>
          </a:bodyPr>
          <a:lstStyle/>
          <a:p>
            <a:r>
              <a:rPr lang="en-US" b="0" dirty="0"/>
              <a:t>Compression Devices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b="0" dirty="0"/>
              <a:t>Intermittent pneumatic compression (IPC)- to reduce lower limb edema in VLUs &amp; lymphedema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b="0" dirty="0"/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b="0" dirty="0"/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CA" b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C572EC-006E-CD07-9361-C12F7585C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949" y="3865470"/>
            <a:ext cx="3495485" cy="22758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C6310EF-A788-E364-5324-5EFCCA762A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842" y="3225615"/>
            <a:ext cx="4755238" cy="36323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18B298-D934-A620-9A90-0FB0777C61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37" y="3865471"/>
            <a:ext cx="3305424" cy="2453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3215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ED69555-EE48-4B19-812B-4E1068DBF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73754" y="0"/>
            <a:ext cx="4618246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2" name="Freeform 57">
            <a:extLst>
              <a:ext uri="{FF2B5EF4-FFF2-40B4-BE49-F238E27FC236}">
                <a16:creationId xmlns:a16="http://schemas.microsoft.com/office/drawing/2014/main" id="{57AEB73D-F521-4B19-820F-12DB6BCC8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72EEBA-3A5D-41CE-8465-A45A0F6567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0121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A164D6B-6878-4B9F-A2D0-985D39B17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A175829-70EA-4A6D-978C-4D0923059C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99696" y="-2"/>
            <a:ext cx="4392304" cy="121842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E5D2B4A-3399-4CCF-A171-7F8B1BF54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259253"/>
            <a:ext cx="640080" cy="436272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8F8051A-999C-4F38-985C-673617805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1238464"/>
            <a:ext cx="7201313" cy="440429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ECEEB9D-BC19-1BE1-32F8-7A360C9AF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589" y="1536751"/>
            <a:ext cx="6073254" cy="3807725"/>
          </a:xfrm>
        </p:spPr>
        <p:txBody>
          <a:bodyPr vert="horz" lIns="109728" tIns="109728" rIns="109728" bIns="91440" rtlCol="0" anchor="ctr">
            <a:normAutofit/>
          </a:bodyPr>
          <a:lstStyle/>
          <a:p>
            <a:r>
              <a:rPr lang="en-US" sz="6600" b="0" cap="all" dirty="0">
                <a:solidFill>
                  <a:schemeClr val="bg1"/>
                </a:solidFill>
              </a:rPr>
              <a:t>Health Teaching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85AAE23-FCB6-4663-907C-0110B0FDC5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5608879"/>
            <a:ext cx="7759826" cy="1249121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1DF095C-665A-4B22-A777-D3196F4951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43063" y="1226851"/>
            <a:ext cx="4348937" cy="442752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128298-A5CE-57D9-A80A-61B0C3CBBD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88906" y="1926016"/>
            <a:ext cx="3055581" cy="3029195"/>
          </a:xfrm>
        </p:spPr>
        <p:txBody>
          <a:bodyPr vert="horz" lIns="109728" tIns="109728" rIns="109728" bIns="91440" rtlCol="0" anchor="ctr">
            <a:normAutofit/>
          </a:bodyPr>
          <a:lstStyle/>
          <a:p>
            <a:pPr>
              <a:lnSpc>
                <a:spcPct val="150000"/>
              </a:lnSpc>
              <a:spcBef>
                <a:spcPts val="930"/>
              </a:spcBef>
            </a:pPr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Venous Disease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EA1DA1C-6CE0-4AE4-918F-CC0E685C5F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99696" y="5631149"/>
            <a:ext cx="4392304" cy="12268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5E389A3-2501-4131-8C64-1530AAF5F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70965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A001026-2FEF-483E-964D-67CD7E0961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1204578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AEB196E-F444-432F-8790-88C18E667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5598792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4719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368" name="Rectangle 15367">
            <a:extLst>
              <a:ext uri="{FF2B5EF4-FFF2-40B4-BE49-F238E27FC236}">
                <a16:creationId xmlns:a16="http://schemas.microsoft.com/office/drawing/2014/main" id="{72526924-84D3-45FB-A5FE-62D8FCBF5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5370" name="Rectangle 15369">
            <a:extLst>
              <a:ext uri="{FF2B5EF4-FFF2-40B4-BE49-F238E27FC236}">
                <a16:creationId xmlns:a16="http://schemas.microsoft.com/office/drawing/2014/main" id="{5C2A6256-1DD0-4E4B-A8B3-9A711B4DB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5372" name="Rectangle 15371">
            <a:extLst>
              <a:ext uri="{FF2B5EF4-FFF2-40B4-BE49-F238E27FC236}">
                <a16:creationId xmlns:a16="http://schemas.microsoft.com/office/drawing/2014/main" id="{41760540-185E-4652-BFD2-9B362EF3B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FB615D5-6E86-4BA3-BECF-C8AE17267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371" y="1044054"/>
            <a:ext cx="10013709" cy="1030360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</a:pPr>
            <a:r>
              <a:rPr lang="en-CA" sz="2000" b="1" dirty="0">
                <a:solidFill>
                  <a:schemeClr val="bg1"/>
                </a:solidFill>
              </a:rPr>
              <a:t>Health Teaching: </a:t>
            </a:r>
            <a:r>
              <a:rPr lang="en-CA" sz="2000" dirty="0">
                <a:solidFill>
                  <a:schemeClr val="bg1"/>
                </a:solidFill>
              </a:rPr>
              <a:t>Patients With Venous Disease</a:t>
            </a:r>
          </a:p>
        </p:txBody>
      </p:sp>
      <p:sp>
        <p:nvSpPr>
          <p:cNvPr id="15374" name="Rectangle 15373">
            <a:extLst>
              <a:ext uri="{FF2B5EF4-FFF2-40B4-BE49-F238E27FC236}">
                <a16:creationId xmlns:a16="http://schemas.microsoft.com/office/drawing/2014/main" id="{729789F4-85C1-41A0-83EB-992E22210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5376" name="Rectangle 15375">
            <a:extLst>
              <a:ext uri="{FF2B5EF4-FFF2-40B4-BE49-F238E27FC236}">
                <a16:creationId xmlns:a16="http://schemas.microsoft.com/office/drawing/2014/main" id="{9D9D367D-6DD2-4A7C-8918-0DCAC2975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1249664" y="2391770"/>
            <a:ext cx="9935571" cy="3426158"/>
          </a:xfrm>
        </p:spPr>
        <p:txBody>
          <a:bodyPr anchor="t">
            <a:noAutofit/>
          </a:bodyPr>
          <a:lstStyle/>
          <a:p>
            <a:pPr marL="914400" lvl="2" indent="-914400">
              <a:buNone/>
            </a:pPr>
            <a:r>
              <a:rPr lang="en-US" altLang="en-US" sz="2000" dirty="0"/>
              <a:t>Education on methods of decreasing venous pressure</a:t>
            </a:r>
          </a:p>
          <a:p>
            <a:pPr marL="342900" lvl="2" indent="-342900">
              <a:buFont typeface="Arial" panose="020B0604020202020204" pitchFamily="34" charset="0"/>
              <a:buChar char="•"/>
            </a:pPr>
            <a:r>
              <a:rPr lang="en-US" altLang="en-US" sz="2000" dirty="0"/>
              <a:t>Less standing </a:t>
            </a:r>
          </a:p>
          <a:p>
            <a:pPr marL="342900" lvl="2" indent="-342900">
              <a:buFont typeface="Arial" panose="020B0604020202020204" pitchFamily="34" charset="0"/>
              <a:buChar char="•"/>
            </a:pPr>
            <a:r>
              <a:rPr lang="en-US" altLang="en-US" sz="2000" dirty="0"/>
              <a:t>Less sitting- get up and walk each hour</a:t>
            </a:r>
          </a:p>
          <a:p>
            <a:pPr marL="342900" lvl="2" indent="-342900">
              <a:buFont typeface="Arial" panose="020B0604020202020204" pitchFamily="34" charset="0"/>
              <a:buChar char="•"/>
            </a:pPr>
            <a:r>
              <a:rPr lang="en-US" altLang="en-US" sz="2000" dirty="0"/>
              <a:t>Walk daily (calf muscle)</a:t>
            </a:r>
          </a:p>
          <a:p>
            <a:pPr marL="342900" lvl="2" indent="-342900">
              <a:buFont typeface="Arial" panose="020B0604020202020204" pitchFamily="34" charset="0"/>
              <a:buChar char="•"/>
            </a:pPr>
            <a:r>
              <a:rPr lang="en-US" altLang="en-US" sz="2000" dirty="0"/>
              <a:t>Leg exercises</a:t>
            </a:r>
          </a:p>
          <a:p>
            <a:pPr marL="342900" lvl="2" indent="-342900">
              <a:buFont typeface="Arial" panose="020B0604020202020204" pitchFamily="34" charset="0"/>
              <a:buChar char="•"/>
            </a:pPr>
            <a:r>
              <a:rPr lang="en-US" altLang="en-US" sz="2000" dirty="0"/>
              <a:t>Compression stockings</a:t>
            </a:r>
          </a:p>
          <a:p>
            <a:pPr marL="342900" lvl="2" indent="-342900">
              <a:buFont typeface="Arial" panose="020B0604020202020204" pitchFamily="34" charset="0"/>
              <a:buChar char="•"/>
            </a:pPr>
            <a:r>
              <a:rPr lang="en-US" altLang="en-US" sz="2000" dirty="0"/>
              <a:t>Elevate feet above heart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69B2F8-1E00-486F-BD42-BC7348DFEF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7178" y="3314244"/>
            <a:ext cx="2432975" cy="30641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E1472D-063B-1EFE-000D-FBF0107A94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4586" y="4382150"/>
            <a:ext cx="2133600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5002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18E7316-48EB-718D-611D-28D80DA31E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6677" y="3242946"/>
            <a:ext cx="6496633" cy="29354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2496FCB-B807-ADCD-D1A8-2E2A436A5D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1875" y="170038"/>
            <a:ext cx="6455532" cy="2461951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3574D0D1-BDC8-18C8-D5E2-72F3209D0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Elevation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941126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ED69555-EE48-4B19-812B-4E1068DBF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73754" y="0"/>
            <a:ext cx="4618246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2" name="Freeform 57">
            <a:extLst>
              <a:ext uri="{FF2B5EF4-FFF2-40B4-BE49-F238E27FC236}">
                <a16:creationId xmlns:a16="http://schemas.microsoft.com/office/drawing/2014/main" id="{57AEB73D-F521-4B19-820F-12DB6BCC8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72EEBA-3A5D-41CE-8465-A45A0F6567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0121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A164D6B-6878-4B9F-A2D0-985D39B17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A175829-70EA-4A6D-978C-4D0923059C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99696" y="-2"/>
            <a:ext cx="4392304" cy="121842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E5D2B4A-3399-4CCF-A171-7F8B1BF54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259253"/>
            <a:ext cx="640080" cy="436272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8F8051A-999C-4F38-985C-673617805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1238464"/>
            <a:ext cx="7201313" cy="440429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ECEEB9D-BC19-1BE1-32F8-7A360C9AF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589" y="1536751"/>
            <a:ext cx="6073254" cy="3807725"/>
          </a:xfrm>
        </p:spPr>
        <p:txBody>
          <a:bodyPr vert="horz" lIns="109728" tIns="109728" rIns="109728" bIns="91440" rtlCol="0" anchor="ctr">
            <a:normAutofit/>
          </a:bodyPr>
          <a:lstStyle/>
          <a:p>
            <a:r>
              <a:rPr lang="en-US" sz="6600" b="0" cap="all" dirty="0">
                <a:solidFill>
                  <a:schemeClr val="bg1"/>
                </a:solidFill>
              </a:rPr>
              <a:t>Evaluation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85AAE23-FCB6-4663-907C-0110B0FDC5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5608879"/>
            <a:ext cx="7759826" cy="1249121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1DF095C-665A-4B22-A777-D3196F4951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43063" y="1226851"/>
            <a:ext cx="4348937" cy="442752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128298-A5CE-57D9-A80A-61B0C3CBBD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88906" y="1926016"/>
            <a:ext cx="3055581" cy="3029195"/>
          </a:xfrm>
        </p:spPr>
        <p:txBody>
          <a:bodyPr vert="horz" lIns="109728" tIns="109728" rIns="109728" bIns="91440" rtlCol="0" anchor="ctr">
            <a:normAutofit/>
          </a:bodyPr>
          <a:lstStyle/>
          <a:p>
            <a:pPr>
              <a:lnSpc>
                <a:spcPct val="150000"/>
              </a:lnSpc>
              <a:spcBef>
                <a:spcPts val="930"/>
              </a:spcBef>
            </a:pPr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Venous Disease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EA1DA1C-6CE0-4AE4-918F-CC0E685C5F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99696" y="5631149"/>
            <a:ext cx="4392304" cy="12268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5E389A3-2501-4131-8C64-1530AAF5F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70965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A001026-2FEF-483E-964D-67CD7E0961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1204578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AEB196E-F444-432F-8790-88C18E667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5598792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17507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3D702-4E20-C2EA-F460-0749DE618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Avoid Recurrence 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B92BB-33CE-0B40-75F0-19AA72590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4757" y="830251"/>
            <a:ext cx="6815329" cy="5197497"/>
          </a:xfrm>
        </p:spPr>
        <p:txBody>
          <a:bodyPr>
            <a:normAutofit fontScale="92500" lnSpcReduction="20000"/>
          </a:bodyPr>
          <a:lstStyle/>
          <a:p>
            <a:r>
              <a:rPr lang="en-US" b="0" dirty="0"/>
              <a:t>Recurrence rates- high as 70% </a:t>
            </a:r>
          </a:p>
          <a:p>
            <a:r>
              <a:rPr lang="en-US" b="0" dirty="0"/>
              <a:t>Ongoing, life-long compression required to prevent venous leg ulcer recurrence</a:t>
            </a:r>
          </a:p>
          <a:p>
            <a:r>
              <a:rPr lang="en-US" b="0" dirty="0"/>
              <a:t> Compression- underutilized- lack of clinician knowledge &amp; unavailability of bandages/hosiery. </a:t>
            </a:r>
          </a:p>
          <a:p>
            <a:endParaRPr lang="en-US" dirty="0"/>
          </a:p>
          <a:p>
            <a:r>
              <a:rPr lang="en-US" dirty="0"/>
              <a:t>Ideal compression system should be:</a:t>
            </a:r>
          </a:p>
          <a:p>
            <a:r>
              <a:rPr lang="en-US" b="0" dirty="0"/>
              <a:t>   Affordable</a:t>
            </a:r>
          </a:p>
          <a:p>
            <a:r>
              <a:rPr lang="en-US" b="0" dirty="0"/>
              <a:t>   Comfortable</a:t>
            </a:r>
          </a:p>
          <a:p>
            <a:r>
              <a:rPr lang="en-US" b="0" dirty="0"/>
              <a:t>   Easy to apply</a:t>
            </a:r>
          </a:p>
          <a:p>
            <a:r>
              <a:rPr lang="en-US" b="0" dirty="0"/>
              <a:t>   Non-allergenic</a:t>
            </a:r>
          </a:p>
          <a:p>
            <a:r>
              <a:rPr lang="en-US" b="0"/>
              <a:t>   Able </a:t>
            </a:r>
            <a:r>
              <a:rPr lang="en-US" b="0" dirty="0"/>
              <a:t>to fit into patient’s shoes </a:t>
            </a:r>
            <a:endParaRPr lang="en-CA" b="0" dirty="0"/>
          </a:p>
        </p:txBody>
      </p:sp>
    </p:spTree>
    <p:extLst>
      <p:ext uri="{BB962C8B-B14F-4D97-AF65-F5344CB8AC3E}">
        <p14:creationId xmlns:p14="http://schemas.microsoft.com/office/powerpoint/2010/main" val="16419810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B240C-C728-55D1-EC9B-E54D819DC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4025" y="796499"/>
            <a:ext cx="8229600" cy="747161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References</a:t>
            </a:r>
            <a:endParaRPr lang="en-C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3439BB-80EF-7CD2-8C8B-77000FB2B079}"/>
              </a:ext>
            </a:extLst>
          </p:cNvPr>
          <p:cNvSpPr txBox="1"/>
          <p:nvPr/>
        </p:nvSpPr>
        <p:spPr>
          <a:xfrm>
            <a:off x="766142" y="1970063"/>
            <a:ext cx="1068857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44500" marR="0" lvl="0" indent="-4445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vity"/>
                <a:ea typeface="+mn-ea"/>
                <a:cs typeface="+mn-cs"/>
              </a:rPr>
              <a:t>Orsted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vity"/>
                <a:ea typeface="+mn-ea"/>
                <a:cs typeface="+mn-cs"/>
              </a:rPr>
              <a:t>, H.L. &amp; Rosenthal, S. (2021). Foundations of Best Practice for 	Skin and 	Wound Management. Wounds Canada.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vity"/>
                <a:ea typeface="+mn-ea"/>
                <a:cs typeface="+mn-cs"/>
              </a:rPr>
              <a:t>Ebook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vity"/>
                <a:ea typeface="+mn-ea"/>
                <a:cs typeface="+mn-cs"/>
              </a:rPr>
              <a:t>  Available to purchase at </a:t>
            </a:r>
            <a:r>
              <a:rPr kumimoji="0" lang="en-US" sz="1800" b="0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vity"/>
                <a:ea typeface="+mn-ea"/>
                <a:cs typeface="+mn-cs"/>
                <a:hlinkClick r:id="rId2"/>
              </a:rPr>
              <a:t>https://www.woundscanada.ca/eboutique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vity"/>
                <a:ea typeface="+mn-ea"/>
                <a:cs typeface="+mn-cs"/>
                <a:hlinkClick r:id="rId2"/>
              </a:rPr>
              <a:t> 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vity"/>
                <a:ea typeface="+mn-ea"/>
                <a:cs typeface="+mn-cs"/>
              </a:rPr>
              <a:t>and the 	code for 25% discount on the </a:t>
            </a:r>
            <a:r>
              <a:rPr kumimoji="0" lang="en-US" sz="18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vity"/>
                <a:ea typeface="+mn-ea"/>
                <a:cs typeface="+mn-cs"/>
              </a:rPr>
              <a:t>ebook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vity"/>
                <a:ea typeface="+mn-ea"/>
                <a:cs typeface="+mn-cs"/>
              </a:rPr>
              <a:t> is </a:t>
            </a:r>
            <a:r>
              <a:rPr kumimoji="0" lang="en-US" sz="18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vity"/>
                <a:ea typeface="+mn-ea"/>
                <a:cs typeface="+mn-cs"/>
              </a:rPr>
              <a:t>UWNursing</a:t>
            </a: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vity"/>
                <a:ea typeface="+mn-ea"/>
                <a:cs typeface="+mn-cs"/>
              </a:rPr>
              <a:t> </a:t>
            </a:r>
          </a:p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vity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vity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555531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hojiVTI">
  <a:themeElements>
    <a:clrScheme name="AnalogousFromRegularSeed_2SEEDS">
      <a:dk1>
        <a:srgbClr val="000000"/>
      </a:dk1>
      <a:lt1>
        <a:srgbClr val="FFFFFF"/>
      </a:lt1>
      <a:dk2>
        <a:srgbClr val="27203C"/>
      </a:dk2>
      <a:lt2>
        <a:srgbClr val="E2E4E8"/>
      </a:lt2>
      <a:accent1>
        <a:srgbClr val="D58717"/>
      </a:accent1>
      <a:accent2>
        <a:srgbClr val="E74A29"/>
      </a:accent2>
      <a:accent3>
        <a:srgbClr val="A7A81E"/>
      </a:accent3>
      <a:accent4>
        <a:srgbClr val="1747D5"/>
      </a:accent4>
      <a:accent5>
        <a:srgbClr val="4929E7"/>
      </a:accent5>
      <a:accent6>
        <a:srgbClr val="8617D5"/>
      </a:accent6>
      <a:hlink>
        <a:srgbClr val="3F74BF"/>
      </a:hlink>
      <a:folHlink>
        <a:srgbClr val="7F7F7F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ojiVTI" id="{00D0DDEB-E771-48E5-9E96-0647434F08B1}" vid="{9D22D596-7FD0-4F89-958C-AD79A0949111}"/>
    </a:ext>
  </a:extLst>
</a:theme>
</file>

<file path=ppt/theme/theme2.xml><?xml version="1.0" encoding="utf-8"?>
<a:theme xmlns:a="http://schemas.openxmlformats.org/drawingml/2006/main" name="SavonVTI">
  <a:themeElements>
    <a:clrScheme name="AnalogousFromLightSeedLeftStep">
      <a:dk1>
        <a:srgbClr val="000000"/>
      </a:dk1>
      <a:lt1>
        <a:srgbClr val="FFFFFF"/>
      </a:lt1>
      <a:dk2>
        <a:srgbClr val="412440"/>
      </a:dk2>
      <a:lt2>
        <a:srgbClr val="E2E8E5"/>
      </a:lt2>
      <a:accent1>
        <a:srgbClr val="C696B2"/>
      </a:accent1>
      <a:accent2>
        <a:srgbClr val="BA7FB9"/>
      </a:accent2>
      <a:accent3>
        <a:srgbClr val="B296C6"/>
      </a:accent3>
      <a:accent4>
        <a:srgbClr val="897FBA"/>
      </a:accent4>
      <a:accent5>
        <a:srgbClr val="96A2C6"/>
      </a:accent5>
      <a:accent6>
        <a:srgbClr val="7FA6BA"/>
      </a:accent6>
      <a:hlink>
        <a:srgbClr val="558D6D"/>
      </a:hlink>
      <a:folHlink>
        <a:srgbClr val="7F7F7F"/>
      </a:folHlink>
    </a:clrScheme>
    <a:fontScheme name="Savon">
      <a:majorFont>
        <a:latin typeface="Speak Pro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Selawik 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</TotalTime>
  <Words>513</Words>
  <Application>Microsoft Office PowerPoint</Application>
  <PresentationFormat>Widescreen</PresentationFormat>
  <Paragraphs>80</Paragraphs>
  <Slides>16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7" baseType="lpstr">
      <vt:lpstr>Meiryo</vt:lpstr>
      <vt:lpstr>Arial</vt:lpstr>
      <vt:lpstr>BlinkMacSystemFont</vt:lpstr>
      <vt:lpstr>Calibri</vt:lpstr>
      <vt:lpstr>Corbel</vt:lpstr>
      <vt:lpstr>Garamond</vt:lpstr>
      <vt:lpstr>Gravity</vt:lpstr>
      <vt:lpstr>Selawik Light</vt:lpstr>
      <vt:lpstr>Speak Pro</vt:lpstr>
      <vt:lpstr>ShojiVTI</vt:lpstr>
      <vt:lpstr>SavonVTI</vt:lpstr>
      <vt:lpstr>Treatment</vt:lpstr>
      <vt:lpstr>Venous Ulcer: Treatment</vt:lpstr>
      <vt:lpstr>Treatment: Team Approach</vt:lpstr>
      <vt:lpstr>Plan of Care: Compression</vt:lpstr>
      <vt:lpstr>Plan of Care: Compression</vt:lpstr>
      <vt:lpstr>Plan of Care: Compression</vt:lpstr>
      <vt:lpstr>Short-stretch</vt:lpstr>
      <vt:lpstr>Plan of Care: Compression</vt:lpstr>
      <vt:lpstr>Plan of Care: Compression</vt:lpstr>
      <vt:lpstr>Plan of Care: Compression</vt:lpstr>
      <vt:lpstr>Health Teaching</vt:lpstr>
      <vt:lpstr>Health Teaching: Patients With Venous Disease</vt:lpstr>
      <vt:lpstr>Elevation</vt:lpstr>
      <vt:lpstr>Evaluation</vt:lpstr>
      <vt:lpstr>Avoid Recurrence 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Sherry Morrell</cp:lastModifiedBy>
  <cp:revision>2</cp:revision>
  <dcterms:created xsi:type="dcterms:W3CDTF">2013-07-15T20:26:40Z</dcterms:created>
  <dcterms:modified xsi:type="dcterms:W3CDTF">2024-07-11T18:35:19Z</dcterms:modified>
</cp:coreProperties>
</file>