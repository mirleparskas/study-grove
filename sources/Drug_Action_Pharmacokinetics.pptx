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9"/>
  </p:notesMasterIdLst>
  <p:sldIdLst>
    <p:sldId id="301" r:id="rId2"/>
    <p:sldId id="312" r:id="rId3"/>
    <p:sldId id="313" r:id="rId4"/>
    <p:sldId id="315" r:id="rId5"/>
    <p:sldId id="302" r:id="rId6"/>
    <p:sldId id="316" r:id="rId7"/>
    <p:sldId id="257" r:id="rId8"/>
    <p:sldId id="259" r:id="rId9"/>
    <p:sldId id="293" r:id="rId10"/>
    <p:sldId id="260" r:id="rId11"/>
    <p:sldId id="261" r:id="rId12"/>
    <p:sldId id="262" r:id="rId13"/>
    <p:sldId id="263" r:id="rId14"/>
    <p:sldId id="304" r:id="rId15"/>
    <p:sldId id="265" r:id="rId16"/>
    <p:sldId id="266" r:id="rId17"/>
    <p:sldId id="305" r:id="rId18"/>
    <p:sldId id="267" r:id="rId19"/>
    <p:sldId id="268" r:id="rId20"/>
    <p:sldId id="295" r:id="rId21"/>
    <p:sldId id="270" r:id="rId22"/>
    <p:sldId id="271" r:id="rId23"/>
    <p:sldId id="297" r:id="rId24"/>
    <p:sldId id="273" r:id="rId25"/>
    <p:sldId id="274" r:id="rId26"/>
    <p:sldId id="275" r:id="rId27"/>
    <p:sldId id="311" r:id="rId28"/>
    <p:sldId id="310" r:id="rId29"/>
    <p:sldId id="276" r:id="rId30"/>
    <p:sldId id="277" r:id="rId31"/>
    <p:sldId id="280" r:id="rId32"/>
    <p:sldId id="298" r:id="rId33"/>
    <p:sldId id="307" r:id="rId34"/>
    <p:sldId id="306" r:id="rId35"/>
    <p:sldId id="299" r:id="rId36"/>
    <p:sldId id="300" r:id="rId37"/>
    <p:sldId id="308" r:id="rId38"/>
    <p:sldId id="281" r:id="rId39"/>
    <p:sldId id="282" r:id="rId40"/>
    <p:sldId id="283" r:id="rId41"/>
    <p:sldId id="284" r:id="rId42"/>
    <p:sldId id="285" r:id="rId43"/>
    <p:sldId id="287" r:id="rId44"/>
    <p:sldId id="290" r:id="rId45"/>
    <p:sldId id="291" r:id="rId46"/>
    <p:sldId id="303" r:id="rId47"/>
    <p:sldId id="314" r:id="rId48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568BD0-2A76-4B76-BE59-3FC686093EF5}" v="30" dt="2023-09-05T17:44:21.8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6" autoAdjust="0"/>
    <p:restoredTop sz="84673" autoAdjust="0"/>
  </p:normalViewPr>
  <p:slideViewPr>
    <p:cSldViewPr snapToGrid="0">
      <p:cViewPr varScale="1">
        <p:scale>
          <a:sx n="66" d="100"/>
          <a:sy n="66" d="100"/>
        </p:scale>
        <p:origin x="10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0"/>
      <c:rAngAx val="0"/>
      <c:perspective val="0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2.4096385542168677E-3"/>
          <c:y val="0.32653061224489793"/>
          <c:w val="1"/>
          <c:h val="0.37188208616780044"/>
        </c:manualLayout>
      </c:layout>
      <c:pie3DChart>
        <c:varyColors val="1"/>
        <c:ser>
          <c:idx val="0"/>
          <c:order val="0"/>
          <c:tx>
            <c:strRef>
              <c:f>Sheet1!$A$2</c:f>
              <c:strCache>
                <c:ptCount val="1"/>
                <c:pt idx="0">
                  <c:v>CYP3A4</c:v>
                </c:pt>
              </c:strCache>
            </c:strRef>
          </c:tx>
          <c:spPr>
            <a:solidFill>
              <a:schemeClr val="accent1"/>
            </a:solidFill>
            <a:ln w="12038">
              <a:solidFill>
                <a:srgbClr val="000000"/>
              </a:solidFill>
              <a:prstDash val="solid"/>
            </a:ln>
          </c:spPr>
          <c:explosion val="1"/>
          <c:dPt>
            <c:idx val="0"/>
            <c:bubble3D val="0"/>
            <c:spPr>
              <a:solidFill>
                <a:schemeClr val="bg2"/>
              </a:solidFill>
              <a:ln w="12038">
                <a:solidFill>
                  <a:srgbClr val="000000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DA64-402E-B452-9F5B111711A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2038">
                <a:solidFill>
                  <a:srgbClr val="000000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DA64-402E-B452-9F5B111711AD}"/>
              </c:ext>
            </c:extLst>
          </c:dPt>
          <c:dPt>
            <c:idx val="2"/>
            <c:bubble3D val="0"/>
            <c:spPr>
              <a:solidFill>
                <a:schemeClr val="tx2"/>
              </a:solidFill>
              <a:ln w="12038">
                <a:solidFill>
                  <a:srgbClr val="000000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2-DA64-402E-B452-9F5B111711AD}"/>
              </c:ext>
            </c:extLst>
          </c:dPt>
          <c:dPt>
            <c:idx val="3"/>
            <c:bubble3D val="0"/>
            <c:spPr>
              <a:solidFill>
                <a:schemeClr val="folHlink"/>
              </a:solidFill>
              <a:ln w="12038">
                <a:solidFill>
                  <a:srgbClr val="000000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DA64-402E-B452-9F5B111711AD}"/>
              </c:ext>
            </c:extLst>
          </c:dPt>
          <c:dPt>
            <c:idx val="4"/>
            <c:bubble3D val="0"/>
            <c:extLst>
              <c:ext xmlns:c16="http://schemas.microsoft.com/office/drawing/2014/chart" uri="{C3380CC4-5D6E-409C-BE32-E72D297353CC}">
                <c16:uniqueId val="{00000004-DA64-402E-B452-9F5B111711AD}"/>
              </c:ext>
            </c:extLst>
          </c:dPt>
          <c:dLbls>
            <c:dLbl>
              <c:idx val="0"/>
              <c:layout>
                <c:manualLayout>
                  <c:x val="-0.19503246133002805"/>
                  <c:y val="-0.1212987694719978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A64-402E-B452-9F5B111711AD}"/>
                </c:ext>
              </c:extLst>
            </c:dLbl>
            <c:dLbl>
              <c:idx val="1"/>
              <c:layout>
                <c:manualLayout>
                  <c:x val="0.1710843373493976"/>
                  <c:y val="-0.13922541662811633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A64-402E-B452-9F5B111711AD}"/>
                </c:ext>
              </c:extLst>
            </c:dLbl>
            <c:dLbl>
              <c:idx val="2"/>
              <c:layout>
                <c:manualLayout>
                  <c:x val="0.1180722891566265"/>
                  <c:y val="2.9964273946276321E-3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A64-402E-B452-9F5B111711AD}"/>
                </c:ext>
              </c:extLst>
            </c:dLbl>
            <c:dLbl>
              <c:idx val="3"/>
              <c:layout>
                <c:manualLayout>
                  <c:x val="5.2377449514091207E-2"/>
                  <c:y val="-4.5992278562582256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A64-402E-B452-9F5B111711AD}"/>
                </c:ext>
              </c:extLst>
            </c:dLbl>
            <c:dLbl>
              <c:idx val="4"/>
              <c:layout>
                <c:manualLayout>
                  <c:x val="5.8628244499327908E-2"/>
                  <c:y val="-2.9597767811491094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A64-402E-B452-9F5B111711AD}"/>
                </c:ext>
              </c:extLst>
            </c:dLbl>
            <c:spPr>
              <a:noFill/>
              <a:ln w="24076">
                <a:noFill/>
              </a:ln>
            </c:spPr>
            <c:txPr>
              <a:bodyPr/>
              <a:lstStyle/>
              <a:p>
                <a:pPr>
                  <a:defRPr b="1">
                    <a:latin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Sheet1!$B$1:$F$1</c:f>
              <c:strCache>
                <c:ptCount val="5"/>
                <c:pt idx="0">
                  <c:v>CYP3A4</c:v>
                </c:pt>
                <c:pt idx="1">
                  <c:v>CYP2D6</c:v>
                </c:pt>
                <c:pt idx="2">
                  <c:v>CYP2C9</c:v>
                </c:pt>
                <c:pt idx="3">
                  <c:v>CYP1A2</c:v>
                </c:pt>
                <c:pt idx="4">
                  <c:v>other</c:v>
                </c:pt>
              </c:strCache>
            </c:strRef>
          </c:cat>
          <c:val>
            <c:numRef>
              <c:f>Sheet1!$B$2:$F$2</c:f>
              <c:numCache>
                <c:formatCode>General</c:formatCode>
                <c:ptCount val="5"/>
                <c:pt idx="0">
                  <c:v>55</c:v>
                </c:pt>
                <c:pt idx="1">
                  <c:v>20</c:v>
                </c:pt>
                <c:pt idx="2">
                  <c:v>15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A64-402E-B452-9F5B111711AD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</c:strCache>
            </c:strRef>
          </c:tx>
          <c:spPr>
            <a:solidFill>
              <a:schemeClr val="accent2"/>
            </a:solidFill>
            <a:ln w="12038">
              <a:solidFill>
                <a:schemeClr val="tx1"/>
              </a:solidFill>
              <a:prstDash val="solid"/>
            </a:ln>
          </c:spPr>
          <c:explosion val="1"/>
          <c:dPt>
            <c:idx val="0"/>
            <c:bubble3D val="0"/>
            <c:spPr>
              <a:solidFill>
                <a:schemeClr val="accent1"/>
              </a:solidFill>
              <a:ln w="12038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6-DA64-402E-B452-9F5B111711AD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7-DA64-402E-B452-9F5B111711AD}"/>
              </c:ext>
            </c:extLst>
          </c:dPt>
          <c:dPt>
            <c:idx val="2"/>
            <c:bubble3D val="0"/>
            <c:spPr>
              <a:solidFill>
                <a:schemeClr val="hlink"/>
              </a:solidFill>
              <a:ln w="12038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8-DA64-402E-B452-9F5B111711AD}"/>
              </c:ext>
            </c:extLst>
          </c:dPt>
          <c:dPt>
            <c:idx val="3"/>
            <c:bubble3D val="0"/>
            <c:spPr>
              <a:solidFill>
                <a:schemeClr val="folHlink"/>
              </a:solidFill>
              <a:ln w="12038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9-DA64-402E-B452-9F5B111711AD}"/>
              </c:ext>
            </c:extLst>
          </c:dPt>
          <c:dPt>
            <c:idx val="4"/>
            <c:bubble3D val="0"/>
            <c:spPr>
              <a:solidFill>
                <a:schemeClr val="bg2"/>
              </a:solidFill>
              <a:ln w="12038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A-DA64-402E-B452-9F5B111711AD}"/>
              </c:ext>
            </c:extLst>
          </c:dPt>
          <c:dLbls>
            <c:spPr>
              <a:noFill/>
              <a:ln w="24076">
                <a:noFill/>
              </a:ln>
            </c:spPr>
            <c:showLegendKey val="0"/>
            <c:showVal val="0"/>
            <c:showCatName val="0"/>
            <c:showSerName val="1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Sheet1!$B$1:$F$1</c:f>
              <c:strCache>
                <c:ptCount val="5"/>
                <c:pt idx="0">
                  <c:v>CYP3A4</c:v>
                </c:pt>
                <c:pt idx="1">
                  <c:v>CYP2D6</c:v>
                </c:pt>
                <c:pt idx="2">
                  <c:v>CYP2C9</c:v>
                </c:pt>
                <c:pt idx="3">
                  <c:v>CYP1A2</c:v>
                </c:pt>
                <c:pt idx="4">
                  <c:v>other</c:v>
                </c:pt>
              </c:strCache>
            </c:strRef>
          </c:cat>
          <c:val>
            <c:numRef>
              <c:f>Sheet1!$B$3:$F$3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B-DA64-402E-B452-9F5B111711AD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</c:strCache>
            </c:strRef>
          </c:tx>
          <c:spPr>
            <a:solidFill>
              <a:schemeClr val="hlink"/>
            </a:solidFill>
            <a:ln w="12038">
              <a:solidFill>
                <a:schemeClr val="tx1"/>
              </a:solidFill>
              <a:prstDash val="solid"/>
            </a:ln>
          </c:spPr>
          <c:explosion val="1"/>
          <c:dPt>
            <c:idx val="0"/>
            <c:bubble3D val="0"/>
            <c:spPr>
              <a:solidFill>
                <a:schemeClr val="accent1"/>
              </a:solidFill>
              <a:ln w="12038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C-DA64-402E-B452-9F5B111711A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2038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D-DA64-402E-B452-9F5B111711AD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E-DA64-402E-B452-9F5B111711AD}"/>
              </c:ext>
            </c:extLst>
          </c:dPt>
          <c:dPt>
            <c:idx val="3"/>
            <c:bubble3D val="0"/>
            <c:spPr>
              <a:solidFill>
                <a:schemeClr val="folHlink"/>
              </a:solidFill>
              <a:ln w="12038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F-DA64-402E-B452-9F5B111711AD}"/>
              </c:ext>
            </c:extLst>
          </c:dPt>
          <c:dPt>
            <c:idx val="4"/>
            <c:bubble3D val="0"/>
            <c:spPr>
              <a:solidFill>
                <a:schemeClr val="bg2"/>
              </a:solidFill>
              <a:ln w="12038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0-DA64-402E-B452-9F5B111711AD}"/>
              </c:ext>
            </c:extLst>
          </c:dPt>
          <c:dLbls>
            <c:spPr>
              <a:noFill/>
              <a:ln w="24076">
                <a:noFill/>
              </a:ln>
            </c:spPr>
            <c:showLegendKey val="0"/>
            <c:showVal val="0"/>
            <c:showCatName val="0"/>
            <c:showSerName val="1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Sheet1!$B$1:$F$1</c:f>
              <c:strCache>
                <c:ptCount val="5"/>
                <c:pt idx="0">
                  <c:v>CYP3A4</c:v>
                </c:pt>
                <c:pt idx="1">
                  <c:v>CYP2D6</c:v>
                </c:pt>
                <c:pt idx="2">
                  <c:v>CYP2C9</c:v>
                </c:pt>
                <c:pt idx="3">
                  <c:v>CYP1A2</c:v>
                </c:pt>
                <c:pt idx="4">
                  <c:v>other</c:v>
                </c:pt>
              </c:strCache>
            </c:strRef>
          </c:cat>
          <c:val>
            <c:numRef>
              <c:f>Sheet1!$B$4:$F$4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11-DA64-402E-B452-9F5B111711AD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</c:strCache>
            </c:strRef>
          </c:tx>
          <c:spPr>
            <a:solidFill>
              <a:schemeClr val="folHlink"/>
            </a:solidFill>
            <a:ln w="12038">
              <a:solidFill>
                <a:schemeClr val="tx1"/>
              </a:solidFill>
              <a:prstDash val="solid"/>
            </a:ln>
          </c:spPr>
          <c:explosion val="1"/>
          <c:dPt>
            <c:idx val="0"/>
            <c:bubble3D val="0"/>
            <c:spPr>
              <a:solidFill>
                <a:schemeClr val="accent1"/>
              </a:solidFill>
              <a:ln w="12038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2-DA64-402E-B452-9F5B111711A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2038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3-DA64-402E-B452-9F5B111711AD}"/>
              </c:ext>
            </c:extLst>
          </c:dPt>
          <c:dPt>
            <c:idx val="2"/>
            <c:bubble3D val="0"/>
            <c:spPr>
              <a:solidFill>
                <a:schemeClr val="hlink"/>
              </a:solidFill>
              <a:ln w="12038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4-DA64-402E-B452-9F5B111711AD}"/>
              </c:ext>
            </c:extLst>
          </c:dPt>
          <c:dPt>
            <c:idx val="3"/>
            <c:bubble3D val="0"/>
            <c:extLst>
              <c:ext xmlns:c16="http://schemas.microsoft.com/office/drawing/2014/chart" uri="{C3380CC4-5D6E-409C-BE32-E72D297353CC}">
                <c16:uniqueId val="{00000015-DA64-402E-B452-9F5B111711AD}"/>
              </c:ext>
            </c:extLst>
          </c:dPt>
          <c:dPt>
            <c:idx val="4"/>
            <c:bubble3D val="0"/>
            <c:spPr>
              <a:solidFill>
                <a:schemeClr val="bg2"/>
              </a:solidFill>
              <a:ln w="12038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6-DA64-402E-B452-9F5B111711AD}"/>
              </c:ext>
            </c:extLst>
          </c:dPt>
          <c:dLbls>
            <c:spPr>
              <a:noFill/>
              <a:ln w="24076">
                <a:noFill/>
              </a:ln>
            </c:spPr>
            <c:showLegendKey val="0"/>
            <c:showVal val="0"/>
            <c:showCatName val="0"/>
            <c:showSerName val="1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Sheet1!$B$1:$F$1</c:f>
              <c:strCache>
                <c:ptCount val="5"/>
                <c:pt idx="0">
                  <c:v>CYP3A4</c:v>
                </c:pt>
                <c:pt idx="1">
                  <c:v>CYP2D6</c:v>
                </c:pt>
                <c:pt idx="2">
                  <c:v>CYP2C9</c:v>
                </c:pt>
                <c:pt idx="3">
                  <c:v>CYP1A2</c:v>
                </c:pt>
                <c:pt idx="4">
                  <c:v>other</c:v>
                </c:pt>
              </c:strCache>
            </c:strRef>
          </c:cat>
          <c:val>
            <c:numRef>
              <c:f>Sheet1!$B$5:$F$5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17-DA64-402E-B452-9F5B111711AD}"/>
            </c:ext>
          </c:extLst>
        </c:ser>
        <c:dLbls>
          <c:showLegendKey val="0"/>
          <c:showVal val="0"/>
          <c:showCatName val="0"/>
          <c:showSerName val="1"/>
          <c:showPercent val="0"/>
          <c:showBubbleSize val="0"/>
          <c:showLeaderLines val="1"/>
        </c:dLbls>
      </c:pie3DChart>
      <c:spPr>
        <a:noFill/>
        <a:ln w="24076">
          <a:noFill/>
        </a:ln>
      </c:spPr>
    </c:plotArea>
    <c:plotVisOnly val="1"/>
    <c:dispBlanksAs val="zero"/>
    <c:showDLblsOverMax val="0"/>
  </c:chart>
  <c:spPr>
    <a:noFill/>
    <a:ln>
      <a:noFill/>
    </a:ln>
  </c:spPr>
  <c:txPr>
    <a:bodyPr/>
    <a:lstStyle/>
    <a:p>
      <a:pPr>
        <a:defRPr sz="1400" b="1" i="0" u="none" strike="noStrike" baseline="0">
          <a:solidFill>
            <a:schemeClr val="bg1">
              <a:lumMod val="50000"/>
            </a:schemeClr>
          </a:solidFill>
          <a:latin typeface="MS PGothic"/>
          <a:ea typeface="MS PGothic"/>
          <a:cs typeface="MS PGothic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13184-97DE-4E81-AEA5-463CC2F11084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943E28-02D4-401C-A43D-45C82233E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730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D62A1BD6-9A08-2CC4-2260-10801C2DBA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F2BE2B0D-56DC-2718-896F-85284143C9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-"/>
            </a:pP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A4C9A22A-7CC3-DA23-6084-6CE14204E7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2027F603-5BBE-D19A-8795-162FBD9924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-"/>
            </a:pP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C3A8691A-2E6B-BE24-A5F1-F09E26B25C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FD64B85D-317D-94F1-C861-460E0EFA0D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503D1427-1947-073A-5917-9C3D070700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C1AFD972-E8CD-865B-FDF9-84E3F48289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All benzodiazepines are metabolized by the liver. However, some benzodiazepines (i.e. - lorazepam, oxazepam, and temazepam) do not go through cytochrome P450 metabolism (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Phase I metabolism), and are only metabolized via glucuronidation (Phase II metabolism)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43E28-02D4-401C-A43D-45C82233E8A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629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E15AFE15-0C10-3B5C-D5A2-D052C01EF7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D5712806-C5BB-17EB-6B01-7CD6E22749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D92AD4C0-E921-3667-C2B3-4C6D725404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3DF4973D-C6DF-5EF1-DC55-4743EA243B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FB8C3B89-16AC-EEA7-A7CF-2F01C9FDAA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E4921431-D6CB-29B3-F6A6-4CE1E77948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AA9092D2-84BA-F6C2-D0E0-EFD8A3E0B9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DF323FC6-50F6-C366-DE74-9AF05A4AE4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21A83F0A-E9F7-DCAA-84D7-CA129628B7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5A094CB0-2CC2-9B9F-4C7D-AF7039C47A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Cigarette smoking induces the activity of human cytochromes P450 (CYP) 1A2 and 2B6</a:t>
            </a:r>
          </a:p>
          <a:p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It indicates the possible inhibition of CYP3A4 activities in smokers</a:t>
            </a:r>
            <a:r>
              <a:rPr lang="en-US" b="0" i="0" dirty="0">
                <a:solidFill>
                  <a:srgbClr val="4D5156"/>
                </a:solidFill>
                <a:effectLst/>
                <a:latin typeface="Google Sans"/>
              </a:rPr>
              <a:t>, which may cause slowed clearance and altered concentrations in plasma of drugs metabolized primarily by CYP3A4</a:t>
            </a:r>
          </a:p>
          <a:p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Aldehyde dehydrogenase (ALDH)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 is one of the two enzymes primarily involved in alcohol metabolism. Several variants exist of the gene that produces ALDH. </a:t>
            </a:r>
            <a:r>
              <a:rPr lang="en-US" b="0" i="0">
                <a:solidFill>
                  <a:srgbClr val="202124"/>
                </a:solidFill>
                <a:effectLst/>
                <a:latin typeface="Google Sans"/>
              </a:rPr>
              <a:t>One of these gene variants, which generates a nonfunctional enzyme, is present in Asians but not in Caucasians and African-Americans.</a:t>
            </a:r>
            <a:endParaRPr lang="en-US" b="0" i="0">
              <a:solidFill>
                <a:srgbClr val="4D5156"/>
              </a:solidFill>
              <a:effectLst/>
              <a:latin typeface="Google San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43E28-02D4-401C-A43D-45C82233E8A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866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5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908801" y="3810000"/>
            <a:ext cx="5281084" cy="1981200"/>
          </a:xfrm>
          <a:ln w="9525">
            <a:headEnd/>
            <a:tailEnd/>
          </a:ln>
        </p:spPr>
        <p:txBody>
          <a:bodyPr lIns="92075" tIns="46038" rIns="92075" bIns="46038" anchor="ctr"/>
          <a:lstStyle>
            <a:lvl1pPr marL="0" indent="0" algn="ctr">
              <a:buFontTx/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6326" name="Rectangle 6"/>
          <p:cNvSpPr>
            <a:spLocks noGrp="1" noChangeArrowheads="1"/>
          </p:cNvSpPr>
          <p:nvPr>
            <p:ph type="ctrTitle" sz="quarter"/>
          </p:nvPr>
        </p:nvSpPr>
        <p:spPr>
          <a:xfrm>
            <a:off x="5285317" y="381000"/>
            <a:ext cx="6906683" cy="33528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0865EAE-6B7C-9BAC-E776-99C91A3B79B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>
                <a:solidFill>
                  <a:srgbClr val="EAEAEA"/>
                </a:solidFill>
              </a:defRPr>
            </a:lvl1pPr>
          </a:lstStyle>
          <a:p>
            <a:fld id="{1EC530AE-FF8C-45B8-8E34-3697FF42EC8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C4C8A39-C7C4-64AB-50F0-4506D4291E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>
                <a:solidFill>
                  <a:srgbClr val="EAEAEA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03B8E36-0C59-46A7-FB38-989C991705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>
                <a:solidFill>
                  <a:srgbClr val="EAEAEA"/>
                </a:solidFill>
              </a:defRPr>
            </a:lvl1pPr>
          </a:lstStyle>
          <a:p>
            <a:fld id="{773509E1-55AD-4192-A45C-0F978EFE0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394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DE695E-146A-D152-F0F7-E188E224E4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C530AE-FF8C-45B8-8E34-3697FF42EC8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0A9BAA-3A79-60A4-33CA-3A23F474FB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22DEC7-D0FC-C81D-882B-1C4C0096DC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3509E1-55AD-4192-A45C-0F978EFE0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724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CD6F4C-D4F4-C773-CA1A-AE9D38F7D9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C530AE-FF8C-45B8-8E34-3697FF42EC8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C1CC73-DDF1-3879-9A3F-136A7FBF87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F28F06-63F0-68D4-D9CA-35BD3C9AD2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3509E1-55AD-4192-A45C-0F978EFE0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057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28800" y="1371600"/>
            <a:ext cx="4978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10400" y="1371600"/>
            <a:ext cx="4978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F1D2C47-EE1B-A295-43D1-32C51B3364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C530AE-FF8C-45B8-8E34-3697FF42EC8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E36D9007-355E-DFD7-E881-AD6DC0ECFC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AB85D00D-3761-9DEF-625F-C638DF4309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3509E1-55AD-4192-A45C-0F978EFE0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406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3876616-3D73-958C-8C58-4C3063269F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C530AE-FF8C-45B8-8E34-3697FF42EC8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C3925AFF-6F3D-3158-50A0-40C9E3ECC8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78F545D5-589F-2F65-8614-08E2FF98FA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3509E1-55AD-4192-A45C-0F978EFE0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009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003404A-7423-E9B4-CCA5-19A3B5C6AF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C530AE-FF8C-45B8-8E34-3697FF42EC8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A84A896-C271-3CC0-621B-0FE40EB7C4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69134C-E910-687D-9CCE-6A877ED6E9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3509E1-55AD-4192-A45C-0F978EFE0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268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83AB0802-E4A7-0CE1-80BD-0E7B32B34D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C530AE-FF8C-45B8-8E34-3697FF42EC8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2590F8C-28DB-4BA4-E2E9-01BDE5583E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CFA135F-FE12-87DD-E6CB-8BAD5606C7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3509E1-55AD-4192-A45C-0F978EFE0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396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2698EFB-BED1-D3E7-212B-A5A510E44B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C530AE-FF8C-45B8-8E34-3697FF42EC8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9B0F38F-242C-A148-A179-7375DFC56B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02DEFD3-B96A-3185-657C-A39B6ECE51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3509E1-55AD-4192-A45C-0F978EFE0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586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CA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B91585E-FE8B-1935-097B-5FFC1D142F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C530AE-FF8C-45B8-8E34-3697FF42EC8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66CBB26-DA0F-E610-4426-5B8B9B46EA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F6CF816-B955-036F-DE8C-20E40B59BB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3509E1-55AD-4192-A45C-0F978EFE0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040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98FA29-EC32-FEE6-BB3B-0D625BC700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C530AE-FF8C-45B8-8E34-3697FF42EC8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297C73-8398-6159-9D60-2C9C775C6F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8C3F00-DEBF-8D70-ABA3-60A525C9E2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3509E1-55AD-4192-A45C-0F978EFE0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76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0"/>
            <a:ext cx="25400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28800" y="0"/>
            <a:ext cx="74168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115F90-B498-9B02-DCCB-654D4047F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C530AE-FF8C-45B8-8E34-3697FF42EC8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A8DDB7-F706-FEA2-2ABA-EEF99B3134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9B1200-1843-23D2-01F4-070CB7A192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3509E1-55AD-4192-A45C-0F978EFE0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3919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97E9E-005C-C067-01AF-C43F8546A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0"/>
            <a:ext cx="10058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CEE5B-A0C1-937A-E5FB-7AF2A6CE171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828800" y="1371600"/>
            <a:ext cx="4978400" cy="472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E5CE30-5F97-8B40-EE1F-E7AE252A40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10400" y="1371600"/>
            <a:ext cx="4978400" cy="472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3C8708-952B-873F-EB73-A3FB57CCC6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28800" y="6248400"/>
            <a:ext cx="2235200" cy="457200"/>
          </a:xfrm>
        </p:spPr>
        <p:txBody>
          <a:bodyPr/>
          <a:lstStyle>
            <a:lvl1pPr>
              <a:defRPr/>
            </a:lvl1pPr>
          </a:lstStyle>
          <a:p>
            <a:fld id="{5D0319F8-AA71-4176-8715-897B724D9E83}" type="datetimeFigureOut">
              <a:rPr lang="en-US" altLang="en-US"/>
              <a:pPr/>
              <a:t>5/24/2024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2D5F7C-E340-1564-7D8D-94B4F167C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0" y="6248400"/>
            <a:ext cx="4572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C2ABB7-CD93-6647-68D1-1A01C1783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52000" y="6248400"/>
            <a:ext cx="2336800" cy="457200"/>
          </a:xfrm>
        </p:spPr>
        <p:txBody>
          <a:bodyPr/>
          <a:lstStyle>
            <a:lvl1pPr>
              <a:defRPr/>
            </a:lvl1pPr>
          </a:lstStyle>
          <a:p>
            <a:fld id="{30AF4F71-71DD-49F5-B770-8445E4EB1C7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0409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4A662B8-B28B-EA0B-7444-3943D82896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828800" y="0"/>
            <a:ext cx="10058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96D32C0A-3BE4-4E44-B254-1209BBEC3CD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828800" y="6248400"/>
            <a:ext cx="22352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solidFill>
                  <a:srgbClr val="FFFFFF"/>
                </a:solidFill>
                <a:latin typeface="Arial" charset="0"/>
                <a:cs typeface="+mn-cs"/>
              </a:defRPr>
            </a:lvl1pPr>
          </a:lstStyle>
          <a:p>
            <a:fld id="{1EC530AE-FF8C-45B8-8E34-3697FF42EC8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5300" name="Rectangle 4">
            <a:extLst>
              <a:ext uri="{FF2B5EF4-FFF2-40B4-BE49-F238E27FC236}">
                <a16:creationId xmlns:a16="http://schemas.microsoft.com/office/drawing/2014/main" id="{98ADCD16-A93F-C694-DC31-663F5C2A80A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572000" y="6248400"/>
            <a:ext cx="4572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solidFill>
                  <a:srgbClr val="FFFFFF"/>
                </a:solidFill>
                <a:latin typeface="Arial" charset="0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5301" name="Rectangle 5">
            <a:extLst>
              <a:ext uri="{FF2B5EF4-FFF2-40B4-BE49-F238E27FC236}">
                <a16:creationId xmlns:a16="http://schemas.microsoft.com/office/drawing/2014/main" id="{1F8F5442-B231-771E-DCBD-A7E97717885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652000" y="6248400"/>
            <a:ext cx="2336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 smtClean="0">
                <a:solidFill>
                  <a:srgbClr val="FFFFFF"/>
                </a:solidFill>
                <a:latin typeface="Arial" charset="0"/>
                <a:cs typeface="+mn-cs"/>
              </a:defRPr>
            </a:lvl1pPr>
          </a:lstStyle>
          <a:p>
            <a:fld id="{773509E1-55AD-4192-A45C-0F978EFE0E80}" type="slidenum">
              <a:rPr lang="en-US" smtClean="0"/>
              <a:t>‹#›</a:t>
            </a:fld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1F3BB6C-D4CD-79A4-DC4E-D0F90C65C7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828800" y="1371600"/>
            <a:ext cx="101600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1" name="Line 7">
            <a:extLst>
              <a:ext uri="{FF2B5EF4-FFF2-40B4-BE49-F238E27FC236}">
                <a16:creationId xmlns:a16="http://schemas.microsoft.com/office/drawing/2014/main" id="{2E526543-FB9D-D392-4382-30CD3332C2D0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990600"/>
            <a:ext cx="10058400" cy="0"/>
          </a:xfrm>
          <a:prstGeom prst="line">
            <a:avLst/>
          </a:prstGeom>
          <a:noFill/>
          <a:ln w="38100" cap="rnd">
            <a:solidFill>
              <a:schemeClr val="bg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sz="1800"/>
          </a:p>
        </p:txBody>
      </p:sp>
      <p:pic>
        <p:nvPicPr>
          <p:cNvPr id="1032" name="Picture 10" descr="DSC00018-2-1.jpg">
            <a:extLst>
              <a:ext uri="{FF2B5EF4-FFF2-40B4-BE49-F238E27FC236}">
                <a16:creationId xmlns:a16="http://schemas.microsoft.com/office/drawing/2014/main" id="{BDC701EE-E283-00D6-F6C7-629DAAF5A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7145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293350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Char char="•"/>
        <a:defRPr sz="3200">
          <a:solidFill>
            <a:schemeClr val="hlink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Char char="•"/>
        <a:defRPr sz="2800">
          <a:solidFill>
            <a:schemeClr val="hlink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Char char="•"/>
        <a:defRPr sz="2400">
          <a:solidFill>
            <a:schemeClr val="hlink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hlink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hlink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hlink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hlink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hlink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hlink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24D337C1-7B50-B2F9-4E6F-059DEF36BC5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fr-CA" altLang="en-US"/>
              <a:t>Drug Action and Pharmacokinetics</a:t>
            </a:r>
            <a:endParaRPr lang="en-US" altLang="en-US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A2589989-1404-0A3C-CE58-6CC23A1E81D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143154" y="3733800"/>
            <a:ext cx="6248400" cy="2362200"/>
          </a:xfrm>
        </p:spPr>
        <p:txBody>
          <a:bodyPr/>
          <a:lstStyle/>
          <a:p>
            <a:pPr eaLnBrk="1" hangingPunct="1"/>
            <a:endParaRPr lang="en-CA" altLang="en-US" dirty="0">
              <a:solidFill>
                <a:schemeClr val="tx1"/>
              </a:solidFill>
            </a:endParaRPr>
          </a:p>
          <a:p>
            <a:pPr algn="r" eaLnBrk="1" hangingPunct="1"/>
            <a:r>
              <a:rPr lang="en-CA" altLang="en-US" sz="2400" dirty="0">
                <a:solidFill>
                  <a:schemeClr val="accent1"/>
                </a:solidFill>
              </a:rPr>
              <a:t>Dr Sylvain Grenier</a:t>
            </a:r>
          </a:p>
          <a:p>
            <a:pPr algn="r" eaLnBrk="1" hangingPunct="1"/>
            <a:r>
              <a:rPr lang="en-CA" altLang="en-US" sz="1800" dirty="0">
                <a:solidFill>
                  <a:schemeClr val="accent1"/>
                </a:solidFill>
              </a:rPr>
              <a:t>B Pharm, PharmD</a:t>
            </a:r>
          </a:p>
          <a:p>
            <a:pPr algn="r" eaLnBrk="1" hangingPunct="1"/>
            <a:r>
              <a:rPr lang="en-CA" altLang="en-US" sz="1800" dirty="0">
                <a:solidFill>
                  <a:schemeClr val="accent1"/>
                </a:solidFill>
              </a:rPr>
              <a:t>Adjunct Professor</a:t>
            </a:r>
          </a:p>
          <a:p>
            <a:pPr algn="r" eaLnBrk="1" hangingPunct="1"/>
            <a:r>
              <a:rPr lang="en-CA" altLang="en-US" sz="1800" dirty="0">
                <a:solidFill>
                  <a:schemeClr val="accent1"/>
                </a:solidFill>
              </a:rPr>
              <a:t>University of Ottawa</a:t>
            </a:r>
          </a:p>
          <a:p>
            <a:pPr algn="r" eaLnBrk="1" hangingPunct="1"/>
            <a:endParaRPr lang="en-CA" altLang="en-US" sz="1800" dirty="0">
              <a:solidFill>
                <a:schemeClr val="accent1"/>
              </a:solidFill>
            </a:endParaRPr>
          </a:p>
          <a:p>
            <a:pPr algn="r" eaLnBrk="1" hangingPunct="1"/>
            <a:r>
              <a:rPr lang="en-CA" altLang="en-US" sz="1800" dirty="0">
                <a:solidFill>
                  <a:schemeClr val="accent1"/>
                </a:solidFill>
              </a:rPr>
              <a:t>sgrenier@uottawa.ca</a:t>
            </a:r>
          </a:p>
          <a:p>
            <a:pPr algn="r" eaLnBrk="1" hangingPunct="1"/>
            <a:r>
              <a:rPr lang="en-CA" altLang="en-US" sz="1800" dirty="0">
                <a:solidFill>
                  <a:schemeClr val="accent1"/>
                </a:solidFill>
              </a:rPr>
              <a:t>September 2023</a:t>
            </a:r>
          </a:p>
          <a:p>
            <a:pPr eaLnBrk="1" hangingPunct="1"/>
            <a:endParaRPr lang="en-CA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2" name="Rectangle 4">
            <a:extLst>
              <a:ext uri="{FF2B5EF4-FFF2-40B4-BE49-F238E27FC236}">
                <a16:creationId xmlns:a16="http://schemas.microsoft.com/office/drawing/2014/main" id="{6289D694-F2B3-DF83-4460-F328A3FACD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/>
              <a:t>Learning Objectives</a:t>
            </a:r>
          </a:p>
        </p:txBody>
      </p:sp>
      <p:sp>
        <p:nvSpPr>
          <p:cNvPr id="78853" name="Rectangle 5">
            <a:extLst>
              <a:ext uri="{FF2B5EF4-FFF2-40B4-BE49-F238E27FC236}">
                <a16:creationId xmlns:a16="http://schemas.microsoft.com/office/drawing/2014/main" id="{3D7D8C75-A644-B105-551A-CC9EBD87F8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CA" altLang="en-US" sz="2800">
                <a:cs typeface="Arial" panose="020B0604020202020204" pitchFamily="34" charset="0"/>
              </a:rPr>
              <a:t>Define pharmacology, biopharmaceutics, pharmacokinetics and pharmacodynamics and how they relate to each other.</a:t>
            </a:r>
            <a:endParaRPr lang="en-CA" altLang="en-US" sz="280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CA" altLang="en-US" sz="2800">
                <a:cs typeface="Arial" panose="020B0604020202020204" pitchFamily="34" charset="0"/>
              </a:rPr>
              <a:t>Describe the biopharmaceutics phase.</a:t>
            </a:r>
            <a:endParaRPr lang="en-CA" altLang="en-US" sz="280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CA" altLang="en-US" sz="2800">
                <a:cs typeface="Arial" panose="020B0604020202020204" pitchFamily="34" charset="0"/>
              </a:rPr>
              <a:t>Pharmacokinetics (PK)</a:t>
            </a:r>
            <a:endParaRPr lang="en-CA" altLang="en-US" sz="2800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CA" altLang="en-US" sz="2400">
                <a:solidFill>
                  <a:srgbClr val="000000"/>
                </a:solidFill>
                <a:cs typeface="Arial" panose="020B0604020202020204" pitchFamily="34" charset="0"/>
              </a:rPr>
              <a:t>Define the four phases of PK</a:t>
            </a:r>
            <a:endParaRPr lang="en-CA" altLang="en-US" sz="2400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CA" altLang="en-US" sz="2400">
                <a:cs typeface="Arial" panose="020B0604020202020204" pitchFamily="34" charset="0"/>
              </a:rPr>
              <a:t>Describe the absorption phase and explain the various factors related to it</a:t>
            </a:r>
            <a:endParaRPr lang="en-CA" altLang="en-US" sz="2400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CA" altLang="en-US" sz="2400">
                <a:cs typeface="Arial" panose="020B0604020202020204" pitchFamily="34" charset="0"/>
              </a:rPr>
              <a:t>Explain how various factors affect the distribution phase</a:t>
            </a:r>
            <a:endParaRPr lang="en-CA" altLang="en-US" sz="2400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CA" altLang="en-US" sz="2400">
                <a:cs typeface="Arial" panose="020B0604020202020204" pitchFamily="34" charset="0"/>
              </a:rPr>
              <a:t>Describe the metabolism phase</a:t>
            </a:r>
            <a:endParaRPr lang="en-CA" altLang="en-US" sz="2400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CA" altLang="en-US" sz="2400">
                <a:cs typeface="Arial" panose="020B0604020202020204" pitchFamily="34" charset="0"/>
              </a:rPr>
              <a:t>Describe the elimination phase and explain the various factors related to it</a:t>
            </a:r>
            <a:endParaRPr lang="en-CA" altLang="en-US" sz="240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3074">
            <a:extLst>
              <a:ext uri="{FF2B5EF4-FFF2-40B4-BE49-F238E27FC236}">
                <a16:creationId xmlns:a16="http://schemas.microsoft.com/office/drawing/2014/main" id="{A071A0CC-FE6B-B61F-00EC-33694A60A7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/>
              <a:t>Learning Objectives cont’d</a:t>
            </a:r>
          </a:p>
        </p:txBody>
      </p:sp>
      <p:sp>
        <p:nvSpPr>
          <p:cNvPr id="79875" name="Rectangle 3075">
            <a:extLst>
              <a:ext uri="{FF2B5EF4-FFF2-40B4-BE49-F238E27FC236}">
                <a16:creationId xmlns:a16="http://schemas.microsoft.com/office/drawing/2014/main" id="{DF4948B0-8B69-3AF1-B70A-7F41F2C92B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altLang="en-US">
                <a:cs typeface="Arial" panose="020B0604020202020204" pitchFamily="34" charset="0"/>
              </a:rPr>
              <a:t>Pharmacodynamics (PD)</a:t>
            </a:r>
            <a:endParaRPr lang="en-CA" altLang="en-US">
              <a:cs typeface="Times New Roman" panose="02020603050405020304" pitchFamily="18" charset="0"/>
            </a:endParaRPr>
          </a:p>
          <a:p>
            <a:pPr lvl="1"/>
            <a:r>
              <a:rPr lang="en-CA" altLang="en-US">
                <a:cs typeface="Arial" panose="020B0604020202020204" pitchFamily="34" charset="0"/>
              </a:rPr>
              <a:t>Explain how drugs exert their pharmacological action </a:t>
            </a:r>
            <a:endParaRPr lang="en-CA" altLang="en-US">
              <a:cs typeface="Times New Roman" panose="02020603050405020304" pitchFamily="18" charset="0"/>
            </a:endParaRPr>
          </a:p>
          <a:p>
            <a:pPr lvl="1"/>
            <a:r>
              <a:rPr lang="en-CA" altLang="en-US">
                <a:cs typeface="Arial" panose="020B0604020202020204" pitchFamily="34" charset="0"/>
              </a:rPr>
              <a:t>Describe how different factors can affect PK and/or PD</a:t>
            </a:r>
            <a:endParaRPr lang="en-CA" altLang="en-US">
              <a:cs typeface="Times New Roman" panose="02020603050405020304" pitchFamily="18" charset="0"/>
            </a:endParaRPr>
          </a:p>
          <a:p>
            <a:r>
              <a:rPr lang="en-CA" altLang="en-US">
                <a:solidFill>
                  <a:srgbClr val="000000"/>
                </a:solidFill>
                <a:cs typeface="Arial" panose="020B0604020202020204" pitchFamily="34" charset="0"/>
              </a:rPr>
              <a:t>Discuss how PK principles can be applied in nursing care</a:t>
            </a:r>
            <a:endParaRPr lang="en-CA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4099AA04-1B46-51D7-AF4D-178E361980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/>
              <a:t>Pre-reading Questions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CC237D2C-D09C-D4A6-2C22-30596CDD90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36710" y="1371600"/>
            <a:ext cx="8378890" cy="5486400"/>
          </a:xfrm>
        </p:spPr>
        <p:txBody>
          <a:bodyPr/>
          <a:lstStyle/>
          <a:p>
            <a:pPr marL="457200" indent="-457200">
              <a:lnSpc>
                <a:spcPct val="80000"/>
              </a:lnSpc>
              <a:buFontTx/>
              <a:buAutoNum type="arabicPeriod"/>
            </a:pPr>
            <a:r>
              <a:rPr lang="en-CA" altLang="en-US" sz="2400" dirty="0"/>
              <a:t>Under what circumstances, would you the nurse be particularly interested in the pharmacokinetics of a drug?</a:t>
            </a:r>
          </a:p>
          <a:p>
            <a:pPr marL="457200" indent="-457200">
              <a:lnSpc>
                <a:spcPct val="80000"/>
              </a:lnSpc>
              <a:buFontTx/>
              <a:buAutoNum type="arabicPeriod"/>
            </a:pPr>
            <a:r>
              <a:rPr lang="en-CA" altLang="en-US" sz="2400" dirty="0"/>
              <a:t>A drug X is metabolized mostly by the liver. If the patient had renal dysfunction, would a dose adjustment be needed?</a:t>
            </a:r>
          </a:p>
          <a:p>
            <a:pPr marL="457200" indent="-457200">
              <a:lnSpc>
                <a:spcPct val="80000"/>
              </a:lnSpc>
              <a:buFontTx/>
              <a:buAutoNum type="arabicPeriod"/>
            </a:pPr>
            <a:r>
              <a:rPr lang="en-CA" altLang="en-US" sz="2400" dirty="0"/>
              <a:t>Why do some drugs get destroyed before they reach the general circulation?</a:t>
            </a:r>
          </a:p>
          <a:p>
            <a:pPr marL="457200" indent="-457200">
              <a:lnSpc>
                <a:spcPct val="80000"/>
              </a:lnSpc>
              <a:buFontTx/>
              <a:buAutoNum type="arabicPeriod"/>
            </a:pPr>
            <a:r>
              <a:rPr lang="en-CA" altLang="en-US" sz="2400" dirty="0"/>
              <a:t>Why are four half-lives almost as useful as five half-lives in clinical use? If you gave a dose of 0.25 mg of digoxin every day and the half-	life was 36 hours, when would be at steady state?</a:t>
            </a:r>
          </a:p>
          <a:p>
            <a:pPr marL="457200" indent="-457200">
              <a:lnSpc>
                <a:spcPct val="80000"/>
              </a:lnSpc>
              <a:buFontTx/>
              <a:buAutoNum type="arabicPeriod"/>
            </a:pPr>
            <a:r>
              <a:rPr lang="en-CA" altLang="en-US" sz="2400" dirty="0"/>
              <a:t>Although receptors are essentially imaginary in explaining drug action, 	in all probability they really are what?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09356082-6A8C-B7E3-A70C-EE98388222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Course Outline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CC939895-3095-63D8-B24E-2161F8060C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/>
              <a:t>Definitions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Just a few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Biopharmaceutics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Pharmacokinetics (PK)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Absorption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Distribution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Metabolism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Elimination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Pharmacodynamics (PD)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Factors altering PK/PD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F55EB02-8D26-2F04-5F9E-77F85C8AF18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884784" y="0"/>
            <a:ext cx="8986996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CA" altLang="en-US"/>
              <a:t>Definitions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E7D9F54A-9218-E85A-6A72-08E73311C27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778445" y="1295400"/>
            <a:ext cx="9866159" cy="3810000"/>
          </a:xfrm>
          <a:ln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CA" altLang="en-US" dirty="0"/>
              <a:t>PHARMACOLOGY</a:t>
            </a:r>
          </a:p>
          <a:p>
            <a:pPr lvl="1">
              <a:lnSpc>
                <a:spcPct val="90000"/>
              </a:lnSpc>
            </a:pPr>
            <a:r>
              <a:rPr lang="en-CA" altLang="en-US" dirty="0"/>
              <a:t>Science studying the action of drugs on living systems.</a:t>
            </a:r>
          </a:p>
          <a:p>
            <a:pPr lvl="1">
              <a:lnSpc>
                <a:spcPct val="90000"/>
              </a:lnSpc>
            </a:pPr>
            <a:endParaRPr lang="en-CA" altLang="en-US" dirty="0"/>
          </a:p>
          <a:p>
            <a:pPr>
              <a:lnSpc>
                <a:spcPct val="90000"/>
              </a:lnSpc>
            </a:pPr>
            <a:r>
              <a:rPr lang="en-CA" altLang="en-US" dirty="0"/>
              <a:t>BIOPHARMACEUTICS</a:t>
            </a:r>
          </a:p>
          <a:p>
            <a:pPr lvl="1">
              <a:lnSpc>
                <a:spcPct val="90000"/>
              </a:lnSpc>
            </a:pPr>
            <a:r>
              <a:rPr lang="en-CA" altLang="en-US" dirty="0"/>
              <a:t>Science dealing with the </a:t>
            </a:r>
            <a:r>
              <a:rPr lang="en-CA" altLang="en-US" dirty="0" err="1"/>
              <a:t>physico</a:t>
            </a:r>
            <a:r>
              <a:rPr lang="en-CA" altLang="en-US" dirty="0"/>
              <a:t>-chemical properties of the drug substance, the dosage form and the liberation of the active drug ingredient in the body from a given product.</a:t>
            </a:r>
          </a:p>
          <a:p>
            <a:pPr lvl="1">
              <a:lnSpc>
                <a:spcPct val="90000"/>
              </a:lnSpc>
            </a:pPr>
            <a:r>
              <a:rPr lang="en-CA" altLang="en-US" dirty="0"/>
              <a:t>	"How the drug product performs."</a:t>
            </a:r>
          </a:p>
          <a:p>
            <a:pPr>
              <a:lnSpc>
                <a:spcPct val="90000"/>
              </a:lnSpc>
            </a:pPr>
            <a:endParaRPr lang="en-CA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ABC0223-30C7-FBBC-59E9-7297F83EE7B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33783" y="0"/>
            <a:ext cx="9873032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CA" altLang="en-US"/>
              <a:t>Definitions cont’d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DBF570A0-3064-4555-737C-0DE2558B91B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847461" y="1295400"/>
            <a:ext cx="9554547" cy="4114800"/>
          </a:xfrm>
          <a:ln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CA" altLang="en-US" dirty="0"/>
              <a:t>PHARMACOKINETICS</a:t>
            </a:r>
          </a:p>
          <a:p>
            <a:pPr lvl="1">
              <a:lnSpc>
                <a:spcPct val="90000"/>
              </a:lnSpc>
            </a:pPr>
            <a:r>
              <a:rPr lang="en-CA" altLang="en-US" dirty="0"/>
              <a:t>Science examining the changes of concentration in the different body fluids and tissues following absorption, distribution, metabolism and excretion of a drug.</a:t>
            </a:r>
          </a:p>
          <a:p>
            <a:pPr lvl="1">
              <a:lnSpc>
                <a:spcPct val="90000"/>
              </a:lnSpc>
            </a:pPr>
            <a:r>
              <a:rPr lang="en-CA" altLang="en-US" dirty="0"/>
              <a:t>“What the body does to the drug.“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“The movement of the drug in the body.”</a:t>
            </a:r>
          </a:p>
          <a:p>
            <a:pPr lvl="1">
              <a:lnSpc>
                <a:spcPct val="90000"/>
              </a:lnSpc>
            </a:pPr>
            <a:endParaRPr lang="en-CA" altLang="en-US" dirty="0"/>
          </a:p>
          <a:p>
            <a:pPr>
              <a:lnSpc>
                <a:spcPct val="90000"/>
              </a:lnSpc>
            </a:pPr>
            <a:r>
              <a:rPr lang="en-CA" altLang="en-US" dirty="0"/>
              <a:t>PHARMACODYNAMICS</a:t>
            </a:r>
          </a:p>
          <a:p>
            <a:pPr lvl="1">
              <a:lnSpc>
                <a:spcPct val="90000"/>
              </a:lnSpc>
            </a:pPr>
            <a:r>
              <a:rPr lang="en-CA" altLang="en-US" dirty="0"/>
              <a:t>Science correlating fluid and tissue concentrations with the therapeutic and adverse effects of the drug.</a:t>
            </a:r>
          </a:p>
          <a:p>
            <a:pPr lvl="1">
              <a:lnSpc>
                <a:spcPct val="90000"/>
              </a:lnSpc>
            </a:pPr>
            <a:r>
              <a:rPr lang="en-CA" altLang="en-US" dirty="0"/>
              <a:t>"What the drug does to the body."</a:t>
            </a:r>
          </a:p>
          <a:p>
            <a:pPr>
              <a:lnSpc>
                <a:spcPct val="90000"/>
              </a:lnSpc>
            </a:pPr>
            <a:endParaRPr lang="en-CA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>
            <a:extLst>
              <a:ext uri="{FF2B5EF4-FFF2-40B4-BE49-F238E27FC236}">
                <a16:creationId xmlns:a16="http://schemas.microsoft.com/office/drawing/2014/main" id="{B079AB6C-CAB1-C14A-59FC-A5E12FDFFB3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CA" altLang="en-US"/>
              <a:t>Interrelationships</a:t>
            </a:r>
          </a:p>
        </p:txBody>
      </p:sp>
      <p:graphicFrame>
        <p:nvGraphicFramePr>
          <p:cNvPr id="1026" name="Object 3">
            <a:extLst>
              <a:ext uri="{FF2B5EF4-FFF2-40B4-BE49-F238E27FC236}">
                <a16:creationId xmlns:a16="http://schemas.microsoft.com/office/drawing/2014/main" id="{9ECA7795-7353-5EFB-FB93-CE6BC36D67D5}"/>
              </a:ext>
            </a:extLst>
          </p:cNvPr>
          <p:cNvGraphicFramePr>
            <a:graphicFrameLocks noGrp="1" noChangeAspect="1"/>
          </p:cNvGraphicFramePr>
          <p:nvPr>
            <p:ph type="dgm" idx="4294967295"/>
          </p:nvPr>
        </p:nvGraphicFramePr>
        <p:xfrm>
          <a:off x="2895600" y="2514601"/>
          <a:ext cx="7620000" cy="185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rganization Chart" r:id="rId2" imgW="2781000" imgH="685800" progId="OrgPlusWOPX.4">
                  <p:embed followColorScheme="full"/>
                </p:oleObj>
              </mc:Choice>
              <mc:Fallback>
                <p:oleObj name="Organization Chart" r:id="rId2" imgW="2781000" imgH="685800" progId="OrgPlusWOPX.4">
                  <p:embed followColorScheme="full"/>
                  <p:pic>
                    <p:nvPicPr>
                      <p:cNvPr id="1026" name="Object 3">
                        <a:extLst>
                          <a:ext uri="{FF2B5EF4-FFF2-40B4-BE49-F238E27FC236}">
                            <a16:creationId xmlns:a16="http://schemas.microsoft.com/office/drawing/2014/main" id="{9ECA7795-7353-5EFB-FB93-CE6BC36D67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514601"/>
                        <a:ext cx="7620000" cy="1857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4" descr="Pharmaceutic-kin-dyn">
            <a:extLst>
              <a:ext uri="{FF2B5EF4-FFF2-40B4-BE49-F238E27FC236}">
                <a16:creationId xmlns:a16="http://schemas.microsoft.com/office/drawing/2014/main" id="{9655D609-77BC-3FB8-79D3-96802D5306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9851" y="1066800"/>
            <a:ext cx="4767263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6" name="Rectangle 2">
            <a:extLst>
              <a:ext uri="{FF2B5EF4-FFF2-40B4-BE49-F238E27FC236}">
                <a16:creationId xmlns:a16="http://schemas.microsoft.com/office/drawing/2014/main" id="{76EDD52C-DF6E-0035-D678-8FB615F9647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971801" y="0"/>
            <a:ext cx="7008813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CA" altLang="en-US"/>
              <a:t>Phases of Drug Activity</a:t>
            </a:r>
            <a:endParaRPr lang="fr-CA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auto0">
            <a:extLst>
              <a:ext uri="{FF2B5EF4-FFF2-40B4-BE49-F238E27FC236}">
                <a16:creationId xmlns:a16="http://schemas.microsoft.com/office/drawing/2014/main" id="{6DA7BA6F-78D4-019D-9C7E-0AE5E7CCC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066800"/>
            <a:ext cx="9144000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Rectangle 3">
            <a:extLst>
              <a:ext uri="{FF2B5EF4-FFF2-40B4-BE49-F238E27FC236}">
                <a16:creationId xmlns:a16="http://schemas.microsoft.com/office/drawing/2014/main" id="{8F6778CE-FA8B-ADFB-5EE6-71152A0AD0E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CA" altLang="en-US"/>
              <a:t>Routes of Administration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0037C2B5-691F-B1E1-DC72-4473F580741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31437" y="0"/>
            <a:ext cx="7974563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CA" altLang="en-US" dirty="0"/>
              <a:t>Biopharmaceutic Phase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3935D47E-DE1C-DAC2-A722-4B0DB96F348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31437" y="1219200"/>
            <a:ext cx="9675845" cy="5334000"/>
          </a:xfrm>
          <a:ln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CA" altLang="en-US" dirty="0"/>
              <a:t>Dosage form (or drug product)</a:t>
            </a:r>
          </a:p>
          <a:p>
            <a:pPr lvl="1">
              <a:lnSpc>
                <a:spcPct val="90000"/>
              </a:lnSpc>
            </a:pPr>
            <a:r>
              <a:rPr lang="en-CA" altLang="en-US" dirty="0"/>
              <a:t>Pharmaceutical form containing the active ingredient(s)/ (drug(s)) and inert vehicle substances (excipients)</a:t>
            </a:r>
          </a:p>
          <a:p>
            <a:pPr lvl="1">
              <a:lnSpc>
                <a:spcPct val="90000"/>
              </a:lnSpc>
            </a:pPr>
            <a:r>
              <a:rPr lang="en-CA" altLang="en-US" dirty="0"/>
              <a:t>necessary in formulating a medication of desired dosage, volume and application form, ready for administration.</a:t>
            </a:r>
          </a:p>
          <a:p>
            <a:pPr>
              <a:lnSpc>
                <a:spcPct val="90000"/>
              </a:lnSpc>
            </a:pPr>
            <a:r>
              <a:rPr lang="en-CA" altLang="en-US" dirty="0"/>
              <a:t>Excipients: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CA" altLang="en-US" sz="2400" dirty="0"/>
              <a:t>alcohol		lactose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CA" altLang="en-US" sz="2400" dirty="0"/>
              <a:t>dextrose		colours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CA" altLang="en-US" sz="2400" dirty="0"/>
              <a:t>starch		stabilizers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CA" altLang="en-US" sz="2400" dirty="0"/>
              <a:t>oils    		preservatives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CA" altLang="en-US" sz="2400" dirty="0"/>
              <a:t>buffers		and others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B5F1C67B-A5DF-DA62-45B5-9C8A047D9A5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884784" y="0"/>
            <a:ext cx="8097416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CA" altLang="en-US" sz="4000" dirty="0"/>
              <a:t>Biopharmaceutics Phase cont’d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4E81EC02-6845-E858-C1FF-672A59C0B29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96751" y="1143000"/>
            <a:ext cx="9489233" cy="4191000"/>
          </a:xfrm>
          <a:ln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CA" altLang="en-US" dirty="0"/>
              <a:t>RELEASE (liberation)</a:t>
            </a:r>
          </a:p>
          <a:p>
            <a:pPr lvl="1">
              <a:lnSpc>
                <a:spcPct val="90000"/>
              </a:lnSpc>
            </a:pPr>
            <a:r>
              <a:rPr lang="en-CA" altLang="en-US" dirty="0"/>
              <a:t>Release of the drug from its dosage form, to produce a solution in body fluids in order to be available for absorption into cells and tissues.</a:t>
            </a:r>
          </a:p>
          <a:p>
            <a:pPr lvl="1">
              <a:lnSpc>
                <a:spcPct val="90000"/>
              </a:lnSpc>
            </a:pPr>
            <a:r>
              <a:rPr lang="en-CA" altLang="en-US" dirty="0"/>
              <a:t>Controlling factors:</a:t>
            </a:r>
          </a:p>
          <a:p>
            <a:pPr lvl="2">
              <a:lnSpc>
                <a:spcPct val="90000"/>
              </a:lnSpc>
            </a:pPr>
            <a:r>
              <a:rPr lang="en-CA" altLang="en-US" sz="2800" dirty="0"/>
              <a:t>pharmaceutical processing</a:t>
            </a:r>
          </a:p>
          <a:p>
            <a:pPr lvl="2">
              <a:lnSpc>
                <a:spcPct val="90000"/>
              </a:lnSpc>
            </a:pPr>
            <a:r>
              <a:rPr lang="en-CA" altLang="en-US" sz="2800" dirty="0"/>
              <a:t>solubility (lipid VS water)</a:t>
            </a:r>
          </a:p>
          <a:p>
            <a:pPr lvl="2">
              <a:lnSpc>
                <a:spcPct val="90000"/>
              </a:lnSpc>
            </a:pPr>
            <a:r>
              <a:rPr lang="en-CA" altLang="en-US" sz="2800" dirty="0"/>
              <a:t>degree of ionization (acidic VS basic)</a:t>
            </a:r>
          </a:p>
          <a:p>
            <a:pPr>
              <a:lnSpc>
                <a:spcPct val="90000"/>
              </a:lnSpc>
            </a:pPr>
            <a:endParaRPr lang="en-CA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auto0">
            <a:extLst>
              <a:ext uri="{FF2B5EF4-FFF2-40B4-BE49-F238E27FC236}">
                <a16:creationId xmlns:a16="http://schemas.microsoft.com/office/drawing/2014/main" id="{8A86DF38-3D93-184A-546B-F4099EDA1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506" y="1676400"/>
            <a:ext cx="91440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Rectangle 3">
            <a:extLst>
              <a:ext uri="{FF2B5EF4-FFF2-40B4-BE49-F238E27FC236}">
                <a16:creationId xmlns:a16="http://schemas.microsoft.com/office/drawing/2014/main" id="{50D37511-24BD-ABBE-A05C-C874AB5561A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0"/>
            <a:ext cx="8686800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CA" altLang="en-US" dirty="0"/>
              <a:t>Disintegration &amp; Dissolution</a:t>
            </a:r>
          </a:p>
        </p:txBody>
      </p:sp>
      <p:sp>
        <p:nvSpPr>
          <p:cNvPr id="10244" name="Oval 4">
            <a:extLst>
              <a:ext uri="{FF2B5EF4-FFF2-40B4-BE49-F238E27FC236}">
                <a16:creationId xmlns:a16="http://schemas.microsoft.com/office/drawing/2014/main" id="{E4C699E6-EAD9-CB7E-0E1F-B00560CC9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962400"/>
            <a:ext cx="3429000" cy="1447800"/>
          </a:xfrm>
          <a:prstGeom prst="ellipse">
            <a:avLst/>
          </a:prstGeom>
          <a:noFill/>
          <a:ln w="381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3" name="Picture 1029">
            <a:extLst>
              <a:ext uri="{FF2B5EF4-FFF2-40B4-BE49-F238E27FC236}">
                <a16:creationId xmlns:a16="http://schemas.microsoft.com/office/drawing/2014/main" id="{62E03A32-0695-0283-C5D8-68033E08B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204914"/>
            <a:ext cx="7391400" cy="537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490" name="Rectangle 2">
            <a:extLst>
              <a:ext uri="{FF2B5EF4-FFF2-40B4-BE49-F238E27FC236}">
                <a16:creationId xmlns:a16="http://schemas.microsoft.com/office/drawing/2014/main" id="{BF3054CD-0C17-9E2B-B50B-D49B0758B97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884784" y="0"/>
            <a:ext cx="8097416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CA" altLang="en-US" dirty="0"/>
              <a:t>Pharmacokinetic (PK) Phases</a:t>
            </a:r>
          </a:p>
        </p:txBody>
      </p:sp>
      <p:sp>
        <p:nvSpPr>
          <p:cNvPr id="63492" name="Text Box 1028">
            <a:extLst>
              <a:ext uri="{FF2B5EF4-FFF2-40B4-BE49-F238E27FC236}">
                <a16:creationId xmlns:a16="http://schemas.microsoft.com/office/drawing/2014/main" id="{2E8210BB-4797-A009-44EA-752A4834D1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990600"/>
            <a:ext cx="7620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fr-CA" altLang="en-US">
                <a:solidFill>
                  <a:schemeClr val="hlink"/>
                </a:solidFill>
                <a:latin typeface="Arial" panose="020B0604020202020204" pitchFamily="34" charset="0"/>
              </a:rPr>
              <a:t>-</a:t>
            </a:r>
            <a:r>
              <a:rPr lang="en-US" altLang="en-US">
                <a:solidFill>
                  <a:schemeClr val="hlink"/>
                </a:solidFill>
                <a:latin typeface="Arial" panose="020B0604020202020204" pitchFamily="34" charset="0"/>
              </a:rPr>
              <a:t>Absorption</a:t>
            </a:r>
            <a:r>
              <a:rPr lang="fr-CA" altLang="en-US">
                <a:solidFill>
                  <a:schemeClr val="hlink"/>
                </a:solidFill>
                <a:latin typeface="Arial" panose="020B0604020202020204" pitchFamily="34" charset="0"/>
              </a:rPr>
              <a:t>    –</a:t>
            </a:r>
            <a:r>
              <a:rPr lang="en-US" altLang="en-US">
                <a:solidFill>
                  <a:schemeClr val="hlink"/>
                </a:solidFill>
                <a:latin typeface="Arial" panose="020B0604020202020204" pitchFamily="34" charset="0"/>
              </a:rPr>
              <a:t>Distribution</a:t>
            </a:r>
            <a:r>
              <a:rPr lang="fr-CA" altLang="en-US">
                <a:solidFill>
                  <a:schemeClr val="hlink"/>
                </a:solidFill>
                <a:latin typeface="Arial" panose="020B0604020202020204" pitchFamily="34" charset="0"/>
              </a:rPr>
              <a:t>   –</a:t>
            </a:r>
            <a:r>
              <a:rPr lang="en-US" altLang="en-US">
                <a:solidFill>
                  <a:schemeClr val="hlink"/>
                </a:solidFill>
                <a:latin typeface="Arial" panose="020B0604020202020204" pitchFamily="34" charset="0"/>
              </a:rPr>
              <a:t>Metabolism</a:t>
            </a:r>
            <a:r>
              <a:rPr lang="fr-CA" altLang="en-US">
                <a:solidFill>
                  <a:schemeClr val="hlink"/>
                </a:solidFill>
                <a:latin typeface="Arial" panose="020B0604020202020204" pitchFamily="34" charset="0"/>
              </a:rPr>
              <a:t>  -</a:t>
            </a:r>
            <a:r>
              <a:rPr lang="en-US" altLang="en-US">
                <a:solidFill>
                  <a:schemeClr val="hlink"/>
                </a:solidFill>
                <a:latin typeface="Arial" panose="020B0604020202020204" pitchFamily="34" charset="0"/>
              </a:rPr>
              <a:t>Elimination</a:t>
            </a:r>
          </a:p>
        </p:txBody>
      </p:sp>
      <p:sp>
        <p:nvSpPr>
          <p:cNvPr id="63495" name="Text Box 1031">
            <a:extLst>
              <a:ext uri="{FF2B5EF4-FFF2-40B4-BE49-F238E27FC236}">
                <a16:creationId xmlns:a16="http://schemas.microsoft.com/office/drawing/2014/main" id="{BC863DDD-551D-15E7-AB51-79F9C9CAE3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6477000"/>
            <a:ext cx="7620000" cy="381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fr-CA" altLang="en-US" sz="1800">
                <a:solidFill>
                  <a:schemeClr val="hlink"/>
                </a:solidFill>
                <a:latin typeface="Arial" panose="020B0604020202020204" pitchFamily="34" charset="0"/>
              </a:rPr>
              <a:t>Source: Kalant, Roschlau, Principles of MEDICAL PHARMACOLOGY</a:t>
            </a:r>
            <a:endParaRPr lang="en-US" altLang="en-US" sz="180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876949E1-A5E9-CC1B-2C3D-E3EDD84BCBB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800808" y="0"/>
            <a:ext cx="8867192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CA" altLang="en-US" dirty="0"/>
              <a:t>PK - Absorption Phase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034DAC61-0455-10BA-3860-D875F8F7FC7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800808" y="1143000"/>
            <a:ext cx="8867192" cy="4038600"/>
          </a:xfrm>
          <a:ln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CA" altLang="en-US" dirty="0"/>
              <a:t>Absorption</a:t>
            </a:r>
          </a:p>
          <a:p>
            <a:pPr lvl="1"/>
            <a:r>
              <a:rPr lang="en-CA" altLang="en-US" dirty="0"/>
              <a:t>Movement of the drug from the site of administration to the blood circulation.</a:t>
            </a:r>
          </a:p>
          <a:p>
            <a:r>
              <a:rPr lang="en-CA" altLang="en-US" dirty="0"/>
              <a:t>Bioavailability</a:t>
            </a:r>
          </a:p>
          <a:p>
            <a:pPr lvl="1"/>
            <a:r>
              <a:rPr lang="en-CA" altLang="en-US" dirty="0"/>
              <a:t>Fraction of the dose which reaches the systemic circulation, upon extravascular administration.</a:t>
            </a:r>
          </a:p>
          <a:p>
            <a:pPr lvl="1"/>
            <a:r>
              <a:rPr lang="en-CA" altLang="en-US" dirty="0"/>
              <a:t>Extent and rate of absorption</a:t>
            </a:r>
          </a:p>
          <a:p>
            <a:endParaRPr lang="en-CA" altLang="en-US" dirty="0"/>
          </a:p>
          <a:p>
            <a:endParaRPr lang="en-CA" altLang="en-US" dirty="0"/>
          </a:p>
          <a:p>
            <a:endParaRPr lang="en-CA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8E2AE0E-9CC1-FDE2-03D4-2AF9B6CE80E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891527" y="0"/>
            <a:ext cx="8014473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CA" altLang="en-US" dirty="0"/>
              <a:t>Absorption cont’d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8273F36-11F4-F2E6-7BCD-3D6801A8B07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772816" y="1143000"/>
            <a:ext cx="8895184" cy="5334000"/>
          </a:xfrm>
          <a:ln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CA" altLang="en-US"/>
              <a:t>Controlling factors:</a:t>
            </a:r>
          </a:p>
          <a:p>
            <a:pPr lvl="1"/>
            <a:r>
              <a:rPr lang="en-CA" altLang="en-US"/>
              <a:t>contact time b/w the drug and the absorption site</a:t>
            </a:r>
          </a:p>
          <a:p>
            <a:pPr lvl="2"/>
            <a:r>
              <a:rPr lang="en-CA" altLang="en-US" sz="2800"/>
              <a:t>ex. diarrhea or vomiting: </a:t>
            </a:r>
            <a:r>
              <a:rPr lang="en-CA" altLang="en-US" sz="2800">
                <a:sym typeface="Symbol" panose="05050102010706020507" pitchFamily="18" charset="2"/>
              </a:rPr>
              <a:t> </a:t>
            </a:r>
            <a:r>
              <a:rPr lang="en-CA" altLang="en-US" sz="2800"/>
              <a:t>or </a:t>
            </a:r>
            <a:r>
              <a:rPr lang="en-CA" altLang="en-US" sz="2800">
                <a:sym typeface="Symbol" panose="05050102010706020507" pitchFamily="18" charset="2"/>
              </a:rPr>
              <a:t></a:t>
            </a:r>
            <a:r>
              <a:rPr lang="en-CA" altLang="en-US" sz="2800"/>
              <a:t> GI motility due to other drugs</a:t>
            </a:r>
          </a:p>
          <a:p>
            <a:pPr lvl="1"/>
            <a:r>
              <a:rPr lang="en-CA" altLang="en-US"/>
              <a:t>competing reactions</a:t>
            </a:r>
          </a:p>
          <a:p>
            <a:pPr lvl="2"/>
            <a:r>
              <a:rPr lang="en-CA" altLang="en-US"/>
              <a:t>ex. interactions with food and drugs</a:t>
            </a:r>
          </a:p>
          <a:p>
            <a:pPr lvl="1"/>
            <a:r>
              <a:rPr lang="en-CA" altLang="en-US"/>
              <a:t>GI blood flow</a:t>
            </a:r>
          </a:p>
          <a:p>
            <a:pPr lvl="2"/>
            <a:r>
              <a:rPr lang="en-CA" altLang="en-US" sz="2800"/>
              <a:t>ex. </a:t>
            </a:r>
            <a:r>
              <a:rPr lang="en-CA" altLang="en-US" sz="2800">
                <a:sym typeface="Symbol" panose="05050102010706020507" pitchFamily="18" charset="2"/>
              </a:rPr>
              <a:t></a:t>
            </a:r>
            <a:r>
              <a:rPr lang="en-CA" altLang="en-US" sz="2800"/>
              <a:t> with heart failure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6" name="Picture 1028">
            <a:extLst>
              <a:ext uri="{FF2B5EF4-FFF2-40B4-BE49-F238E27FC236}">
                <a16:creationId xmlns:a16="http://schemas.microsoft.com/office/drawing/2014/main" id="{F51DBA3B-8DC1-74CE-EBE1-E6F419883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535238"/>
            <a:ext cx="7508033" cy="4336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4514" name="Rectangle 2">
            <a:extLst>
              <a:ext uri="{FF2B5EF4-FFF2-40B4-BE49-F238E27FC236}">
                <a16:creationId xmlns:a16="http://schemas.microsoft.com/office/drawing/2014/main" id="{F36D6045-666D-3FEB-5E3A-9D097CE43CC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819469" y="0"/>
            <a:ext cx="8086531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CA" altLang="en-US" dirty="0"/>
              <a:t>Absorption cont’d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C2F5159D-8E7D-5CD3-D1A1-C3434298978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78090" y="990600"/>
            <a:ext cx="8689910" cy="5486400"/>
          </a:xfrm>
          <a:ln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CA" altLang="en-US" sz="2800" dirty="0"/>
              <a:t>Controlling factors cont’d:</a:t>
            </a:r>
          </a:p>
          <a:p>
            <a:pPr lvl="1"/>
            <a:r>
              <a:rPr lang="en-CA" altLang="en-US" sz="2400" dirty="0" err="1"/>
              <a:t>physico</a:t>
            </a:r>
            <a:r>
              <a:rPr lang="en-CA" altLang="en-US" sz="2400" dirty="0"/>
              <a:t>-chemical properties of the drug</a:t>
            </a:r>
          </a:p>
          <a:p>
            <a:pPr lvl="2"/>
            <a:r>
              <a:rPr lang="en-CA" altLang="en-US" sz="2000" dirty="0"/>
              <a:t>lipid soluble &gt; water soluble,          	</a:t>
            </a:r>
            <a:br>
              <a:rPr lang="en-CA" altLang="en-US" sz="2000" dirty="0"/>
            </a:br>
            <a:r>
              <a:rPr lang="en-CA" altLang="en-US" sz="2000" dirty="0"/>
              <a:t>nonionized &gt; ionized</a:t>
            </a:r>
          </a:p>
        </p:txBody>
      </p:sp>
      <p:sp>
        <p:nvSpPr>
          <p:cNvPr id="64517" name="Text Box 1029">
            <a:extLst>
              <a:ext uri="{FF2B5EF4-FFF2-40B4-BE49-F238E27FC236}">
                <a16:creationId xmlns:a16="http://schemas.microsoft.com/office/drawing/2014/main" id="{47C6D2A7-F525-3C29-995C-AC3864DF56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0150" y="6332538"/>
            <a:ext cx="57150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fr-CA" altLang="en-US" sz="1600">
                <a:solidFill>
                  <a:schemeClr val="hlink"/>
                </a:solidFill>
                <a:latin typeface="Arial" panose="020B0604020202020204" pitchFamily="34" charset="0"/>
              </a:rPr>
              <a:t>Source: Kalant, Roschlau, </a:t>
            </a:r>
          </a:p>
          <a:p>
            <a:pPr algn="r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fr-CA" altLang="en-US" sz="1600">
                <a:solidFill>
                  <a:schemeClr val="hlink"/>
                </a:solidFill>
                <a:latin typeface="Arial" panose="020B0604020202020204" pitchFamily="34" charset="0"/>
              </a:rPr>
              <a:t>Principles of MEDICAL PHARMACOLOGY</a:t>
            </a:r>
            <a:endParaRPr lang="en-US" altLang="en-US" sz="160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7F4985F-2984-B4AC-03DF-2D4D6436B94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896655" y="0"/>
            <a:ext cx="8085545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CA" altLang="en-US"/>
              <a:t>Absorption cont’d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2C524B38-E8C2-2C98-7D8D-EA3561861F6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791478" y="1143000"/>
            <a:ext cx="8876522" cy="4953000"/>
          </a:xfrm>
          <a:ln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CA" altLang="en-US" sz="2800" dirty="0"/>
              <a:t>First-pass effect:</a:t>
            </a:r>
          </a:p>
          <a:p>
            <a:pPr lvl="1"/>
            <a:r>
              <a:rPr lang="en-CA" altLang="en-US" sz="2400" dirty="0"/>
              <a:t>Metabolism (Destruction &gt; Activation) of the drug after absorption, but before reaching the systemic circulation</a:t>
            </a:r>
          </a:p>
          <a:p>
            <a:pPr lvl="2"/>
            <a:r>
              <a:rPr lang="en-CA" altLang="en-US" sz="2000" dirty="0"/>
              <a:t>in the gut wall or in the liver</a:t>
            </a:r>
          </a:p>
          <a:p>
            <a:pPr lvl="2"/>
            <a:r>
              <a:rPr lang="en-CA" altLang="en-US" sz="2000" dirty="0"/>
              <a:t>upon oral or rectal administration</a:t>
            </a:r>
          </a:p>
          <a:p>
            <a:endParaRPr lang="en-CA" altLang="en-US" sz="2800" dirty="0"/>
          </a:p>
        </p:txBody>
      </p:sp>
      <p:pic>
        <p:nvPicPr>
          <p:cNvPr id="14340" name="Picture 6" descr="E-H Circulation">
            <a:extLst>
              <a:ext uri="{FF2B5EF4-FFF2-40B4-BE49-F238E27FC236}">
                <a16:creationId xmlns:a16="http://schemas.microsoft.com/office/drawing/2014/main" id="{65E37424-2764-1490-E198-83D0A3C1C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3548064"/>
            <a:ext cx="5486400" cy="330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07D18696-6E2D-D09D-5CE6-B1B65AE9E68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803164" y="0"/>
            <a:ext cx="8179036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CA" altLang="en-US"/>
              <a:t>Absorption cont’d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22EB0C22-C3B4-D481-B67A-9780B3E348D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688841" y="1219200"/>
            <a:ext cx="8979159" cy="4876800"/>
          </a:xfrm>
          <a:ln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CA" altLang="en-US" sz="2800" dirty="0"/>
              <a:t>Onset of action</a:t>
            </a:r>
          </a:p>
          <a:p>
            <a:pPr lvl="1"/>
            <a:r>
              <a:rPr lang="en-CA" altLang="en-US" sz="2400" dirty="0"/>
              <a:t>Time interval between administration of the dosage form and notation of the first therapeutic effects.</a:t>
            </a:r>
          </a:p>
          <a:p>
            <a:pPr lvl="1"/>
            <a:r>
              <a:rPr lang="en-CA" altLang="en-US" sz="2400" dirty="0"/>
              <a:t>Controlling factors:</a:t>
            </a:r>
          </a:p>
          <a:p>
            <a:pPr lvl="2"/>
            <a:r>
              <a:rPr lang="en-CA" altLang="en-US" sz="2000" dirty="0"/>
              <a:t>route of administration</a:t>
            </a:r>
          </a:p>
          <a:p>
            <a:pPr lvl="2"/>
            <a:r>
              <a:rPr lang="en-CA" altLang="en-US" sz="2000" dirty="0"/>
              <a:t>release of the drug</a:t>
            </a:r>
          </a:p>
          <a:p>
            <a:pPr lvl="2"/>
            <a:r>
              <a:rPr lang="en-CA" altLang="en-US" sz="2000" dirty="0"/>
              <a:t>extent and rate of absorption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>
            <a:extLst>
              <a:ext uri="{FF2B5EF4-FFF2-40B4-BE49-F238E27FC236}">
                <a16:creationId xmlns:a16="http://schemas.microsoft.com/office/drawing/2014/main" id="{2110A369-4057-FD45-145E-C51DE605F1E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006082" y="0"/>
            <a:ext cx="8661918" cy="1143000"/>
          </a:xfrm>
          <a:noFill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CA" altLang="en-US" sz="3200" dirty="0"/>
              <a:t>Relationship b/w Blood Concentration &amp; Effect</a:t>
            </a:r>
            <a:endParaRPr lang="fr-CA" altLang="en-US" sz="3200" dirty="0"/>
          </a:p>
        </p:txBody>
      </p:sp>
      <p:pic>
        <p:nvPicPr>
          <p:cNvPr id="18435" name="Picture 7" descr="Onset-Peak-MEC">
            <a:extLst>
              <a:ext uri="{FF2B5EF4-FFF2-40B4-BE49-F238E27FC236}">
                <a16:creationId xmlns:a16="http://schemas.microsoft.com/office/drawing/2014/main" id="{9C3B59F5-4D5D-D13D-3EAC-2A277E1E5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9902" y="1125538"/>
            <a:ext cx="9144000" cy="573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22B9CC4-814E-3412-930E-3106E007435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37550" y="0"/>
            <a:ext cx="7968450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CA" altLang="en-US"/>
              <a:t>PK - Distribution Phase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9743B42C-FE45-6F50-8861-8C686E1CEE9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772816" y="1143001"/>
            <a:ext cx="8895184" cy="4733925"/>
          </a:xfrm>
          <a:ln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CA" altLang="en-US" sz="2800" dirty="0"/>
              <a:t>Controlling factors</a:t>
            </a:r>
          </a:p>
          <a:p>
            <a:pPr lvl="1"/>
            <a:r>
              <a:rPr lang="en-CA" altLang="en-US" sz="2400" dirty="0"/>
              <a:t>Blood flow rates in different tissues</a:t>
            </a:r>
          </a:p>
          <a:p>
            <a:pPr lvl="1"/>
            <a:r>
              <a:rPr lang="en-CA" altLang="en-US" sz="2400" dirty="0"/>
              <a:t>heart, liver, kidneys &gt; &gt; &gt; bone, middle ear</a:t>
            </a:r>
          </a:p>
          <a:p>
            <a:pPr lvl="1"/>
            <a:r>
              <a:rPr lang="en-CA" altLang="en-US" sz="2400" dirty="0"/>
              <a:t>drug solubility (lipid VS water)</a:t>
            </a:r>
          </a:p>
          <a:p>
            <a:pPr lvl="1"/>
            <a:r>
              <a:rPr lang="en-CA" altLang="en-US" sz="2400" dirty="0"/>
              <a:t>drug ionization (acidic VS basic) and pH of different physiological fluids</a:t>
            </a:r>
          </a:p>
          <a:p>
            <a:pPr lvl="1"/>
            <a:r>
              <a:rPr lang="en-CA" altLang="en-US" sz="2400" dirty="0"/>
              <a:t>patient's body fat</a:t>
            </a:r>
          </a:p>
          <a:p>
            <a:pPr lvl="1"/>
            <a:r>
              <a:rPr lang="en-CA" altLang="en-US" sz="2400" dirty="0"/>
              <a:t>binding of the drug to plasma proteins (reversible)</a:t>
            </a:r>
          </a:p>
          <a:p>
            <a:pPr lvl="1"/>
            <a:r>
              <a:rPr lang="en-CA" altLang="en-US" sz="2400" dirty="0"/>
              <a:t>binding of the drug to tissue sites (reversible)</a:t>
            </a:r>
          </a:p>
          <a:p>
            <a:endParaRPr lang="en-CA" altLang="en-US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6D5F17E9-3BF6-89A8-B7F5-92D398CFB99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69552" y="0"/>
            <a:ext cx="8898448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CA" altLang="en-US" sz="4000"/>
              <a:t>Distribution - special considerations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86E154E9-AC9C-0C42-D90B-D6E7C6C6F32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856792" y="1143000"/>
            <a:ext cx="8811208" cy="3581400"/>
          </a:xfrm>
          <a:ln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CA" altLang="en-US" sz="2800" dirty="0"/>
              <a:t>Protein-bound VS free-fraction available:</a:t>
            </a:r>
          </a:p>
          <a:p>
            <a:pPr lvl="1"/>
            <a:r>
              <a:rPr lang="en-CA" altLang="en-US" sz="2400" dirty="0"/>
              <a:t>pharmacological action, metabolism or excretion</a:t>
            </a:r>
          </a:p>
          <a:p>
            <a:r>
              <a:rPr lang="en-CA" altLang="en-US" sz="2800" dirty="0"/>
              <a:t>Fat</a:t>
            </a:r>
          </a:p>
          <a:p>
            <a:pPr lvl="1"/>
            <a:r>
              <a:rPr lang="en-CA" altLang="en-US" sz="2400" dirty="0"/>
              <a:t>reservoir for storage of lipid soluble drugs</a:t>
            </a:r>
          </a:p>
          <a:p>
            <a:r>
              <a:rPr lang="en-CA" altLang="en-US" sz="2800" dirty="0"/>
              <a:t>Breast milk</a:t>
            </a:r>
          </a:p>
          <a:p>
            <a:pPr lvl="1"/>
            <a:r>
              <a:rPr lang="en-CA" altLang="en-US" sz="2400" dirty="0"/>
              <a:t>	Controlling factors:	</a:t>
            </a:r>
          </a:p>
          <a:p>
            <a:pPr lvl="2"/>
            <a:r>
              <a:rPr lang="en-CA" altLang="en-US" sz="2000" dirty="0"/>
              <a:t>drug ionization between milk and blood</a:t>
            </a:r>
          </a:p>
          <a:p>
            <a:pPr lvl="2"/>
            <a:r>
              <a:rPr lang="en-CA" altLang="en-US" sz="2000" dirty="0"/>
              <a:t>amount of drug in maternal blood</a:t>
            </a:r>
          </a:p>
          <a:p>
            <a:pPr lvl="2"/>
            <a:r>
              <a:rPr lang="en-CA" altLang="en-US" sz="2000" dirty="0"/>
              <a:t>lipid solubility of the drug</a:t>
            </a:r>
          </a:p>
          <a:p>
            <a:r>
              <a:rPr lang="en-CA" altLang="en-US" sz="2800" dirty="0"/>
              <a:t>Brain and placenta</a:t>
            </a:r>
          </a:p>
          <a:p>
            <a:pPr lvl="1"/>
            <a:r>
              <a:rPr lang="en-CA" altLang="en-US" sz="2400" dirty="0"/>
              <a:t>Presence of distribution barriers which allow the passage of lipid soluble drugs.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8">
            <a:extLst>
              <a:ext uri="{FF2B5EF4-FFF2-40B4-BE49-F238E27FC236}">
                <a16:creationId xmlns:a16="http://schemas.microsoft.com/office/drawing/2014/main" id="{63EFB0E2-1A10-77EF-6343-B46B54AAEED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828801" y="0"/>
            <a:ext cx="8151814" cy="1143000"/>
          </a:xfrm>
          <a:noFill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CA" altLang="en-US" dirty="0"/>
              <a:t>Distribution - Drug Transport</a:t>
            </a:r>
            <a:endParaRPr lang="fr-CA" altLang="en-US" dirty="0"/>
          </a:p>
        </p:txBody>
      </p:sp>
      <p:pic>
        <p:nvPicPr>
          <p:cNvPr id="20483" name="Picture 7" descr="Transport">
            <a:extLst>
              <a:ext uri="{FF2B5EF4-FFF2-40B4-BE49-F238E27FC236}">
                <a16:creationId xmlns:a16="http://schemas.microsoft.com/office/drawing/2014/main" id="{AE593135-0D5C-56E0-C1CA-D94107D02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225" y="1196975"/>
            <a:ext cx="9144000" cy="566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46D074EB-8033-08C1-A270-9D0BE82A4EF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874714" y="0"/>
            <a:ext cx="8031286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CA" altLang="en-US"/>
              <a:t>Metabolism phase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8C086D16-F893-5AC9-7CE4-FE2310233F2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754155" y="1143000"/>
            <a:ext cx="8913845" cy="4038600"/>
          </a:xfrm>
          <a:ln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CA" altLang="en-US" sz="2800" dirty="0"/>
              <a:t>Chemical conversion of the drug to active or inactive compounds, often more water soluble for excretion. Primary mechanism of elimination for about 40% of drugs.</a:t>
            </a:r>
          </a:p>
          <a:p>
            <a:endParaRPr lang="en-CA" altLang="en-US" sz="2800" dirty="0"/>
          </a:p>
          <a:p>
            <a:r>
              <a:rPr lang="en-CA" altLang="en-US" sz="2800" dirty="0"/>
              <a:t>Sites of “biotransformation”:</a:t>
            </a:r>
          </a:p>
          <a:p>
            <a:pPr lvl="1"/>
            <a:r>
              <a:rPr lang="en-CA" altLang="en-US" sz="2400" dirty="0"/>
              <a:t>Major:  liver</a:t>
            </a:r>
          </a:p>
          <a:p>
            <a:pPr lvl="1"/>
            <a:r>
              <a:rPr lang="en-CA" altLang="en-US" sz="2400" dirty="0"/>
              <a:t>Other:  kidneys, lungs, blood, intestinal mucosa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D76D7F37-76F1-4F25-558E-F66E225A85A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854158" y="0"/>
            <a:ext cx="8983626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CA" altLang="en-US"/>
              <a:t>Metabolism - reactions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1102D5FE-959C-5220-D276-5493570E36F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744824" y="1143000"/>
            <a:ext cx="9862458" cy="3886200"/>
          </a:xfrm>
          <a:ln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CA" altLang="en-US" sz="2800" dirty="0"/>
              <a:t>Phase I: Non-synthetic.</a:t>
            </a:r>
          </a:p>
          <a:p>
            <a:pPr lvl="1"/>
            <a:r>
              <a:rPr lang="en-CA" altLang="en-US" sz="2400" dirty="0"/>
              <a:t>When the chemical structure of the drug is changed to produce an active or inactive compound (ex. oxidation, reduction, hydrolysis).</a:t>
            </a:r>
          </a:p>
          <a:p>
            <a:r>
              <a:rPr lang="en-CA" altLang="en-US" sz="2800" dirty="0"/>
              <a:t>Phase II: Conjugation (or synthetic).</a:t>
            </a:r>
          </a:p>
          <a:p>
            <a:pPr lvl="1"/>
            <a:r>
              <a:rPr lang="en-CA" altLang="en-US" sz="2400" dirty="0"/>
              <a:t>When the drug combines with an endogenous substance to produce a soluble, compound </a:t>
            </a:r>
            <a:br>
              <a:rPr lang="en-CA" altLang="en-US" sz="2400" dirty="0"/>
            </a:br>
            <a:r>
              <a:rPr lang="en-CA" altLang="en-US" sz="2400" dirty="0"/>
              <a:t>(ex. alkylation, acetylation, methylation).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EA6EC0BC-6FE1-58FD-0D3B-0B71A8FEA2E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35494" y="0"/>
            <a:ext cx="9731828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CA" altLang="en-US" sz="4000"/>
              <a:t>Metabolism Activity of metabolites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3F660797-4DC6-BA5E-A766-ED2882A118A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735494" y="1295400"/>
            <a:ext cx="9731828" cy="4114800"/>
          </a:xfrm>
          <a:ln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CA" altLang="en-US" dirty="0"/>
              <a:t>Most medications:  </a:t>
            </a:r>
          </a:p>
          <a:p>
            <a:pPr lvl="1"/>
            <a:r>
              <a:rPr lang="en-CA" altLang="en-US" dirty="0"/>
              <a:t>no longer effective after they convert to metabolites</a:t>
            </a:r>
          </a:p>
          <a:p>
            <a:r>
              <a:rPr lang="en-CA" altLang="en-US" dirty="0"/>
              <a:t>Small number of medications: 	</a:t>
            </a:r>
          </a:p>
          <a:p>
            <a:pPr lvl="1"/>
            <a:r>
              <a:rPr lang="en-CA" altLang="en-US" dirty="0"/>
              <a:t>active only after “biotransformation”</a:t>
            </a:r>
          </a:p>
          <a:p>
            <a:r>
              <a:rPr lang="en-CA" altLang="en-US" dirty="0"/>
              <a:t>Effective both before and after biotransformation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1026">
            <a:extLst>
              <a:ext uri="{FF2B5EF4-FFF2-40B4-BE49-F238E27FC236}">
                <a16:creationId xmlns:a16="http://schemas.microsoft.com/office/drawing/2014/main" id="{F0E69718-B982-41A6-1521-AABD83E5CB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/>
              <a:t>Cytochrome P-450</a:t>
            </a:r>
          </a:p>
        </p:txBody>
      </p:sp>
      <p:sp>
        <p:nvSpPr>
          <p:cNvPr id="77827" name="Rectangle 1027">
            <a:extLst>
              <a:ext uri="{FF2B5EF4-FFF2-40B4-BE49-F238E27FC236}">
                <a16:creationId xmlns:a16="http://schemas.microsoft.com/office/drawing/2014/main" id="{576A4078-1E23-1FA4-DBFF-C3C00C3DE4C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425959" y="1371600"/>
            <a:ext cx="4533641" cy="4724400"/>
          </a:xfrm>
        </p:spPr>
        <p:txBody>
          <a:bodyPr/>
          <a:lstStyle/>
          <a:p>
            <a:r>
              <a:rPr lang="en-CA" altLang="en-US" sz="2800" dirty="0"/>
              <a:t>Family of enzymes that:</a:t>
            </a:r>
          </a:p>
          <a:p>
            <a:pPr lvl="1"/>
            <a:r>
              <a:rPr lang="en-CA" altLang="en-US" sz="2400" dirty="0"/>
              <a:t>Metabolize different drugs</a:t>
            </a:r>
          </a:p>
          <a:p>
            <a:pPr lvl="2"/>
            <a:r>
              <a:rPr lang="fr-CA" altLang="en-US" sz="2000" dirty="0"/>
              <a:t>« </a:t>
            </a:r>
            <a:r>
              <a:rPr lang="fr-CA" altLang="en-US" sz="2000" dirty="0" err="1"/>
              <a:t>substrates</a:t>
            </a:r>
            <a:r>
              <a:rPr lang="fr-CA" altLang="en-US" sz="2000" dirty="0"/>
              <a:t> »</a:t>
            </a:r>
          </a:p>
          <a:p>
            <a:pPr lvl="1"/>
            <a:r>
              <a:rPr lang="fr-CA" altLang="en-US" sz="2400" dirty="0"/>
              <a:t>Can </a:t>
            </a:r>
            <a:r>
              <a:rPr lang="fr-CA" altLang="en-US" sz="2400" dirty="0" err="1"/>
              <a:t>be</a:t>
            </a:r>
            <a:r>
              <a:rPr lang="fr-CA" altLang="en-US" sz="2400" dirty="0"/>
              <a:t> </a:t>
            </a:r>
            <a:r>
              <a:rPr lang="fr-CA" altLang="en-US" sz="2400" dirty="0" err="1"/>
              <a:t>turned</a:t>
            </a:r>
            <a:r>
              <a:rPr lang="fr-CA" altLang="en-US" sz="2400" dirty="0"/>
              <a:t> off</a:t>
            </a:r>
          </a:p>
          <a:p>
            <a:pPr lvl="2"/>
            <a:r>
              <a:rPr lang="fr-CA" altLang="en-US" sz="2000" dirty="0"/>
              <a:t>« </a:t>
            </a:r>
            <a:r>
              <a:rPr lang="fr-CA" altLang="en-US" sz="2000" dirty="0" err="1"/>
              <a:t>inhibitors</a:t>
            </a:r>
            <a:r>
              <a:rPr lang="fr-CA" altLang="en-US" sz="2000" dirty="0"/>
              <a:t> »</a:t>
            </a:r>
          </a:p>
          <a:p>
            <a:pPr lvl="1"/>
            <a:r>
              <a:rPr lang="fr-CA" altLang="en-US" sz="2400" dirty="0"/>
              <a:t>Can </a:t>
            </a:r>
            <a:r>
              <a:rPr lang="fr-CA" altLang="en-US" sz="2400" dirty="0" err="1"/>
              <a:t>be</a:t>
            </a:r>
            <a:r>
              <a:rPr lang="fr-CA" altLang="en-US" sz="2400" dirty="0"/>
              <a:t> « </a:t>
            </a:r>
            <a:r>
              <a:rPr lang="fr-CA" altLang="en-US" sz="2400" dirty="0" err="1"/>
              <a:t>revved</a:t>
            </a:r>
            <a:r>
              <a:rPr lang="fr-CA" altLang="en-US" sz="2400" dirty="0"/>
              <a:t> up »</a:t>
            </a:r>
          </a:p>
          <a:p>
            <a:pPr lvl="2"/>
            <a:r>
              <a:rPr lang="fr-CA" altLang="en-US" sz="2000" dirty="0"/>
              <a:t>« </a:t>
            </a:r>
            <a:r>
              <a:rPr lang="fr-CA" altLang="en-US" sz="2000" dirty="0" err="1"/>
              <a:t>inducers</a:t>
            </a:r>
            <a:r>
              <a:rPr lang="fr-CA" altLang="en-US" sz="2000" dirty="0"/>
              <a:t> »</a:t>
            </a:r>
            <a:endParaRPr lang="en-CA" altLang="en-US" sz="2000" dirty="0"/>
          </a:p>
        </p:txBody>
      </p:sp>
      <p:graphicFrame>
        <p:nvGraphicFramePr>
          <p:cNvPr id="2" name="Object 1028">
            <a:extLst>
              <a:ext uri="{FF2B5EF4-FFF2-40B4-BE49-F238E27FC236}">
                <a16:creationId xmlns:a16="http://schemas.microsoft.com/office/drawing/2014/main" id="{DB71EB1D-74D2-2FB8-6B94-4DC9E4776F8E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16359828"/>
              </p:ext>
            </p:extLst>
          </p:nvPr>
        </p:nvGraphicFramePr>
        <p:xfrm>
          <a:off x="6651625" y="1319213"/>
          <a:ext cx="3735388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6C3FCC1E-29C8-13EF-DD1C-C25859C63B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1"/>
              <a:t>P450 some examples</a:t>
            </a:r>
          </a:p>
        </p:txBody>
      </p:sp>
      <p:graphicFrame>
        <p:nvGraphicFramePr>
          <p:cNvPr id="76835" name="Group 35">
            <a:extLst>
              <a:ext uri="{FF2B5EF4-FFF2-40B4-BE49-F238E27FC236}">
                <a16:creationId xmlns:a16="http://schemas.microsoft.com/office/drawing/2014/main" id="{91EFDC5B-D1BF-A23D-6BEA-EDDD26A756F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895601" y="1557338"/>
          <a:ext cx="7593013" cy="4748784"/>
        </p:xfrm>
        <a:graphic>
          <a:graphicData uri="http://schemas.openxmlformats.org/drawingml/2006/table">
            <a:tbl>
              <a:tblPr/>
              <a:tblGrid>
                <a:gridCol w="1898650">
                  <a:extLst>
                    <a:ext uri="{9D8B030D-6E8A-4147-A177-3AD203B41FA5}">
                      <a16:colId xmlns:a16="http://schemas.microsoft.com/office/drawing/2014/main" val="2004612200"/>
                    </a:ext>
                  </a:extLst>
                </a:gridCol>
                <a:gridCol w="1898650">
                  <a:extLst>
                    <a:ext uri="{9D8B030D-6E8A-4147-A177-3AD203B41FA5}">
                      <a16:colId xmlns:a16="http://schemas.microsoft.com/office/drawing/2014/main" val="151304165"/>
                    </a:ext>
                  </a:extLst>
                </a:gridCol>
                <a:gridCol w="1897063">
                  <a:extLst>
                    <a:ext uri="{9D8B030D-6E8A-4147-A177-3AD203B41FA5}">
                      <a16:colId xmlns:a16="http://schemas.microsoft.com/office/drawing/2014/main" val="4124891099"/>
                    </a:ext>
                  </a:extLst>
                </a:gridCol>
                <a:gridCol w="1898650">
                  <a:extLst>
                    <a:ext uri="{9D8B030D-6E8A-4147-A177-3AD203B41FA5}">
                      <a16:colId xmlns:a16="http://schemas.microsoft.com/office/drawing/2014/main" val="1179194046"/>
                    </a:ext>
                  </a:extLst>
                </a:gridCol>
              </a:tblGrid>
              <a:tr h="584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800"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2pPr>
                      <a:lvl3pPr marL="85725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000"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3pPr>
                      <a:lvl4pPr marL="120015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4pPr>
                      <a:lvl5pPr marL="154305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5pPr>
                      <a:lvl6pPr marL="2000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6pPr>
                      <a:lvl7pPr marL="24574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7pPr>
                      <a:lvl8pPr marL="2914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8pPr>
                      <a:lvl9pPr marL="3371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CYP3A4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Substrates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800"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2pPr>
                      <a:lvl3pPr marL="85725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000"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3pPr>
                      <a:lvl4pPr marL="120015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4pPr>
                      <a:lvl5pPr marL="154305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5pPr>
                      <a:lvl6pPr marL="2000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6pPr>
                      <a:lvl7pPr marL="24574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7pPr>
                      <a:lvl8pPr marL="2914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8pPr>
                      <a:lvl9pPr marL="3371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CYP3A4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Inhibitors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800"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2pPr>
                      <a:lvl3pPr marL="85725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000"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3pPr>
                      <a:lvl4pPr marL="120015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4pPr>
                      <a:lvl5pPr marL="154305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5pPr>
                      <a:lvl6pPr marL="2000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6pPr>
                      <a:lvl7pPr marL="24574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7pPr>
                      <a:lvl8pPr marL="2914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8pPr>
                      <a:lvl9pPr marL="3371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CYP2C9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Substrates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800"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2pPr>
                      <a:lvl3pPr marL="85725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000"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3pPr>
                      <a:lvl4pPr marL="120015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4pPr>
                      <a:lvl5pPr marL="154305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5pPr>
                      <a:lvl6pPr marL="2000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6pPr>
                      <a:lvl7pPr marL="24574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7pPr>
                      <a:lvl8pPr marL="2914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8pPr>
                      <a:lvl9pPr marL="3371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CYP2C9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Inhibitors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63323"/>
                  </a:ext>
                </a:extLst>
              </a:tr>
              <a:tr h="584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800"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2pPr>
                      <a:lvl3pPr marL="85725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000"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3pPr>
                      <a:lvl4pPr marL="120015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4pPr>
                      <a:lvl5pPr marL="154305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5pPr>
                      <a:lvl6pPr marL="2000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6pPr>
                      <a:lvl7pPr marL="24574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7pPr>
                      <a:lvl8pPr marL="2914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8pPr>
                      <a:lvl9pPr marL="3371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Some statins: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-"/>
                        <a:tabLst/>
                      </a:pPr>
                      <a:r>
                        <a:rPr kumimoji="0" lang="en-US" altLang="en-US" sz="1800" b="0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Atorvastatin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-"/>
                        <a:tabLst/>
                      </a:pPr>
                      <a:r>
                        <a:rPr kumimoji="0" lang="en-US" altLang="en-US" sz="1800" b="0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Lovastatin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-"/>
                        <a:tabLst/>
                      </a:pPr>
                      <a:r>
                        <a:rPr kumimoji="0" lang="en-US" altLang="en-US" sz="1800" b="0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Simvastatin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CCBs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- All of them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Some Benzos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-diazepam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-alprazolam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-triazolam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Others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-sildenafil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800"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2pPr>
                      <a:lvl3pPr marL="85725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000"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3pPr>
                      <a:lvl4pPr marL="120015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4pPr>
                      <a:lvl5pPr marL="154305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5pPr>
                      <a:lvl6pPr marL="2000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6pPr>
                      <a:lvl7pPr marL="24574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7pPr>
                      <a:lvl8pPr marL="2914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8pPr>
                      <a:lvl9pPr marL="3371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Macolides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-erythromycin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-clarithromycin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CCBs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-verapamil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-diltiazem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Amiodarone</a:t>
                      </a:r>
                      <a:endParaRPr kumimoji="0" lang="fr-CA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fr-CA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Antiretrovirals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fr-CA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-ritonavir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fr-CA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-nelfinavir</a:t>
                      </a:r>
                      <a:endParaRPr kumimoji="0" lang="fr-CA" altLang="en-US" sz="1800" b="0" i="0" u="none" strike="noStrike" cap="none" normalizeH="0" baseline="0" noProof="1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endParaRPr kumimoji="0" lang="fr-CA" altLang="en-US" sz="1800" b="0" i="0" u="none" strike="noStrike" cap="none" normalizeH="0" baseline="0" noProof="1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800"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2pPr>
                      <a:lvl3pPr marL="85725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000"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3pPr>
                      <a:lvl4pPr marL="120015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4pPr>
                      <a:lvl5pPr marL="154305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5pPr>
                      <a:lvl6pPr marL="2000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6pPr>
                      <a:lvl7pPr marL="24574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7pPr>
                      <a:lvl8pPr marL="2914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8pPr>
                      <a:lvl9pPr marL="3371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fr-CA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Sulfonylureas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fr-CA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S-warfarin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fr-CA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Fluvastatin</a:t>
                      </a:r>
                      <a:endParaRPr kumimoji="0" lang="fr-CA" altLang="en-US" sz="1800" b="0" i="0" u="none" strike="noStrike" cap="none" normalizeH="0" baseline="0" noProof="1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800"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2pPr>
                      <a:lvl3pPr marL="85725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000"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3pPr>
                      <a:lvl4pPr marL="120015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4pPr>
                      <a:lvl5pPr marL="154305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5pPr>
                      <a:lvl6pPr marL="2000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6pPr>
                      <a:lvl7pPr marL="24574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7pPr>
                      <a:lvl8pPr marL="2914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8pPr>
                      <a:lvl9pPr marL="3371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hlink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fr-CA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SMX/TMP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fr-CA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Metronidazole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fr-CA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SSRIs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fr-CA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-Fluoxetine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fr-CA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-Fluvoxamine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fr-CA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Fluconazole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fr-CA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</a:rPr>
                        <a:t>Amiodarone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endParaRPr kumimoji="0" lang="fr-CA" altLang="en-US" sz="1800" b="0" i="0" u="none" strike="noStrike" cap="none" normalizeH="0" baseline="0" noProof="1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33223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A540643B-E9FD-D593-BF60-F38BBF31A65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815800" y="0"/>
            <a:ext cx="8166400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CA" altLang="en-US"/>
              <a:t>Elimination phase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1B509B3D-FFAC-4EE1-60D6-9A98E85E833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791478" y="1295400"/>
            <a:ext cx="8876522" cy="4114800"/>
          </a:xfrm>
          <a:ln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CA" altLang="en-US" dirty="0"/>
              <a:t>Elimination of the drug from the body</a:t>
            </a:r>
          </a:p>
          <a:p>
            <a:r>
              <a:rPr lang="en-CA" altLang="en-US" dirty="0"/>
              <a:t>Routes:</a:t>
            </a:r>
          </a:p>
          <a:p>
            <a:pPr lvl="1"/>
            <a:r>
              <a:rPr lang="en-CA" altLang="en-US" dirty="0"/>
              <a:t>major: kidneys</a:t>
            </a:r>
          </a:p>
          <a:p>
            <a:pPr lvl="1"/>
            <a:r>
              <a:rPr lang="en-CA" altLang="en-US" dirty="0"/>
              <a:t>other:  GI tract (feces, bile), lungs, saliva, sweat, breast milk</a:t>
            </a:r>
          </a:p>
          <a:p>
            <a:endParaRPr lang="en-CA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40E61E4A-9B12-964B-5DFA-55A973FFE32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874714" y="0"/>
            <a:ext cx="8031286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CA" altLang="en-US"/>
              <a:t>Elimination cont’d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FB14F578-29BF-49B7-9A5B-3688D7BB36B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754155" y="1143000"/>
            <a:ext cx="8913845" cy="5715000"/>
          </a:xfrm>
          <a:ln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33400" indent="-533400"/>
            <a:r>
              <a:rPr lang="en-CA" altLang="en-US" sz="2800" dirty="0"/>
              <a:t>(Elimination) Half-Life (T</a:t>
            </a:r>
            <a:r>
              <a:rPr lang="en-CA" altLang="en-US" sz="2800" baseline="-25000" dirty="0"/>
              <a:t>1/2</a:t>
            </a:r>
            <a:r>
              <a:rPr lang="en-CA" altLang="en-US" sz="2800" dirty="0"/>
              <a:t>)</a:t>
            </a:r>
          </a:p>
          <a:p>
            <a:pPr marL="533400" indent="-533400"/>
            <a:r>
              <a:rPr lang="en-CA" altLang="en-US" sz="2800" dirty="0"/>
              <a:t>Amount of time required to decrease the blood concentration of the parent drug by 50%</a:t>
            </a:r>
          </a:p>
          <a:p>
            <a:pPr marL="914400" lvl="1" indent="-457200"/>
            <a:r>
              <a:rPr lang="en-CA" altLang="en-US" sz="2400" dirty="0"/>
              <a:t>Drug dependent</a:t>
            </a:r>
          </a:p>
          <a:p>
            <a:pPr marL="914400" lvl="1" indent="-457200"/>
            <a:r>
              <a:rPr lang="en-CA" altLang="en-US" sz="2400" dirty="0"/>
              <a:t>Dose independent (with a few exceptions, ex. phenytoin, alcohol)</a:t>
            </a:r>
          </a:p>
          <a:p>
            <a:pPr marL="533400" indent="-533400">
              <a:buNone/>
            </a:pPr>
            <a:r>
              <a:rPr lang="en-CA" altLang="en-US" sz="1800" dirty="0"/>
              <a:t>	1 </a:t>
            </a:r>
            <a:r>
              <a:rPr lang="en-CA" altLang="en-US" sz="2000" dirty="0"/>
              <a:t>T</a:t>
            </a:r>
            <a:r>
              <a:rPr lang="en-CA" altLang="en-US" sz="2000" baseline="-25000" dirty="0"/>
              <a:t>1/2</a:t>
            </a:r>
            <a:r>
              <a:rPr lang="en-CA" altLang="en-US" sz="1800" dirty="0"/>
              <a:t> : 50% of the drug has been excreted</a:t>
            </a:r>
          </a:p>
          <a:p>
            <a:pPr marL="533400" indent="-533400">
              <a:buNone/>
            </a:pPr>
            <a:r>
              <a:rPr lang="en-CA" altLang="en-US" sz="1800" dirty="0"/>
              <a:t>	2 </a:t>
            </a:r>
            <a:r>
              <a:rPr lang="en-CA" altLang="en-US" sz="2000" dirty="0"/>
              <a:t>T</a:t>
            </a:r>
            <a:r>
              <a:rPr lang="en-CA" altLang="en-US" sz="2000" baseline="-25000" dirty="0"/>
              <a:t>1/2</a:t>
            </a:r>
            <a:r>
              <a:rPr lang="en-CA" altLang="en-US" sz="1800" dirty="0"/>
              <a:t> : 75% </a:t>
            </a:r>
          </a:p>
          <a:p>
            <a:pPr marL="533400" indent="-533400">
              <a:buNone/>
            </a:pPr>
            <a:r>
              <a:rPr lang="en-CA" altLang="en-US" sz="1800" dirty="0"/>
              <a:t>	3 </a:t>
            </a:r>
            <a:r>
              <a:rPr lang="en-CA" altLang="en-US" sz="2000" dirty="0"/>
              <a:t>T</a:t>
            </a:r>
            <a:r>
              <a:rPr lang="en-CA" altLang="en-US" sz="2000" baseline="-25000" dirty="0"/>
              <a:t>1/2</a:t>
            </a:r>
            <a:r>
              <a:rPr lang="en-CA" altLang="en-US" sz="1800" dirty="0"/>
              <a:t> : 87.5% </a:t>
            </a:r>
          </a:p>
          <a:p>
            <a:pPr marL="533400" indent="-533400">
              <a:buNone/>
            </a:pPr>
            <a:r>
              <a:rPr lang="en-CA" altLang="en-US" sz="1800" dirty="0"/>
              <a:t>	4 </a:t>
            </a:r>
            <a:r>
              <a:rPr lang="en-CA" altLang="en-US" sz="2000" dirty="0"/>
              <a:t>T</a:t>
            </a:r>
            <a:r>
              <a:rPr lang="en-CA" altLang="en-US" sz="2000" baseline="-25000" dirty="0"/>
              <a:t>1/2</a:t>
            </a:r>
            <a:r>
              <a:rPr lang="en-CA" altLang="en-US" sz="1800" dirty="0"/>
              <a:t> : 93.75%</a:t>
            </a:r>
          </a:p>
          <a:p>
            <a:pPr marL="533400" indent="-533400">
              <a:buNone/>
            </a:pPr>
            <a:r>
              <a:rPr lang="en-CA" altLang="en-US" sz="1800" dirty="0"/>
              <a:t>	5 </a:t>
            </a:r>
            <a:r>
              <a:rPr lang="en-CA" altLang="en-US" sz="2000" dirty="0"/>
              <a:t>T</a:t>
            </a:r>
            <a:r>
              <a:rPr lang="en-CA" altLang="en-US" sz="2000" baseline="-25000" dirty="0"/>
              <a:t>1/2</a:t>
            </a:r>
            <a:r>
              <a:rPr lang="en-CA" altLang="en-US" sz="1800" dirty="0"/>
              <a:t> : 96.875%</a:t>
            </a:r>
          </a:p>
          <a:p>
            <a:pPr marL="533400" indent="-533400">
              <a:buNone/>
            </a:pPr>
            <a:r>
              <a:rPr lang="en-CA" altLang="en-US" sz="1800" dirty="0"/>
              <a:t>	6 </a:t>
            </a:r>
            <a:r>
              <a:rPr lang="en-CA" altLang="en-US" sz="2000" dirty="0"/>
              <a:t>T</a:t>
            </a:r>
            <a:r>
              <a:rPr lang="en-CA" altLang="en-US" sz="2000" baseline="-25000" dirty="0"/>
              <a:t>1/2</a:t>
            </a:r>
            <a:r>
              <a:rPr lang="en-CA" altLang="en-US" sz="1800" dirty="0"/>
              <a:t> : 98.4375%</a:t>
            </a:r>
          </a:p>
          <a:p>
            <a:pPr marL="533400" indent="-533400">
              <a:buNone/>
            </a:pPr>
            <a:r>
              <a:rPr lang="en-CA" altLang="en-US" sz="1800" dirty="0"/>
              <a:t>	7 </a:t>
            </a:r>
            <a:r>
              <a:rPr lang="en-CA" altLang="en-US" sz="2000" dirty="0"/>
              <a:t>T</a:t>
            </a:r>
            <a:r>
              <a:rPr lang="en-CA" altLang="en-US" sz="2000" baseline="-25000" dirty="0"/>
              <a:t>1/2</a:t>
            </a:r>
            <a:r>
              <a:rPr lang="en-CA" altLang="en-US" sz="1800" dirty="0"/>
              <a:t> : 99.21875%</a:t>
            </a:r>
          </a:p>
        </p:txBody>
      </p:sp>
      <p:sp>
        <p:nvSpPr>
          <p:cNvPr id="25604" name="AutoShape 4">
            <a:extLst>
              <a:ext uri="{FF2B5EF4-FFF2-40B4-BE49-F238E27FC236}">
                <a16:creationId xmlns:a16="http://schemas.microsoft.com/office/drawing/2014/main" id="{02C639A6-9802-D372-0E4F-4F9A4863FB4A}"/>
              </a:ext>
            </a:extLst>
          </p:cNvPr>
          <p:cNvSpPr>
            <a:spLocks/>
          </p:cNvSpPr>
          <p:nvPr/>
        </p:nvSpPr>
        <p:spPr bwMode="auto">
          <a:xfrm>
            <a:off x="2234682" y="4961554"/>
            <a:ext cx="76200" cy="685800"/>
          </a:xfrm>
          <a:prstGeom prst="leftBracket">
            <a:avLst>
              <a:gd name="adj" fmla="val 75000"/>
            </a:avLst>
          </a:prstGeom>
          <a:noFill/>
          <a:ln w="38100" cap="sq">
            <a:solidFill>
              <a:schemeClr val="hlink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8EF0A66-D547-B839-B168-2DFF32319A3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825951" y="0"/>
            <a:ext cx="8892257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CA" altLang="en-US"/>
              <a:t>Steady State &amp; Accumulation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83E05343-51BB-2C74-FA21-C4C762FE06E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810139" y="1219200"/>
            <a:ext cx="9657183" cy="4648200"/>
          </a:xfrm>
          <a:ln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CA" altLang="en-US" dirty="0"/>
              <a:t>Drug accumulation: </a:t>
            </a:r>
          </a:p>
          <a:p>
            <a:pPr lvl="1"/>
            <a:r>
              <a:rPr lang="en-CA" altLang="en-US" dirty="0"/>
              <a:t>when a subsequent dose is administered before the previous one has been entirely eliminated</a:t>
            </a:r>
          </a:p>
          <a:p>
            <a:r>
              <a:rPr lang="en-CA" altLang="en-US" dirty="0"/>
              <a:t>Steady state:	</a:t>
            </a:r>
          </a:p>
          <a:p>
            <a:pPr lvl="1"/>
            <a:r>
              <a:rPr lang="en-CA" altLang="en-US" dirty="0"/>
              <a:t>with multiple dosing, it occurs when the </a:t>
            </a:r>
            <a:br>
              <a:rPr lang="en-CA" altLang="en-US" dirty="0"/>
            </a:br>
            <a:r>
              <a:rPr lang="en-CA" altLang="en-US" u="sng" dirty="0"/>
              <a:t>rate of admin. = rate of elimination</a:t>
            </a:r>
            <a:r>
              <a:rPr lang="en-CA" altLang="en-US" dirty="0"/>
              <a:t>	</a:t>
            </a:r>
          </a:p>
          <a:p>
            <a:pPr lvl="1"/>
            <a:r>
              <a:rPr lang="en-CA" altLang="en-US" dirty="0"/>
              <a:t>plateau of drug concentrations</a:t>
            </a:r>
          </a:p>
          <a:p>
            <a:pPr lvl="1"/>
            <a:r>
              <a:rPr lang="en-CA" altLang="en-US" dirty="0"/>
              <a:t>reached after 4-5 half-lives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4">
            <a:extLst>
              <a:ext uri="{FF2B5EF4-FFF2-40B4-BE49-F238E27FC236}">
                <a16:creationId xmlns:a16="http://schemas.microsoft.com/office/drawing/2014/main" id="{001A2C87-0D50-4A39-3BA6-969ECB09ED9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800808" y="0"/>
            <a:ext cx="8867192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CA" altLang="en-US" sz="4000" dirty="0"/>
              <a:t>Drug Accumulation to Steady State</a:t>
            </a:r>
            <a:endParaRPr lang="fr-CA" altLang="en-US" sz="4000" dirty="0"/>
          </a:p>
        </p:txBody>
      </p:sp>
      <p:pic>
        <p:nvPicPr>
          <p:cNvPr id="27651" name="Picture 9" descr="SteadyState">
            <a:extLst>
              <a:ext uri="{FF2B5EF4-FFF2-40B4-BE49-F238E27FC236}">
                <a16:creationId xmlns:a16="http://schemas.microsoft.com/office/drawing/2014/main" id="{BA941399-DB2D-4B2F-C8CD-2BBD41443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9111" y="1229796"/>
            <a:ext cx="9144000" cy="580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4" name="Line 4">
            <a:extLst>
              <a:ext uri="{FF2B5EF4-FFF2-40B4-BE49-F238E27FC236}">
                <a16:creationId xmlns:a16="http://schemas.microsoft.com/office/drawing/2014/main" id="{E87D7D1D-9C88-807E-AD45-A8143D42F9B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2025" y="3357563"/>
            <a:ext cx="1588" cy="2728912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565" name="Line 5">
            <a:extLst>
              <a:ext uri="{FF2B5EF4-FFF2-40B4-BE49-F238E27FC236}">
                <a16:creationId xmlns:a16="http://schemas.microsoft.com/office/drawing/2014/main" id="{5681092E-4840-F17D-9EF6-A68B215E8E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3614" y="6092825"/>
            <a:ext cx="6624637" cy="0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566" name="Line 6">
            <a:extLst>
              <a:ext uri="{FF2B5EF4-FFF2-40B4-BE49-F238E27FC236}">
                <a16:creationId xmlns:a16="http://schemas.microsoft.com/office/drawing/2014/main" id="{86C97B57-14FA-8ABE-F0ED-9AB9471CE4DC}"/>
              </a:ext>
            </a:extLst>
          </p:cNvPr>
          <p:cNvSpPr>
            <a:spLocks noChangeShapeType="1"/>
          </p:cNvSpPr>
          <p:nvPr/>
        </p:nvSpPr>
        <p:spPr bwMode="auto">
          <a:xfrm>
            <a:off x="3430589" y="3643313"/>
            <a:ext cx="6624637" cy="0"/>
          </a:xfrm>
          <a:prstGeom prst="line">
            <a:avLst/>
          </a:prstGeom>
          <a:noFill/>
          <a:ln w="12700" cap="sq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567" name="Line 7">
            <a:extLst>
              <a:ext uri="{FF2B5EF4-FFF2-40B4-BE49-F238E27FC236}">
                <a16:creationId xmlns:a16="http://schemas.microsoft.com/office/drawing/2014/main" id="{F312FC90-9D75-2A89-9E28-B910579415CE}"/>
              </a:ext>
            </a:extLst>
          </p:cNvPr>
          <p:cNvSpPr>
            <a:spLocks noChangeShapeType="1"/>
          </p:cNvSpPr>
          <p:nvPr/>
        </p:nvSpPr>
        <p:spPr bwMode="auto">
          <a:xfrm>
            <a:off x="3430589" y="4868863"/>
            <a:ext cx="6624637" cy="0"/>
          </a:xfrm>
          <a:prstGeom prst="line">
            <a:avLst/>
          </a:prstGeom>
          <a:noFill/>
          <a:ln w="12700" cap="sq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568" name="Text Box 8">
            <a:extLst>
              <a:ext uri="{FF2B5EF4-FFF2-40B4-BE49-F238E27FC236}">
                <a16:creationId xmlns:a16="http://schemas.microsoft.com/office/drawing/2014/main" id="{23529AC4-1849-7066-8084-3C0499267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5275" y="3449638"/>
            <a:ext cx="56938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altLang="en-US">
                <a:solidFill>
                  <a:schemeClr val="hlink"/>
                </a:solidFill>
              </a:rPr>
              <a:t>200</a:t>
            </a:r>
          </a:p>
        </p:txBody>
      </p:sp>
      <p:sp>
        <p:nvSpPr>
          <p:cNvPr id="66569" name="Text Box 9">
            <a:extLst>
              <a:ext uri="{FF2B5EF4-FFF2-40B4-BE49-F238E27FC236}">
                <a16:creationId xmlns:a16="http://schemas.microsoft.com/office/drawing/2014/main" id="{E76BDDD8-E738-9905-7BA3-DE217C35D6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3" y="4652963"/>
            <a:ext cx="56938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altLang="en-US">
                <a:solidFill>
                  <a:schemeClr val="hlink"/>
                </a:solidFill>
              </a:rPr>
              <a:t>100</a:t>
            </a:r>
          </a:p>
        </p:txBody>
      </p:sp>
      <p:sp>
        <p:nvSpPr>
          <p:cNvPr id="66570" name="Text Box 10">
            <a:extLst>
              <a:ext uri="{FF2B5EF4-FFF2-40B4-BE49-F238E27FC236}">
                <a16:creationId xmlns:a16="http://schemas.microsoft.com/office/drawing/2014/main" id="{4C176FA4-742E-9B2A-A9CA-25032EF2A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2175" y="981075"/>
            <a:ext cx="5365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779588" algn="l"/>
                <a:tab pos="2286000" algn="l"/>
                <a:tab pos="2743200" algn="l"/>
                <a:tab pos="3200400" algn="l"/>
                <a:tab pos="3657600" algn="l"/>
              </a:tabLs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eaLnBrk="0" hangingPunct="0">
              <a:tabLst>
                <a:tab pos="457200" algn="l"/>
                <a:tab pos="914400" algn="l"/>
                <a:tab pos="1371600" algn="l"/>
                <a:tab pos="1779588" algn="l"/>
                <a:tab pos="2286000" algn="l"/>
                <a:tab pos="2743200" algn="l"/>
                <a:tab pos="3200400" algn="l"/>
                <a:tab pos="3657600" algn="l"/>
              </a:tabLs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eaLnBrk="0" hangingPunct="0">
              <a:tabLst>
                <a:tab pos="457200" algn="l"/>
                <a:tab pos="914400" algn="l"/>
                <a:tab pos="1371600" algn="l"/>
                <a:tab pos="1779588" algn="l"/>
                <a:tab pos="2286000" algn="l"/>
                <a:tab pos="2743200" algn="l"/>
                <a:tab pos="3200400" algn="l"/>
                <a:tab pos="3657600" algn="l"/>
              </a:tabLs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eaLnBrk="0" hangingPunct="0">
              <a:tabLst>
                <a:tab pos="457200" algn="l"/>
                <a:tab pos="914400" algn="l"/>
                <a:tab pos="1371600" algn="l"/>
                <a:tab pos="1779588" algn="l"/>
                <a:tab pos="2286000" algn="l"/>
                <a:tab pos="2743200" algn="l"/>
                <a:tab pos="3200400" algn="l"/>
                <a:tab pos="3657600" algn="l"/>
              </a:tabLs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eaLnBrk="0" hangingPunct="0">
              <a:tabLst>
                <a:tab pos="457200" algn="l"/>
                <a:tab pos="914400" algn="l"/>
                <a:tab pos="1371600" algn="l"/>
                <a:tab pos="1779588" algn="l"/>
                <a:tab pos="2286000" algn="l"/>
                <a:tab pos="2743200" algn="l"/>
                <a:tab pos="3200400" algn="l"/>
                <a:tab pos="3657600" algn="l"/>
              </a:tabLs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779588" algn="l"/>
                <a:tab pos="2286000" algn="l"/>
                <a:tab pos="2743200" algn="l"/>
                <a:tab pos="3200400" algn="l"/>
                <a:tab pos="3657600" algn="l"/>
              </a:tabLs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779588" algn="l"/>
                <a:tab pos="2286000" algn="l"/>
                <a:tab pos="2743200" algn="l"/>
                <a:tab pos="3200400" algn="l"/>
                <a:tab pos="3657600" algn="l"/>
              </a:tabLs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779588" algn="l"/>
                <a:tab pos="2286000" algn="l"/>
                <a:tab pos="2743200" algn="l"/>
                <a:tab pos="3200400" algn="l"/>
                <a:tab pos="3657600" algn="l"/>
              </a:tabLs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779588" algn="l"/>
                <a:tab pos="2286000" algn="l"/>
                <a:tab pos="2743200" algn="l"/>
                <a:tab pos="3200400" algn="l"/>
                <a:tab pos="3657600" algn="l"/>
              </a:tabLs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CA" altLang="en-US">
                <a:solidFill>
                  <a:schemeClr val="hlink"/>
                </a:solidFill>
              </a:rPr>
              <a:t>1	     2       3        4        5	     6	      7</a:t>
            </a:r>
          </a:p>
        </p:txBody>
      </p:sp>
      <p:sp>
        <p:nvSpPr>
          <p:cNvPr id="66571" name="Rectangle 4">
            <a:extLst>
              <a:ext uri="{FF2B5EF4-FFF2-40B4-BE49-F238E27FC236}">
                <a16:creationId xmlns:a16="http://schemas.microsoft.com/office/drawing/2014/main" id="{3ACE6136-FF07-06AE-5CED-2D9487134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4784" y="0"/>
            <a:ext cx="8783216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CA" altLang="en-US" sz="4000" dirty="0">
                <a:solidFill>
                  <a:schemeClr val="bg1"/>
                </a:solidFill>
              </a:rPr>
              <a:t>Drug Accumulation to Steady State</a:t>
            </a:r>
            <a:endParaRPr lang="fr-CA" altLang="en-US" sz="4000" dirty="0">
              <a:solidFill>
                <a:schemeClr val="bg1"/>
              </a:solidFill>
            </a:endParaRPr>
          </a:p>
        </p:txBody>
      </p:sp>
      <p:sp>
        <p:nvSpPr>
          <p:cNvPr id="66572" name="Line 12">
            <a:extLst>
              <a:ext uri="{FF2B5EF4-FFF2-40B4-BE49-F238E27FC236}">
                <a16:creationId xmlns:a16="http://schemas.microsoft.com/office/drawing/2014/main" id="{8CB457AD-503C-52A8-2940-83D8267CE3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3613" y="4868863"/>
            <a:ext cx="144462" cy="1223962"/>
          </a:xfrm>
          <a:prstGeom prst="line">
            <a:avLst/>
          </a:prstGeom>
          <a:noFill/>
          <a:ln w="381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574" name="Line 14">
            <a:extLst>
              <a:ext uri="{FF2B5EF4-FFF2-40B4-BE49-F238E27FC236}">
                <a16:creationId xmlns:a16="http://schemas.microsoft.com/office/drawing/2014/main" id="{8B4589F9-9AE8-66EC-9D87-A7C116CA47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24338" y="4292601"/>
            <a:ext cx="144462" cy="1223963"/>
          </a:xfrm>
          <a:prstGeom prst="line">
            <a:avLst/>
          </a:prstGeom>
          <a:noFill/>
          <a:ln w="381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580" name="Line 20">
            <a:extLst>
              <a:ext uri="{FF2B5EF4-FFF2-40B4-BE49-F238E27FC236}">
                <a16:creationId xmlns:a16="http://schemas.microsoft.com/office/drawing/2014/main" id="{A4084A2F-9A41-327E-C649-5E2C882B6F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16501" y="3933826"/>
            <a:ext cx="144463" cy="1223963"/>
          </a:xfrm>
          <a:prstGeom prst="line">
            <a:avLst/>
          </a:prstGeom>
          <a:noFill/>
          <a:ln w="381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584" name="Freeform 24">
            <a:extLst>
              <a:ext uri="{FF2B5EF4-FFF2-40B4-BE49-F238E27FC236}">
                <a16:creationId xmlns:a16="http://schemas.microsoft.com/office/drawing/2014/main" id="{CDB293DA-EDA6-8A20-7CD6-513C48D7F775}"/>
              </a:ext>
            </a:extLst>
          </p:cNvPr>
          <p:cNvSpPr>
            <a:spLocks/>
          </p:cNvSpPr>
          <p:nvPr/>
        </p:nvSpPr>
        <p:spPr bwMode="auto">
          <a:xfrm>
            <a:off x="3648076" y="4868863"/>
            <a:ext cx="576263" cy="647700"/>
          </a:xfrm>
          <a:custGeom>
            <a:avLst/>
            <a:gdLst>
              <a:gd name="T0" fmla="*/ 0 w 363"/>
              <a:gd name="T1" fmla="*/ 0 h 408"/>
              <a:gd name="T2" fmla="*/ 136 w 363"/>
              <a:gd name="T3" fmla="*/ 272 h 408"/>
              <a:gd name="T4" fmla="*/ 363 w 363"/>
              <a:gd name="T5" fmla="*/ 408 h 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3" h="408">
                <a:moveTo>
                  <a:pt x="0" y="0"/>
                </a:moveTo>
                <a:cubicBezTo>
                  <a:pt x="38" y="102"/>
                  <a:pt x="76" y="204"/>
                  <a:pt x="136" y="272"/>
                </a:cubicBezTo>
                <a:cubicBezTo>
                  <a:pt x="196" y="340"/>
                  <a:pt x="279" y="374"/>
                  <a:pt x="363" y="408"/>
                </a:cubicBezTo>
              </a:path>
            </a:pathLst>
          </a:custGeom>
          <a:noFill/>
          <a:ln w="38100" cap="sq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585" name="Freeform 25">
            <a:extLst>
              <a:ext uri="{FF2B5EF4-FFF2-40B4-BE49-F238E27FC236}">
                <a16:creationId xmlns:a16="http://schemas.microsoft.com/office/drawing/2014/main" id="{A6667613-1129-C0A8-DA12-1E200A90C3FC}"/>
              </a:ext>
            </a:extLst>
          </p:cNvPr>
          <p:cNvSpPr>
            <a:spLocks/>
          </p:cNvSpPr>
          <p:nvPr/>
        </p:nvSpPr>
        <p:spPr bwMode="auto">
          <a:xfrm>
            <a:off x="4367214" y="4292600"/>
            <a:ext cx="649287" cy="865188"/>
          </a:xfrm>
          <a:custGeom>
            <a:avLst/>
            <a:gdLst>
              <a:gd name="T0" fmla="*/ 0 w 363"/>
              <a:gd name="T1" fmla="*/ 0 h 408"/>
              <a:gd name="T2" fmla="*/ 136 w 363"/>
              <a:gd name="T3" fmla="*/ 272 h 408"/>
              <a:gd name="T4" fmla="*/ 363 w 363"/>
              <a:gd name="T5" fmla="*/ 408 h 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3" h="408">
                <a:moveTo>
                  <a:pt x="0" y="0"/>
                </a:moveTo>
                <a:cubicBezTo>
                  <a:pt x="38" y="102"/>
                  <a:pt x="76" y="204"/>
                  <a:pt x="136" y="272"/>
                </a:cubicBezTo>
                <a:cubicBezTo>
                  <a:pt x="196" y="340"/>
                  <a:pt x="279" y="374"/>
                  <a:pt x="363" y="408"/>
                </a:cubicBezTo>
              </a:path>
            </a:pathLst>
          </a:custGeom>
          <a:noFill/>
          <a:ln w="38100" cap="sq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586" name="Freeform 26">
            <a:extLst>
              <a:ext uri="{FF2B5EF4-FFF2-40B4-BE49-F238E27FC236}">
                <a16:creationId xmlns:a16="http://schemas.microsoft.com/office/drawing/2014/main" id="{CAC54D73-24D2-E640-0B14-D29135392AB2}"/>
              </a:ext>
            </a:extLst>
          </p:cNvPr>
          <p:cNvSpPr>
            <a:spLocks/>
          </p:cNvSpPr>
          <p:nvPr/>
        </p:nvSpPr>
        <p:spPr bwMode="auto">
          <a:xfrm>
            <a:off x="5159375" y="3933825"/>
            <a:ext cx="649288" cy="1079500"/>
          </a:xfrm>
          <a:custGeom>
            <a:avLst/>
            <a:gdLst>
              <a:gd name="T0" fmla="*/ 0 w 363"/>
              <a:gd name="T1" fmla="*/ 0 h 408"/>
              <a:gd name="T2" fmla="*/ 136 w 363"/>
              <a:gd name="T3" fmla="*/ 272 h 408"/>
              <a:gd name="T4" fmla="*/ 363 w 363"/>
              <a:gd name="T5" fmla="*/ 408 h 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3" h="408">
                <a:moveTo>
                  <a:pt x="0" y="0"/>
                </a:moveTo>
                <a:cubicBezTo>
                  <a:pt x="38" y="102"/>
                  <a:pt x="76" y="204"/>
                  <a:pt x="136" y="272"/>
                </a:cubicBezTo>
                <a:cubicBezTo>
                  <a:pt x="196" y="340"/>
                  <a:pt x="279" y="374"/>
                  <a:pt x="363" y="408"/>
                </a:cubicBezTo>
              </a:path>
            </a:pathLst>
          </a:custGeom>
          <a:noFill/>
          <a:ln w="38100" cap="sq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587" name="Text Box 27">
            <a:extLst>
              <a:ext uri="{FF2B5EF4-FFF2-40B4-BE49-F238E27FC236}">
                <a16:creationId xmlns:a16="http://schemas.microsoft.com/office/drawing/2014/main" id="{87F886BB-E894-DAC7-6CD7-722BC72B8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1313" y="1557339"/>
            <a:ext cx="61266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altLang="en-US" sz="2000">
                <a:solidFill>
                  <a:schemeClr val="hlink"/>
                </a:solidFill>
                <a:sym typeface="Wingdings" panose="05000000000000000000" pitchFamily="2" charset="2"/>
              </a:rPr>
              <a:t>50</a:t>
            </a:r>
            <a:br>
              <a:rPr lang="en-CA" altLang="en-US" sz="2000">
                <a:solidFill>
                  <a:schemeClr val="hlink"/>
                </a:solidFill>
                <a:sym typeface="Wingdings" panose="05000000000000000000" pitchFamily="2" charset="2"/>
              </a:rPr>
            </a:br>
            <a:r>
              <a:rPr lang="en-CA" altLang="en-US" sz="2000" u="sng">
                <a:solidFill>
                  <a:schemeClr val="hlink"/>
                </a:solidFill>
                <a:sym typeface="Wingdings" panose="05000000000000000000" pitchFamily="2" charset="2"/>
              </a:rPr>
              <a:t>100</a:t>
            </a:r>
          </a:p>
          <a:p>
            <a:r>
              <a:rPr lang="en-CA" altLang="en-US" sz="2000">
                <a:solidFill>
                  <a:schemeClr val="hlink"/>
                </a:solidFill>
                <a:sym typeface="Wingdings" panose="05000000000000000000" pitchFamily="2" charset="2"/>
              </a:rPr>
              <a:t>150</a:t>
            </a:r>
            <a:endParaRPr lang="en-CA" altLang="en-US" sz="2000">
              <a:solidFill>
                <a:schemeClr val="hlink"/>
              </a:solidFill>
            </a:endParaRPr>
          </a:p>
        </p:txBody>
      </p:sp>
      <p:sp>
        <p:nvSpPr>
          <p:cNvPr id="66588" name="Text Box 28">
            <a:extLst>
              <a:ext uri="{FF2B5EF4-FFF2-40B4-BE49-F238E27FC236}">
                <a16:creationId xmlns:a16="http://schemas.microsoft.com/office/drawing/2014/main" id="{5A8E5042-A0E6-186B-9438-E1E90D2AD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2038" y="1700214"/>
            <a:ext cx="61266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altLang="en-US" sz="2000">
                <a:solidFill>
                  <a:schemeClr val="hlink"/>
                </a:solidFill>
                <a:sym typeface="Wingdings" panose="05000000000000000000" pitchFamily="2" charset="2"/>
              </a:rPr>
              <a:t>75</a:t>
            </a:r>
            <a:br>
              <a:rPr lang="en-CA" altLang="en-US" sz="2000">
                <a:solidFill>
                  <a:schemeClr val="hlink"/>
                </a:solidFill>
                <a:sym typeface="Wingdings" panose="05000000000000000000" pitchFamily="2" charset="2"/>
              </a:rPr>
            </a:br>
            <a:r>
              <a:rPr lang="en-CA" altLang="en-US" sz="2000" u="sng">
                <a:solidFill>
                  <a:schemeClr val="hlink"/>
                </a:solidFill>
                <a:sym typeface="Wingdings" panose="05000000000000000000" pitchFamily="2" charset="2"/>
              </a:rPr>
              <a:t>100</a:t>
            </a:r>
          </a:p>
          <a:p>
            <a:r>
              <a:rPr lang="en-CA" altLang="en-US" sz="2000">
                <a:solidFill>
                  <a:schemeClr val="hlink"/>
                </a:solidFill>
                <a:sym typeface="Wingdings" panose="05000000000000000000" pitchFamily="2" charset="2"/>
              </a:rPr>
              <a:t>175</a:t>
            </a:r>
            <a:endParaRPr lang="en-CA" altLang="en-US" sz="2000">
              <a:solidFill>
                <a:schemeClr val="hlink"/>
              </a:solidFill>
            </a:endParaRPr>
          </a:p>
        </p:txBody>
      </p:sp>
      <p:sp>
        <p:nvSpPr>
          <p:cNvPr id="66589" name="Text Box 29">
            <a:extLst>
              <a:ext uri="{FF2B5EF4-FFF2-40B4-BE49-F238E27FC236}">
                <a16:creationId xmlns:a16="http://schemas.microsoft.com/office/drawing/2014/main" id="{B8950776-705C-326A-77A9-48A90286EF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1176" y="1844676"/>
            <a:ext cx="82586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altLang="en-US" sz="2000">
                <a:solidFill>
                  <a:schemeClr val="hlink"/>
                </a:solidFill>
                <a:sym typeface="Wingdings" panose="05000000000000000000" pitchFamily="2" charset="2"/>
              </a:rPr>
              <a:t>87,5</a:t>
            </a:r>
            <a:br>
              <a:rPr lang="en-CA" altLang="en-US" sz="2000">
                <a:solidFill>
                  <a:schemeClr val="hlink"/>
                </a:solidFill>
                <a:sym typeface="Wingdings" panose="05000000000000000000" pitchFamily="2" charset="2"/>
              </a:rPr>
            </a:br>
            <a:r>
              <a:rPr lang="en-CA" altLang="en-US" sz="2000" u="sng">
                <a:solidFill>
                  <a:schemeClr val="hlink"/>
                </a:solidFill>
                <a:sym typeface="Wingdings" panose="05000000000000000000" pitchFamily="2" charset="2"/>
              </a:rPr>
              <a:t>100</a:t>
            </a:r>
          </a:p>
          <a:p>
            <a:r>
              <a:rPr lang="en-CA" altLang="en-US" sz="2000">
                <a:solidFill>
                  <a:schemeClr val="hlink"/>
                </a:solidFill>
                <a:sym typeface="Wingdings" panose="05000000000000000000" pitchFamily="2" charset="2"/>
              </a:rPr>
              <a:t>187,5</a:t>
            </a:r>
            <a:endParaRPr lang="en-CA" altLang="en-US" sz="2000">
              <a:solidFill>
                <a:schemeClr val="hlink"/>
              </a:solidFill>
            </a:endParaRPr>
          </a:p>
        </p:txBody>
      </p:sp>
      <p:sp>
        <p:nvSpPr>
          <p:cNvPr id="66590" name="Text Box 30">
            <a:extLst>
              <a:ext uri="{FF2B5EF4-FFF2-40B4-BE49-F238E27FC236}">
                <a16:creationId xmlns:a16="http://schemas.microsoft.com/office/drawing/2014/main" id="{0B52D376-A89D-2230-02E7-4853B03825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339" y="1989139"/>
            <a:ext cx="96853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altLang="en-US" sz="2000">
                <a:solidFill>
                  <a:schemeClr val="hlink"/>
                </a:solidFill>
                <a:sym typeface="Wingdings" panose="05000000000000000000" pitchFamily="2" charset="2"/>
              </a:rPr>
              <a:t>93,75</a:t>
            </a:r>
            <a:br>
              <a:rPr lang="en-CA" altLang="en-US" sz="2000">
                <a:solidFill>
                  <a:schemeClr val="hlink"/>
                </a:solidFill>
                <a:sym typeface="Wingdings" panose="05000000000000000000" pitchFamily="2" charset="2"/>
              </a:rPr>
            </a:br>
            <a:r>
              <a:rPr lang="en-CA" altLang="en-US" sz="2000" u="sng">
                <a:solidFill>
                  <a:schemeClr val="hlink"/>
                </a:solidFill>
                <a:sym typeface="Wingdings" panose="05000000000000000000" pitchFamily="2" charset="2"/>
              </a:rPr>
              <a:t>100</a:t>
            </a:r>
          </a:p>
          <a:p>
            <a:r>
              <a:rPr lang="en-CA" altLang="en-US" sz="2000">
                <a:solidFill>
                  <a:schemeClr val="hlink"/>
                </a:solidFill>
                <a:sym typeface="Wingdings" panose="05000000000000000000" pitchFamily="2" charset="2"/>
              </a:rPr>
              <a:t>193,75</a:t>
            </a:r>
            <a:endParaRPr lang="en-CA" altLang="en-US" sz="2000">
              <a:solidFill>
                <a:schemeClr val="hlink"/>
              </a:solidFill>
            </a:endParaRPr>
          </a:p>
        </p:txBody>
      </p:sp>
      <p:sp>
        <p:nvSpPr>
          <p:cNvPr id="66591" name="Line 31">
            <a:extLst>
              <a:ext uri="{FF2B5EF4-FFF2-40B4-BE49-F238E27FC236}">
                <a16:creationId xmlns:a16="http://schemas.microsoft.com/office/drawing/2014/main" id="{DB4F3F77-2DB1-BFD5-B28E-EBC094534C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08663" y="3789363"/>
            <a:ext cx="144462" cy="1223962"/>
          </a:xfrm>
          <a:prstGeom prst="line">
            <a:avLst/>
          </a:prstGeom>
          <a:noFill/>
          <a:ln w="381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592" name="Freeform 32">
            <a:extLst>
              <a:ext uri="{FF2B5EF4-FFF2-40B4-BE49-F238E27FC236}">
                <a16:creationId xmlns:a16="http://schemas.microsoft.com/office/drawing/2014/main" id="{6940631A-8859-F22C-7A3B-5166B9EC63FA}"/>
              </a:ext>
            </a:extLst>
          </p:cNvPr>
          <p:cNvSpPr>
            <a:spLocks/>
          </p:cNvSpPr>
          <p:nvPr/>
        </p:nvSpPr>
        <p:spPr bwMode="auto">
          <a:xfrm>
            <a:off x="5951539" y="3789364"/>
            <a:ext cx="649287" cy="1152525"/>
          </a:xfrm>
          <a:custGeom>
            <a:avLst/>
            <a:gdLst>
              <a:gd name="T0" fmla="*/ 0 w 363"/>
              <a:gd name="T1" fmla="*/ 0 h 408"/>
              <a:gd name="T2" fmla="*/ 136 w 363"/>
              <a:gd name="T3" fmla="*/ 272 h 408"/>
              <a:gd name="T4" fmla="*/ 363 w 363"/>
              <a:gd name="T5" fmla="*/ 408 h 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3" h="408">
                <a:moveTo>
                  <a:pt x="0" y="0"/>
                </a:moveTo>
                <a:cubicBezTo>
                  <a:pt x="38" y="102"/>
                  <a:pt x="76" y="204"/>
                  <a:pt x="136" y="272"/>
                </a:cubicBezTo>
                <a:cubicBezTo>
                  <a:pt x="196" y="340"/>
                  <a:pt x="279" y="374"/>
                  <a:pt x="363" y="408"/>
                </a:cubicBezTo>
              </a:path>
            </a:pathLst>
          </a:custGeom>
          <a:noFill/>
          <a:ln w="38100" cap="sq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593" name="Line 33">
            <a:extLst>
              <a:ext uri="{FF2B5EF4-FFF2-40B4-BE49-F238E27FC236}">
                <a16:creationId xmlns:a16="http://schemas.microsoft.com/office/drawing/2014/main" id="{2499EEB7-706B-87D8-107D-18F633EFD3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00826" y="3716338"/>
            <a:ext cx="144463" cy="1223962"/>
          </a:xfrm>
          <a:prstGeom prst="line">
            <a:avLst/>
          </a:prstGeom>
          <a:noFill/>
          <a:ln w="381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594" name="Freeform 34">
            <a:extLst>
              <a:ext uri="{FF2B5EF4-FFF2-40B4-BE49-F238E27FC236}">
                <a16:creationId xmlns:a16="http://schemas.microsoft.com/office/drawing/2014/main" id="{633C3366-715B-E1D9-E360-EE9C0642CAE7}"/>
              </a:ext>
            </a:extLst>
          </p:cNvPr>
          <p:cNvSpPr>
            <a:spLocks/>
          </p:cNvSpPr>
          <p:nvPr/>
        </p:nvSpPr>
        <p:spPr bwMode="auto">
          <a:xfrm>
            <a:off x="6743701" y="3716338"/>
            <a:ext cx="625475" cy="1198562"/>
          </a:xfrm>
          <a:custGeom>
            <a:avLst/>
            <a:gdLst>
              <a:gd name="T0" fmla="*/ 0 w 363"/>
              <a:gd name="T1" fmla="*/ 0 h 408"/>
              <a:gd name="T2" fmla="*/ 136 w 363"/>
              <a:gd name="T3" fmla="*/ 272 h 408"/>
              <a:gd name="T4" fmla="*/ 363 w 363"/>
              <a:gd name="T5" fmla="*/ 408 h 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3" h="408">
                <a:moveTo>
                  <a:pt x="0" y="0"/>
                </a:moveTo>
                <a:cubicBezTo>
                  <a:pt x="38" y="102"/>
                  <a:pt x="76" y="204"/>
                  <a:pt x="136" y="272"/>
                </a:cubicBezTo>
                <a:cubicBezTo>
                  <a:pt x="196" y="340"/>
                  <a:pt x="279" y="374"/>
                  <a:pt x="363" y="408"/>
                </a:cubicBezTo>
              </a:path>
            </a:pathLst>
          </a:custGeom>
          <a:noFill/>
          <a:ln w="38100" cap="sq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595" name="Text Box 35">
            <a:extLst>
              <a:ext uri="{FF2B5EF4-FFF2-40B4-BE49-F238E27FC236}">
                <a16:creationId xmlns:a16="http://schemas.microsoft.com/office/drawing/2014/main" id="{2D7D3640-E5A1-2A6B-69C3-FD7D41A8F7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9963" y="2133601"/>
            <a:ext cx="111120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altLang="en-US" sz="2000">
                <a:solidFill>
                  <a:schemeClr val="hlink"/>
                </a:solidFill>
                <a:sym typeface="Wingdings" panose="05000000000000000000" pitchFamily="2" charset="2"/>
              </a:rPr>
              <a:t>96,875</a:t>
            </a:r>
            <a:br>
              <a:rPr lang="en-CA" altLang="en-US" sz="2000">
                <a:solidFill>
                  <a:schemeClr val="hlink"/>
                </a:solidFill>
                <a:sym typeface="Wingdings" panose="05000000000000000000" pitchFamily="2" charset="2"/>
              </a:rPr>
            </a:br>
            <a:r>
              <a:rPr lang="en-CA" altLang="en-US" sz="2000" u="sng">
                <a:solidFill>
                  <a:schemeClr val="hlink"/>
                </a:solidFill>
                <a:sym typeface="Wingdings" panose="05000000000000000000" pitchFamily="2" charset="2"/>
              </a:rPr>
              <a:t>100</a:t>
            </a:r>
          </a:p>
          <a:p>
            <a:r>
              <a:rPr lang="en-CA" altLang="en-US" sz="2000">
                <a:solidFill>
                  <a:schemeClr val="hlink"/>
                </a:solidFill>
                <a:sym typeface="Wingdings" panose="05000000000000000000" pitchFamily="2" charset="2"/>
              </a:rPr>
              <a:t>196,875</a:t>
            </a:r>
            <a:endParaRPr lang="en-CA" altLang="en-US" sz="2000">
              <a:solidFill>
                <a:schemeClr val="hlink"/>
              </a:solidFill>
            </a:endParaRPr>
          </a:p>
        </p:txBody>
      </p:sp>
      <p:sp>
        <p:nvSpPr>
          <p:cNvPr id="66596" name="Line 36">
            <a:extLst>
              <a:ext uri="{FF2B5EF4-FFF2-40B4-BE49-F238E27FC236}">
                <a16:creationId xmlns:a16="http://schemas.microsoft.com/office/drawing/2014/main" id="{3BA74C90-5CC1-66CE-B519-9AB2F69E56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7751" y="3689351"/>
            <a:ext cx="144463" cy="1223963"/>
          </a:xfrm>
          <a:prstGeom prst="line">
            <a:avLst/>
          </a:prstGeom>
          <a:noFill/>
          <a:ln w="381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597" name="Text Box 37">
            <a:extLst>
              <a:ext uri="{FF2B5EF4-FFF2-40B4-BE49-F238E27FC236}">
                <a16:creationId xmlns:a16="http://schemas.microsoft.com/office/drawing/2014/main" id="{F1D5E3D4-F614-1248-EDB1-0D58A0E51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6589" y="2276476"/>
            <a:ext cx="1253869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altLang="en-US" sz="2000">
                <a:solidFill>
                  <a:schemeClr val="hlink"/>
                </a:solidFill>
                <a:sym typeface="Wingdings" panose="05000000000000000000" pitchFamily="2" charset="2"/>
              </a:rPr>
              <a:t>98,4375</a:t>
            </a:r>
            <a:br>
              <a:rPr lang="en-CA" altLang="en-US" sz="2000">
                <a:solidFill>
                  <a:schemeClr val="hlink"/>
                </a:solidFill>
                <a:sym typeface="Wingdings" panose="05000000000000000000" pitchFamily="2" charset="2"/>
              </a:rPr>
            </a:br>
            <a:r>
              <a:rPr lang="en-CA" altLang="en-US" sz="2000" u="sng">
                <a:solidFill>
                  <a:schemeClr val="hlink"/>
                </a:solidFill>
                <a:sym typeface="Wingdings" panose="05000000000000000000" pitchFamily="2" charset="2"/>
              </a:rPr>
              <a:t>100</a:t>
            </a:r>
          </a:p>
          <a:p>
            <a:r>
              <a:rPr lang="en-CA" altLang="en-US" sz="2000">
                <a:solidFill>
                  <a:schemeClr val="hlink"/>
                </a:solidFill>
                <a:sym typeface="Wingdings" panose="05000000000000000000" pitchFamily="2" charset="2"/>
              </a:rPr>
              <a:t>198,4375</a:t>
            </a:r>
            <a:endParaRPr lang="en-CA" altLang="en-US" sz="2000">
              <a:solidFill>
                <a:schemeClr val="hlink"/>
              </a:solidFill>
            </a:endParaRPr>
          </a:p>
        </p:txBody>
      </p:sp>
      <p:sp>
        <p:nvSpPr>
          <p:cNvPr id="66598" name="Freeform 38">
            <a:extLst>
              <a:ext uri="{FF2B5EF4-FFF2-40B4-BE49-F238E27FC236}">
                <a16:creationId xmlns:a16="http://schemas.microsoft.com/office/drawing/2014/main" id="{5A57718A-0A0F-37CE-866D-84F89A2DD5F1}"/>
              </a:ext>
            </a:extLst>
          </p:cNvPr>
          <p:cNvSpPr>
            <a:spLocks/>
          </p:cNvSpPr>
          <p:nvPr/>
        </p:nvSpPr>
        <p:spPr bwMode="auto">
          <a:xfrm>
            <a:off x="7545389" y="3711576"/>
            <a:ext cx="625475" cy="1198563"/>
          </a:xfrm>
          <a:custGeom>
            <a:avLst/>
            <a:gdLst>
              <a:gd name="T0" fmla="*/ 0 w 363"/>
              <a:gd name="T1" fmla="*/ 0 h 408"/>
              <a:gd name="T2" fmla="*/ 136 w 363"/>
              <a:gd name="T3" fmla="*/ 272 h 408"/>
              <a:gd name="T4" fmla="*/ 363 w 363"/>
              <a:gd name="T5" fmla="*/ 408 h 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3" h="408">
                <a:moveTo>
                  <a:pt x="0" y="0"/>
                </a:moveTo>
                <a:cubicBezTo>
                  <a:pt x="38" y="102"/>
                  <a:pt x="76" y="204"/>
                  <a:pt x="136" y="272"/>
                </a:cubicBezTo>
                <a:cubicBezTo>
                  <a:pt x="196" y="340"/>
                  <a:pt x="279" y="374"/>
                  <a:pt x="363" y="408"/>
                </a:cubicBezTo>
              </a:path>
            </a:pathLst>
          </a:custGeom>
          <a:noFill/>
          <a:ln w="38100" cap="sq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599" name="Line 39">
            <a:extLst>
              <a:ext uri="{FF2B5EF4-FFF2-40B4-BE49-F238E27FC236}">
                <a16:creationId xmlns:a16="http://schemas.microsoft.com/office/drawing/2014/main" id="{9074A0E7-EBD5-687B-AD3F-68791FD488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99438" y="3684588"/>
            <a:ext cx="144462" cy="1223962"/>
          </a:xfrm>
          <a:prstGeom prst="line">
            <a:avLst/>
          </a:prstGeom>
          <a:noFill/>
          <a:ln w="381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600" name="Line 40">
            <a:extLst>
              <a:ext uri="{FF2B5EF4-FFF2-40B4-BE49-F238E27FC236}">
                <a16:creationId xmlns:a16="http://schemas.microsoft.com/office/drawing/2014/main" id="{3E09F7D7-C188-B3B3-958A-0BEE929450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56139" y="1989138"/>
            <a:ext cx="287337" cy="360362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602" name="Line 42">
            <a:extLst>
              <a:ext uri="{FF2B5EF4-FFF2-40B4-BE49-F238E27FC236}">
                <a16:creationId xmlns:a16="http://schemas.microsoft.com/office/drawing/2014/main" id="{90DED41C-1DAC-6C8A-F39A-33D0A0B1E8B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75276" y="2060575"/>
            <a:ext cx="288925" cy="431800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603" name="Line 43">
            <a:extLst>
              <a:ext uri="{FF2B5EF4-FFF2-40B4-BE49-F238E27FC236}">
                <a16:creationId xmlns:a16="http://schemas.microsoft.com/office/drawing/2014/main" id="{310C79D5-CA6D-3A7E-3DD1-CB7D7A066E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0464" y="2276475"/>
            <a:ext cx="288925" cy="431800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604" name="Line 44">
            <a:extLst>
              <a:ext uri="{FF2B5EF4-FFF2-40B4-BE49-F238E27FC236}">
                <a16:creationId xmlns:a16="http://schemas.microsoft.com/office/drawing/2014/main" id="{340ACB39-CEE0-D064-BFA5-0AA93D1468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75501" y="2420938"/>
            <a:ext cx="288925" cy="431800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605" name="Line 45">
            <a:extLst>
              <a:ext uri="{FF2B5EF4-FFF2-40B4-BE49-F238E27FC236}">
                <a16:creationId xmlns:a16="http://schemas.microsoft.com/office/drawing/2014/main" id="{D6A011D9-E3A7-EADC-3364-27ECFDE883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83563" y="2492376"/>
            <a:ext cx="146050" cy="288925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606" name="Line 46">
            <a:extLst>
              <a:ext uri="{FF2B5EF4-FFF2-40B4-BE49-F238E27FC236}">
                <a16:creationId xmlns:a16="http://schemas.microsoft.com/office/drawing/2014/main" id="{A8E781FC-C67D-4B1E-D5E2-EB98D4A890C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4338" y="5516563"/>
            <a:ext cx="0" cy="576262"/>
          </a:xfrm>
          <a:prstGeom prst="line">
            <a:avLst/>
          </a:prstGeom>
          <a:noFill/>
          <a:ln w="38100" cap="sq">
            <a:solidFill>
              <a:srgbClr val="000000"/>
            </a:solidFill>
            <a:round/>
            <a:headEnd type="arrow" w="lg" len="sm"/>
            <a:tailEnd type="arrow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607" name="Text Box 47">
            <a:extLst>
              <a:ext uri="{FF2B5EF4-FFF2-40B4-BE49-F238E27FC236}">
                <a16:creationId xmlns:a16="http://schemas.microsoft.com/office/drawing/2014/main" id="{A1BAAA0B-1066-A88A-6A8D-87C9C4B702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5138" y="5537200"/>
            <a:ext cx="441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altLang="en-US">
                <a:solidFill>
                  <a:schemeClr val="hlink"/>
                </a:solidFill>
              </a:rPr>
              <a:t>50</a:t>
            </a:r>
          </a:p>
        </p:txBody>
      </p:sp>
      <p:sp>
        <p:nvSpPr>
          <p:cNvPr id="66608" name="Line 48">
            <a:extLst>
              <a:ext uri="{FF2B5EF4-FFF2-40B4-BE49-F238E27FC236}">
                <a16:creationId xmlns:a16="http://schemas.microsoft.com/office/drawing/2014/main" id="{455E7F61-2367-B9BC-7F66-9D1B1E3B4AF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4338" y="5516563"/>
            <a:ext cx="1008062" cy="0"/>
          </a:xfrm>
          <a:prstGeom prst="line">
            <a:avLst/>
          </a:prstGeom>
          <a:noFill/>
          <a:ln w="12700" cap="sq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609" name="Line 49">
            <a:extLst>
              <a:ext uri="{FF2B5EF4-FFF2-40B4-BE49-F238E27FC236}">
                <a16:creationId xmlns:a16="http://schemas.microsoft.com/office/drawing/2014/main" id="{AEE56A0E-3EE7-D895-DE35-38571BB40418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6500" y="5157789"/>
            <a:ext cx="0" cy="358775"/>
          </a:xfrm>
          <a:prstGeom prst="line">
            <a:avLst/>
          </a:prstGeom>
          <a:noFill/>
          <a:ln w="38100" cap="sq">
            <a:solidFill>
              <a:srgbClr val="000000"/>
            </a:solidFill>
            <a:round/>
            <a:headEnd type="arrow" w="lg" len="sm"/>
            <a:tailEnd type="arrow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610" name="Text Box 50">
            <a:extLst>
              <a:ext uri="{FF2B5EF4-FFF2-40B4-BE49-F238E27FC236}">
                <a16:creationId xmlns:a16="http://schemas.microsoft.com/office/drawing/2014/main" id="{0B1A617A-8B08-8BF1-3D1E-C13A2754F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7938" y="5084763"/>
            <a:ext cx="441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altLang="en-US">
                <a:solidFill>
                  <a:schemeClr val="hlink"/>
                </a:solidFill>
              </a:rPr>
              <a:t>25</a:t>
            </a:r>
          </a:p>
        </p:txBody>
      </p:sp>
      <p:sp>
        <p:nvSpPr>
          <p:cNvPr id="66611" name="Line 51">
            <a:extLst>
              <a:ext uri="{FF2B5EF4-FFF2-40B4-BE49-F238E27FC236}">
                <a16:creationId xmlns:a16="http://schemas.microsoft.com/office/drawing/2014/main" id="{A05C3745-D670-204F-56D4-4A50282EF6F6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6501" y="5157788"/>
            <a:ext cx="1008063" cy="0"/>
          </a:xfrm>
          <a:prstGeom prst="line">
            <a:avLst/>
          </a:prstGeom>
          <a:noFill/>
          <a:ln w="12700" cap="sq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612" name="Line 52">
            <a:extLst>
              <a:ext uri="{FF2B5EF4-FFF2-40B4-BE49-F238E27FC236}">
                <a16:creationId xmlns:a16="http://schemas.microsoft.com/office/drawing/2014/main" id="{149EA92C-B206-7C33-4D68-A496DF6253C2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8663" y="5013326"/>
            <a:ext cx="0" cy="144463"/>
          </a:xfrm>
          <a:prstGeom prst="line">
            <a:avLst/>
          </a:prstGeom>
          <a:noFill/>
          <a:ln w="38100" cap="sq">
            <a:solidFill>
              <a:srgbClr val="000000"/>
            </a:solidFill>
            <a:round/>
            <a:headEnd type="arrow" w="lg" len="sm"/>
            <a:tailEnd type="arrow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613" name="Text Box 53">
            <a:extLst>
              <a:ext uri="{FF2B5EF4-FFF2-40B4-BE49-F238E27FC236}">
                <a16:creationId xmlns:a16="http://schemas.microsoft.com/office/drawing/2014/main" id="{FE0F1509-72DE-789C-22B2-986904CD4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0100" y="4797425"/>
            <a:ext cx="63350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altLang="en-US">
                <a:solidFill>
                  <a:schemeClr val="hlink"/>
                </a:solidFill>
              </a:rPr>
              <a:t>12.5</a:t>
            </a:r>
          </a:p>
        </p:txBody>
      </p:sp>
      <p:sp>
        <p:nvSpPr>
          <p:cNvPr id="66614" name="Text Box 54">
            <a:extLst>
              <a:ext uri="{FF2B5EF4-FFF2-40B4-BE49-F238E27FC236}">
                <a16:creationId xmlns:a16="http://schemas.microsoft.com/office/drawing/2014/main" id="{10D14AA9-DCE6-3092-E987-2BB738E4E3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1557338"/>
            <a:ext cx="61266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altLang="en-US" sz="2000">
                <a:solidFill>
                  <a:schemeClr val="hlink"/>
                </a:solidFill>
                <a:sym typeface="Wingdings" panose="05000000000000000000" pitchFamily="2" charset="2"/>
              </a:rPr>
              <a:t>100</a:t>
            </a:r>
            <a:endParaRPr lang="en-CA" altLang="en-US" sz="2000">
              <a:solidFill>
                <a:schemeClr val="hlink"/>
              </a:solidFill>
            </a:endParaRPr>
          </a:p>
        </p:txBody>
      </p:sp>
      <p:sp>
        <p:nvSpPr>
          <p:cNvPr id="66615" name="Line 55">
            <a:extLst>
              <a:ext uri="{FF2B5EF4-FFF2-40B4-BE49-F238E27FC236}">
                <a16:creationId xmlns:a16="http://schemas.microsoft.com/office/drawing/2014/main" id="{65794C00-AE53-7191-CADF-92CB6B9586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63976" y="1773238"/>
            <a:ext cx="360363" cy="0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616" name="Rectangle 56">
            <a:extLst>
              <a:ext uri="{FF2B5EF4-FFF2-40B4-BE49-F238E27FC236}">
                <a16:creationId xmlns:a16="http://schemas.microsoft.com/office/drawing/2014/main" id="{9DFC9867-B2F9-AFD3-6345-2FC521768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3" y="1916114"/>
            <a:ext cx="576262" cy="64928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617" name="Rectangle 57">
            <a:extLst>
              <a:ext uri="{FF2B5EF4-FFF2-40B4-BE49-F238E27FC236}">
                <a16:creationId xmlns:a16="http://schemas.microsoft.com/office/drawing/2014/main" id="{D91A22D4-B189-6E4B-3368-71589F720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6" y="2060575"/>
            <a:ext cx="504825" cy="6492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618" name="Rectangle 58">
            <a:extLst>
              <a:ext uri="{FF2B5EF4-FFF2-40B4-BE49-F238E27FC236}">
                <a16:creationId xmlns:a16="http://schemas.microsoft.com/office/drawing/2014/main" id="{D14A5E8C-280C-30E3-6365-B9D5088A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4200" y="2205039"/>
            <a:ext cx="647700" cy="64928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619" name="Rectangle 59">
            <a:extLst>
              <a:ext uri="{FF2B5EF4-FFF2-40B4-BE49-F238E27FC236}">
                <a16:creationId xmlns:a16="http://schemas.microsoft.com/office/drawing/2014/main" id="{F53FD00E-9391-67BE-53DF-9895DA291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2238" y="2365376"/>
            <a:ext cx="703262" cy="6334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620" name="Rectangle 60">
            <a:extLst>
              <a:ext uri="{FF2B5EF4-FFF2-40B4-BE49-F238E27FC236}">
                <a16:creationId xmlns:a16="http://schemas.microsoft.com/office/drawing/2014/main" id="{6F058AC9-E6FF-05F5-42D0-757CBB4AE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2509839"/>
            <a:ext cx="865188" cy="6318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621" name="Rectangle 61">
            <a:extLst>
              <a:ext uri="{FF2B5EF4-FFF2-40B4-BE49-F238E27FC236}">
                <a16:creationId xmlns:a16="http://schemas.microsoft.com/office/drawing/2014/main" id="{8A96F8AC-77C8-C9D3-ABAE-D7A9C7D1A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8025" y="2636839"/>
            <a:ext cx="1081088" cy="64928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87" grpId="0"/>
      <p:bldP spid="66588" grpId="0"/>
      <p:bldP spid="66589" grpId="0"/>
      <p:bldP spid="66590" grpId="0"/>
      <p:bldP spid="66595" grpId="0"/>
      <p:bldP spid="66597" grpId="0"/>
      <p:bldP spid="66607" grpId="0"/>
      <p:bldP spid="66610" grpId="0"/>
      <p:bldP spid="66613" grpId="0"/>
      <p:bldP spid="6661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2">
            <a:extLst>
              <a:ext uri="{FF2B5EF4-FFF2-40B4-BE49-F238E27FC236}">
                <a16:creationId xmlns:a16="http://schemas.microsoft.com/office/drawing/2014/main" id="{0B953713-C08A-C554-3EA8-0849D41D09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060450"/>
            <a:ext cx="10134600" cy="5797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5539" name="Rectangle 4">
            <a:extLst>
              <a:ext uri="{FF2B5EF4-FFF2-40B4-BE49-F238E27FC236}">
                <a16:creationId xmlns:a16="http://schemas.microsoft.com/office/drawing/2014/main" id="{F48E3E65-05AC-59EF-B28F-D41F57E50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0"/>
            <a:ext cx="8839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CA" altLang="en-US" sz="4000" dirty="0">
                <a:solidFill>
                  <a:schemeClr val="bg1"/>
                </a:solidFill>
              </a:rPr>
              <a:t>Drug Accumulation to Steady State</a:t>
            </a:r>
            <a:endParaRPr lang="fr-CA" altLang="en-US" sz="4000" dirty="0">
              <a:solidFill>
                <a:schemeClr val="bg1"/>
              </a:solidFill>
            </a:endParaRPr>
          </a:p>
        </p:txBody>
      </p:sp>
      <p:sp>
        <p:nvSpPr>
          <p:cNvPr id="65540" name="Rectangle 4">
            <a:extLst>
              <a:ext uri="{FF2B5EF4-FFF2-40B4-BE49-F238E27FC236}">
                <a16:creationId xmlns:a16="http://schemas.microsoft.com/office/drawing/2014/main" id="{4CF08E7F-8178-A808-A227-73241E142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7026" y="5791201"/>
            <a:ext cx="5260975" cy="62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fr-CA" altLang="en-US" sz="1800">
                <a:solidFill>
                  <a:schemeClr val="hlink"/>
                </a:solidFill>
                <a:latin typeface="Arial" panose="020B0604020202020204" pitchFamily="34" charset="0"/>
              </a:rPr>
              <a:t>Source: </a:t>
            </a:r>
            <a:r>
              <a:rPr lang="en-US" altLang="en-US" sz="1800">
                <a:solidFill>
                  <a:schemeClr val="hlink"/>
                </a:solidFill>
                <a:latin typeface="Arial" panose="020B0604020202020204" pitchFamily="34" charset="0"/>
              </a:rPr>
              <a:t>Katzung</a:t>
            </a:r>
            <a:r>
              <a:rPr lang="fr-CA" altLang="en-US" sz="1800">
                <a:solidFill>
                  <a:schemeClr val="hlink"/>
                </a:solidFill>
                <a:latin typeface="Arial" panose="020B0604020202020204" pitchFamily="34" charset="0"/>
              </a:rPr>
              <a:t>, Ba</a:t>
            </a:r>
            <a:r>
              <a:rPr lang="en-US" altLang="en-US" sz="1800">
                <a:solidFill>
                  <a:schemeClr val="hlink"/>
                </a:solidFill>
                <a:latin typeface="Arial" panose="020B0604020202020204" pitchFamily="34" charset="0"/>
              </a:rPr>
              <a:t>sic and clinical pharmacology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 descr="N:\numérisation0001.jpg">
            <a:extLst>
              <a:ext uri="{FF2B5EF4-FFF2-40B4-BE49-F238E27FC236}">
                <a16:creationId xmlns:a16="http://schemas.microsoft.com/office/drawing/2014/main" id="{450EE201-8A5F-2C9F-7134-8FE3067F4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5434" y="987425"/>
            <a:ext cx="9121775" cy="587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" name="Titre 3">
            <a:extLst>
              <a:ext uri="{FF2B5EF4-FFF2-40B4-BE49-F238E27FC236}">
                <a16:creationId xmlns:a16="http://schemas.microsoft.com/office/drawing/2014/main" id="{F6649A43-C23B-9DEC-5292-C5008315BB2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00808" y="1"/>
            <a:ext cx="8181392" cy="1071563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fr-CA" altLang="en-US" dirty="0" err="1"/>
              <a:t>Therapeutic</a:t>
            </a:r>
            <a:r>
              <a:rPr lang="fr-CA" altLang="en-US" dirty="0"/>
              <a:t> Range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re 1">
            <a:extLst>
              <a:ext uri="{FF2B5EF4-FFF2-40B4-BE49-F238E27FC236}">
                <a16:creationId xmlns:a16="http://schemas.microsoft.com/office/drawing/2014/main" id="{D0C1A88E-3231-D830-732C-FE5B2DDFED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900807" y="0"/>
            <a:ext cx="8109969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fr-CA" altLang="en-US" dirty="0" err="1"/>
              <a:t>Loading</a:t>
            </a:r>
            <a:r>
              <a:rPr lang="fr-CA" altLang="en-US" dirty="0"/>
              <a:t> Doses</a:t>
            </a:r>
          </a:p>
        </p:txBody>
      </p:sp>
      <p:sp>
        <p:nvSpPr>
          <p:cNvPr id="30723" name="Espace réservé du contenu 2">
            <a:extLst>
              <a:ext uri="{FF2B5EF4-FFF2-40B4-BE49-F238E27FC236}">
                <a16:creationId xmlns:a16="http://schemas.microsoft.com/office/drawing/2014/main" id="{8E16638E-F299-BE31-A03C-EF0BF4DE36C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800808" y="1219201"/>
            <a:ext cx="8867192" cy="5210175"/>
          </a:xfrm>
          <a:ln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fr-CA" altLang="en-US"/>
              <a:t>Clinical need: </a:t>
            </a:r>
          </a:p>
          <a:p>
            <a:pPr lvl="1"/>
            <a:r>
              <a:rPr lang="fr-CA" altLang="en-US"/>
              <a:t>to attain effective blood levels quickly when drug has a long T1/2 &amp; would take too long to reach steady state (4 T1/2’s)</a:t>
            </a:r>
          </a:p>
          <a:p>
            <a:r>
              <a:rPr lang="fr-CA" altLang="en-US"/>
              <a:t>So give a large dose (carefully!) to attain therapeutic range faster</a:t>
            </a:r>
          </a:p>
          <a:p>
            <a:r>
              <a:rPr lang="fr-CA" altLang="en-US"/>
              <a:t>Continue regular dosing which may maintain, increase or decrease level – check level</a:t>
            </a:r>
          </a:p>
          <a:p>
            <a:endParaRPr lang="fr-CA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Line 2">
            <a:extLst>
              <a:ext uri="{FF2B5EF4-FFF2-40B4-BE49-F238E27FC236}">
                <a16:creationId xmlns:a16="http://schemas.microsoft.com/office/drawing/2014/main" id="{D82D1DD7-0E8B-3D2E-1483-31F44C9E30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2025" y="3357563"/>
            <a:ext cx="1588" cy="2728912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3731" name="Line 3">
            <a:extLst>
              <a:ext uri="{FF2B5EF4-FFF2-40B4-BE49-F238E27FC236}">
                <a16:creationId xmlns:a16="http://schemas.microsoft.com/office/drawing/2014/main" id="{64449239-614E-81B4-C114-A627A10868D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3614" y="6092825"/>
            <a:ext cx="6624637" cy="0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3732" name="Line 4">
            <a:extLst>
              <a:ext uri="{FF2B5EF4-FFF2-40B4-BE49-F238E27FC236}">
                <a16:creationId xmlns:a16="http://schemas.microsoft.com/office/drawing/2014/main" id="{EEBDC889-48FE-1E17-7BDD-5211D9E2376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30589" y="3643313"/>
            <a:ext cx="6624637" cy="0"/>
          </a:xfrm>
          <a:prstGeom prst="line">
            <a:avLst/>
          </a:prstGeom>
          <a:noFill/>
          <a:ln w="12700" cap="sq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3733" name="Line 5">
            <a:extLst>
              <a:ext uri="{FF2B5EF4-FFF2-40B4-BE49-F238E27FC236}">
                <a16:creationId xmlns:a16="http://schemas.microsoft.com/office/drawing/2014/main" id="{77A9F1D7-A4DA-2FB1-9966-064B08C99BD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30589" y="4868863"/>
            <a:ext cx="6624637" cy="0"/>
          </a:xfrm>
          <a:prstGeom prst="line">
            <a:avLst/>
          </a:prstGeom>
          <a:noFill/>
          <a:ln w="12700" cap="sq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3734" name="Text Box 6">
            <a:extLst>
              <a:ext uri="{FF2B5EF4-FFF2-40B4-BE49-F238E27FC236}">
                <a16:creationId xmlns:a16="http://schemas.microsoft.com/office/drawing/2014/main" id="{99CFFC08-768A-F1E9-004C-E2DFE5DBD8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5275" y="3449638"/>
            <a:ext cx="56938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altLang="en-US">
                <a:solidFill>
                  <a:schemeClr val="hlink"/>
                </a:solidFill>
              </a:rPr>
              <a:t>200</a:t>
            </a:r>
          </a:p>
        </p:txBody>
      </p:sp>
      <p:sp>
        <p:nvSpPr>
          <p:cNvPr id="73735" name="Text Box 7">
            <a:extLst>
              <a:ext uri="{FF2B5EF4-FFF2-40B4-BE49-F238E27FC236}">
                <a16:creationId xmlns:a16="http://schemas.microsoft.com/office/drawing/2014/main" id="{F474B262-B56F-1E69-408A-8F9A2CBF6F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3" y="4652963"/>
            <a:ext cx="56938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altLang="en-US">
                <a:solidFill>
                  <a:schemeClr val="hlink"/>
                </a:solidFill>
              </a:rPr>
              <a:t>100</a:t>
            </a:r>
          </a:p>
        </p:txBody>
      </p:sp>
      <p:sp>
        <p:nvSpPr>
          <p:cNvPr id="73736" name="Text Box 8">
            <a:extLst>
              <a:ext uri="{FF2B5EF4-FFF2-40B4-BE49-F238E27FC236}">
                <a16:creationId xmlns:a16="http://schemas.microsoft.com/office/drawing/2014/main" id="{A0FEA5DB-F3B0-B2C2-AF0F-36AD6768C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2175" y="1412875"/>
            <a:ext cx="5365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779588" algn="l"/>
                <a:tab pos="2286000" algn="l"/>
                <a:tab pos="2743200" algn="l"/>
                <a:tab pos="3200400" algn="l"/>
                <a:tab pos="3657600" algn="l"/>
              </a:tabLs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eaLnBrk="0" hangingPunct="0">
              <a:tabLst>
                <a:tab pos="457200" algn="l"/>
                <a:tab pos="914400" algn="l"/>
                <a:tab pos="1371600" algn="l"/>
                <a:tab pos="1779588" algn="l"/>
                <a:tab pos="2286000" algn="l"/>
                <a:tab pos="2743200" algn="l"/>
                <a:tab pos="3200400" algn="l"/>
                <a:tab pos="3657600" algn="l"/>
              </a:tabLs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eaLnBrk="0" hangingPunct="0">
              <a:tabLst>
                <a:tab pos="457200" algn="l"/>
                <a:tab pos="914400" algn="l"/>
                <a:tab pos="1371600" algn="l"/>
                <a:tab pos="1779588" algn="l"/>
                <a:tab pos="2286000" algn="l"/>
                <a:tab pos="2743200" algn="l"/>
                <a:tab pos="3200400" algn="l"/>
                <a:tab pos="3657600" algn="l"/>
              </a:tabLs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eaLnBrk="0" hangingPunct="0">
              <a:tabLst>
                <a:tab pos="457200" algn="l"/>
                <a:tab pos="914400" algn="l"/>
                <a:tab pos="1371600" algn="l"/>
                <a:tab pos="1779588" algn="l"/>
                <a:tab pos="2286000" algn="l"/>
                <a:tab pos="2743200" algn="l"/>
                <a:tab pos="3200400" algn="l"/>
                <a:tab pos="3657600" algn="l"/>
              </a:tabLs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eaLnBrk="0" hangingPunct="0">
              <a:tabLst>
                <a:tab pos="457200" algn="l"/>
                <a:tab pos="914400" algn="l"/>
                <a:tab pos="1371600" algn="l"/>
                <a:tab pos="1779588" algn="l"/>
                <a:tab pos="2286000" algn="l"/>
                <a:tab pos="2743200" algn="l"/>
                <a:tab pos="3200400" algn="l"/>
                <a:tab pos="3657600" algn="l"/>
              </a:tabLs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779588" algn="l"/>
                <a:tab pos="2286000" algn="l"/>
                <a:tab pos="2743200" algn="l"/>
                <a:tab pos="3200400" algn="l"/>
                <a:tab pos="3657600" algn="l"/>
              </a:tabLs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779588" algn="l"/>
                <a:tab pos="2286000" algn="l"/>
                <a:tab pos="2743200" algn="l"/>
                <a:tab pos="3200400" algn="l"/>
                <a:tab pos="3657600" algn="l"/>
              </a:tabLs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779588" algn="l"/>
                <a:tab pos="2286000" algn="l"/>
                <a:tab pos="2743200" algn="l"/>
                <a:tab pos="3200400" algn="l"/>
                <a:tab pos="3657600" algn="l"/>
              </a:tabLs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779588" algn="l"/>
                <a:tab pos="2286000" algn="l"/>
                <a:tab pos="2743200" algn="l"/>
                <a:tab pos="3200400" algn="l"/>
                <a:tab pos="3657600" algn="l"/>
              </a:tabLs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CA" altLang="en-US">
                <a:solidFill>
                  <a:schemeClr val="hlink"/>
                </a:solidFill>
              </a:rPr>
              <a:t>1	     2       3        4        5	     6	      7</a:t>
            </a:r>
          </a:p>
        </p:txBody>
      </p:sp>
      <p:sp>
        <p:nvSpPr>
          <p:cNvPr id="73737" name="Rectangle 4">
            <a:extLst>
              <a:ext uri="{FF2B5EF4-FFF2-40B4-BE49-F238E27FC236}">
                <a16:creationId xmlns:a16="http://schemas.microsoft.com/office/drawing/2014/main" id="{85B1B9BF-16B1-B805-5714-FA54F4242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8131" y="0"/>
            <a:ext cx="1017969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CA" altLang="en-US" sz="3600" dirty="0">
                <a:solidFill>
                  <a:schemeClr val="bg1"/>
                </a:solidFill>
              </a:rPr>
              <a:t>Drug Accumulation to Steady State with loading dose</a:t>
            </a:r>
            <a:endParaRPr lang="fr-CA" altLang="en-US" sz="3600" dirty="0">
              <a:solidFill>
                <a:schemeClr val="bg1"/>
              </a:solidFill>
            </a:endParaRPr>
          </a:p>
        </p:txBody>
      </p:sp>
      <p:sp>
        <p:nvSpPr>
          <p:cNvPr id="73738" name="Line 10">
            <a:extLst>
              <a:ext uri="{FF2B5EF4-FFF2-40B4-BE49-F238E27FC236}">
                <a16:creationId xmlns:a16="http://schemas.microsoft.com/office/drawing/2014/main" id="{F4BDF10D-376C-7B74-4CA9-B2D7B779E6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3613" y="3644901"/>
            <a:ext cx="144462" cy="2447925"/>
          </a:xfrm>
          <a:prstGeom prst="line">
            <a:avLst/>
          </a:prstGeom>
          <a:noFill/>
          <a:ln w="381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3739" name="Line 11">
            <a:extLst>
              <a:ext uri="{FF2B5EF4-FFF2-40B4-BE49-F238E27FC236}">
                <a16:creationId xmlns:a16="http://schemas.microsoft.com/office/drawing/2014/main" id="{80632283-7607-A2D6-E551-C340600A94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24338" y="3644901"/>
            <a:ext cx="144462" cy="1223963"/>
          </a:xfrm>
          <a:prstGeom prst="line">
            <a:avLst/>
          </a:prstGeom>
          <a:noFill/>
          <a:ln w="381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3740" name="Line 12">
            <a:extLst>
              <a:ext uri="{FF2B5EF4-FFF2-40B4-BE49-F238E27FC236}">
                <a16:creationId xmlns:a16="http://schemas.microsoft.com/office/drawing/2014/main" id="{89FF249A-FF71-3578-6428-4A95BFE69B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16501" y="3644901"/>
            <a:ext cx="144463" cy="1223963"/>
          </a:xfrm>
          <a:prstGeom prst="line">
            <a:avLst/>
          </a:prstGeom>
          <a:noFill/>
          <a:ln w="381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3741" name="Freeform 13">
            <a:extLst>
              <a:ext uri="{FF2B5EF4-FFF2-40B4-BE49-F238E27FC236}">
                <a16:creationId xmlns:a16="http://schemas.microsoft.com/office/drawing/2014/main" id="{A1A60747-28B1-1C76-996B-E151EFC8E69D}"/>
              </a:ext>
            </a:extLst>
          </p:cNvPr>
          <p:cNvSpPr>
            <a:spLocks/>
          </p:cNvSpPr>
          <p:nvPr/>
        </p:nvSpPr>
        <p:spPr bwMode="auto">
          <a:xfrm>
            <a:off x="3648076" y="3644901"/>
            <a:ext cx="576263" cy="1223963"/>
          </a:xfrm>
          <a:custGeom>
            <a:avLst/>
            <a:gdLst>
              <a:gd name="T0" fmla="*/ 0 w 363"/>
              <a:gd name="T1" fmla="*/ 0 h 408"/>
              <a:gd name="T2" fmla="*/ 136 w 363"/>
              <a:gd name="T3" fmla="*/ 272 h 408"/>
              <a:gd name="T4" fmla="*/ 363 w 363"/>
              <a:gd name="T5" fmla="*/ 408 h 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3" h="408">
                <a:moveTo>
                  <a:pt x="0" y="0"/>
                </a:moveTo>
                <a:cubicBezTo>
                  <a:pt x="38" y="102"/>
                  <a:pt x="76" y="204"/>
                  <a:pt x="136" y="272"/>
                </a:cubicBezTo>
                <a:cubicBezTo>
                  <a:pt x="196" y="340"/>
                  <a:pt x="279" y="374"/>
                  <a:pt x="363" y="408"/>
                </a:cubicBezTo>
              </a:path>
            </a:pathLst>
          </a:custGeom>
          <a:noFill/>
          <a:ln w="38100" cap="sq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3742" name="Freeform 14">
            <a:extLst>
              <a:ext uri="{FF2B5EF4-FFF2-40B4-BE49-F238E27FC236}">
                <a16:creationId xmlns:a16="http://schemas.microsoft.com/office/drawing/2014/main" id="{32D675DF-ED7C-B37A-D04F-E6A46FAC6B16}"/>
              </a:ext>
            </a:extLst>
          </p:cNvPr>
          <p:cNvSpPr>
            <a:spLocks/>
          </p:cNvSpPr>
          <p:nvPr/>
        </p:nvSpPr>
        <p:spPr bwMode="auto">
          <a:xfrm>
            <a:off x="4367214" y="3644901"/>
            <a:ext cx="649287" cy="1223963"/>
          </a:xfrm>
          <a:custGeom>
            <a:avLst/>
            <a:gdLst>
              <a:gd name="T0" fmla="*/ 0 w 363"/>
              <a:gd name="T1" fmla="*/ 0 h 408"/>
              <a:gd name="T2" fmla="*/ 136 w 363"/>
              <a:gd name="T3" fmla="*/ 272 h 408"/>
              <a:gd name="T4" fmla="*/ 363 w 363"/>
              <a:gd name="T5" fmla="*/ 408 h 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3" h="408">
                <a:moveTo>
                  <a:pt x="0" y="0"/>
                </a:moveTo>
                <a:cubicBezTo>
                  <a:pt x="38" y="102"/>
                  <a:pt x="76" y="204"/>
                  <a:pt x="136" y="272"/>
                </a:cubicBezTo>
                <a:cubicBezTo>
                  <a:pt x="196" y="340"/>
                  <a:pt x="279" y="374"/>
                  <a:pt x="363" y="408"/>
                </a:cubicBezTo>
              </a:path>
            </a:pathLst>
          </a:custGeom>
          <a:noFill/>
          <a:ln w="38100" cap="sq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3743" name="Freeform 15">
            <a:extLst>
              <a:ext uri="{FF2B5EF4-FFF2-40B4-BE49-F238E27FC236}">
                <a16:creationId xmlns:a16="http://schemas.microsoft.com/office/drawing/2014/main" id="{D7C4A2BD-2C69-AE65-305B-78B3EDC34E62}"/>
              </a:ext>
            </a:extLst>
          </p:cNvPr>
          <p:cNvSpPr>
            <a:spLocks/>
          </p:cNvSpPr>
          <p:nvPr/>
        </p:nvSpPr>
        <p:spPr bwMode="auto">
          <a:xfrm>
            <a:off x="5159375" y="3644901"/>
            <a:ext cx="649288" cy="1223963"/>
          </a:xfrm>
          <a:custGeom>
            <a:avLst/>
            <a:gdLst>
              <a:gd name="T0" fmla="*/ 0 w 363"/>
              <a:gd name="T1" fmla="*/ 0 h 408"/>
              <a:gd name="T2" fmla="*/ 136 w 363"/>
              <a:gd name="T3" fmla="*/ 272 h 408"/>
              <a:gd name="T4" fmla="*/ 363 w 363"/>
              <a:gd name="T5" fmla="*/ 408 h 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3" h="408">
                <a:moveTo>
                  <a:pt x="0" y="0"/>
                </a:moveTo>
                <a:cubicBezTo>
                  <a:pt x="38" y="102"/>
                  <a:pt x="76" y="204"/>
                  <a:pt x="136" y="272"/>
                </a:cubicBezTo>
                <a:cubicBezTo>
                  <a:pt x="196" y="340"/>
                  <a:pt x="279" y="374"/>
                  <a:pt x="363" y="408"/>
                </a:cubicBezTo>
              </a:path>
            </a:pathLst>
          </a:custGeom>
          <a:noFill/>
          <a:ln w="38100" cap="sq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3744" name="Text Box 16">
            <a:extLst>
              <a:ext uri="{FF2B5EF4-FFF2-40B4-BE49-F238E27FC236}">
                <a16:creationId xmlns:a16="http://schemas.microsoft.com/office/drawing/2014/main" id="{351EA092-8C5F-5891-4509-D5885CD4B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1313" y="1917701"/>
            <a:ext cx="61266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altLang="en-US" sz="2000">
                <a:solidFill>
                  <a:schemeClr val="hlink"/>
                </a:solidFill>
                <a:sym typeface="Wingdings" panose="05000000000000000000" pitchFamily="2" charset="2"/>
              </a:rPr>
              <a:t>100</a:t>
            </a:r>
            <a:br>
              <a:rPr lang="en-CA" altLang="en-US" sz="2000">
                <a:solidFill>
                  <a:schemeClr val="hlink"/>
                </a:solidFill>
                <a:sym typeface="Wingdings" panose="05000000000000000000" pitchFamily="2" charset="2"/>
              </a:rPr>
            </a:br>
            <a:r>
              <a:rPr lang="en-CA" altLang="en-US" sz="2000" u="sng">
                <a:solidFill>
                  <a:schemeClr val="hlink"/>
                </a:solidFill>
                <a:sym typeface="Wingdings" panose="05000000000000000000" pitchFamily="2" charset="2"/>
              </a:rPr>
              <a:t>100</a:t>
            </a:r>
          </a:p>
          <a:p>
            <a:r>
              <a:rPr lang="en-CA" altLang="en-US" sz="2000">
                <a:solidFill>
                  <a:schemeClr val="hlink"/>
                </a:solidFill>
                <a:sym typeface="Wingdings" panose="05000000000000000000" pitchFamily="2" charset="2"/>
              </a:rPr>
              <a:t>200</a:t>
            </a:r>
            <a:endParaRPr lang="en-CA" altLang="en-US" sz="2000">
              <a:solidFill>
                <a:schemeClr val="hlink"/>
              </a:solidFill>
            </a:endParaRPr>
          </a:p>
        </p:txBody>
      </p:sp>
      <p:sp>
        <p:nvSpPr>
          <p:cNvPr id="73745" name="Text Box 17">
            <a:extLst>
              <a:ext uri="{FF2B5EF4-FFF2-40B4-BE49-F238E27FC236}">
                <a16:creationId xmlns:a16="http://schemas.microsoft.com/office/drawing/2014/main" id="{640DE175-2215-C968-6AB8-79337C580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2038" y="2060576"/>
            <a:ext cx="61266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altLang="en-US" sz="2000">
                <a:solidFill>
                  <a:schemeClr val="hlink"/>
                </a:solidFill>
                <a:sym typeface="Wingdings" panose="05000000000000000000" pitchFamily="2" charset="2"/>
              </a:rPr>
              <a:t>100</a:t>
            </a:r>
            <a:br>
              <a:rPr lang="en-CA" altLang="en-US" sz="2000">
                <a:solidFill>
                  <a:schemeClr val="hlink"/>
                </a:solidFill>
                <a:sym typeface="Wingdings" panose="05000000000000000000" pitchFamily="2" charset="2"/>
              </a:rPr>
            </a:br>
            <a:r>
              <a:rPr lang="en-CA" altLang="en-US" sz="2000" u="sng">
                <a:solidFill>
                  <a:schemeClr val="hlink"/>
                </a:solidFill>
                <a:sym typeface="Wingdings" panose="05000000000000000000" pitchFamily="2" charset="2"/>
              </a:rPr>
              <a:t>100</a:t>
            </a:r>
          </a:p>
          <a:p>
            <a:r>
              <a:rPr lang="en-CA" altLang="en-US" sz="2000">
                <a:solidFill>
                  <a:schemeClr val="hlink"/>
                </a:solidFill>
                <a:sym typeface="Wingdings" panose="05000000000000000000" pitchFamily="2" charset="2"/>
              </a:rPr>
              <a:t>200</a:t>
            </a:r>
            <a:endParaRPr lang="en-CA" altLang="en-US" sz="2000">
              <a:solidFill>
                <a:schemeClr val="hlink"/>
              </a:solidFill>
            </a:endParaRPr>
          </a:p>
        </p:txBody>
      </p:sp>
      <p:sp>
        <p:nvSpPr>
          <p:cNvPr id="73746" name="Text Box 18">
            <a:extLst>
              <a:ext uri="{FF2B5EF4-FFF2-40B4-BE49-F238E27FC236}">
                <a16:creationId xmlns:a16="http://schemas.microsoft.com/office/drawing/2014/main" id="{D3D1F47A-4467-03F7-CD57-B7F0706CEC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1175" y="2205039"/>
            <a:ext cx="61266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altLang="en-US" sz="2000">
                <a:solidFill>
                  <a:schemeClr val="hlink"/>
                </a:solidFill>
                <a:sym typeface="Wingdings" panose="05000000000000000000" pitchFamily="2" charset="2"/>
              </a:rPr>
              <a:t>100</a:t>
            </a:r>
            <a:br>
              <a:rPr lang="en-CA" altLang="en-US" sz="2000">
                <a:solidFill>
                  <a:schemeClr val="hlink"/>
                </a:solidFill>
                <a:sym typeface="Wingdings" panose="05000000000000000000" pitchFamily="2" charset="2"/>
              </a:rPr>
            </a:br>
            <a:r>
              <a:rPr lang="en-CA" altLang="en-US" sz="2000" u="sng">
                <a:solidFill>
                  <a:schemeClr val="hlink"/>
                </a:solidFill>
                <a:sym typeface="Wingdings" panose="05000000000000000000" pitchFamily="2" charset="2"/>
              </a:rPr>
              <a:t>100</a:t>
            </a:r>
          </a:p>
          <a:p>
            <a:r>
              <a:rPr lang="en-CA" altLang="en-US" sz="2000">
                <a:solidFill>
                  <a:schemeClr val="hlink"/>
                </a:solidFill>
                <a:sym typeface="Wingdings" panose="05000000000000000000" pitchFamily="2" charset="2"/>
              </a:rPr>
              <a:t>200</a:t>
            </a:r>
            <a:endParaRPr lang="en-CA" altLang="en-US" sz="2000">
              <a:solidFill>
                <a:schemeClr val="hlink"/>
              </a:solidFill>
            </a:endParaRPr>
          </a:p>
        </p:txBody>
      </p:sp>
      <p:sp>
        <p:nvSpPr>
          <p:cNvPr id="73747" name="Text Box 19">
            <a:extLst>
              <a:ext uri="{FF2B5EF4-FFF2-40B4-BE49-F238E27FC236}">
                <a16:creationId xmlns:a16="http://schemas.microsoft.com/office/drawing/2014/main" id="{27803263-1C0D-459D-74BB-303D85962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338" y="2349501"/>
            <a:ext cx="61266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altLang="en-US" sz="2000">
                <a:solidFill>
                  <a:schemeClr val="hlink"/>
                </a:solidFill>
                <a:sym typeface="Wingdings" panose="05000000000000000000" pitchFamily="2" charset="2"/>
              </a:rPr>
              <a:t>100</a:t>
            </a:r>
            <a:br>
              <a:rPr lang="en-CA" altLang="en-US" sz="2000">
                <a:solidFill>
                  <a:schemeClr val="hlink"/>
                </a:solidFill>
                <a:sym typeface="Wingdings" panose="05000000000000000000" pitchFamily="2" charset="2"/>
              </a:rPr>
            </a:br>
            <a:r>
              <a:rPr lang="en-CA" altLang="en-US" sz="2000" u="sng">
                <a:solidFill>
                  <a:schemeClr val="hlink"/>
                </a:solidFill>
                <a:sym typeface="Wingdings" panose="05000000000000000000" pitchFamily="2" charset="2"/>
              </a:rPr>
              <a:t>100</a:t>
            </a:r>
          </a:p>
          <a:p>
            <a:r>
              <a:rPr lang="en-CA" altLang="en-US" sz="2000">
                <a:solidFill>
                  <a:schemeClr val="hlink"/>
                </a:solidFill>
                <a:sym typeface="Wingdings" panose="05000000000000000000" pitchFamily="2" charset="2"/>
              </a:rPr>
              <a:t>200</a:t>
            </a:r>
            <a:endParaRPr lang="en-CA" altLang="en-US" sz="2000">
              <a:solidFill>
                <a:schemeClr val="hlink"/>
              </a:solidFill>
            </a:endParaRPr>
          </a:p>
        </p:txBody>
      </p:sp>
      <p:sp>
        <p:nvSpPr>
          <p:cNvPr id="73748" name="Line 20">
            <a:extLst>
              <a:ext uri="{FF2B5EF4-FFF2-40B4-BE49-F238E27FC236}">
                <a16:creationId xmlns:a16="http://schemas.microsoft.com/office/drawing/2014/main" id="{920D5392-80FD-835D-51DE-414EF6D393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08663" y="3644901"/>
            <a:ext cx="144462" cy="1223963"/>
          </a:xfrm>
          <a:prstGeom prst="line">
            <a:avLst/>
          </a:prstGeom>
          <a:noFill/>
          <a:ln w="381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3749" name="Freeform 21">
            <a:extLst>
              <a:ext uri="{FF2B5EF4-FFF2-40B4-BE49-F238E27FC236}">
                <a16:creationId xmlns:a16="http://schemas.microsoft.com/office/drawing/2014/main" id="{9614497C-91ED-5ACC-F440-8AEC7B4A72BF}"/>
              </a:ext>
            </a:extLst>
          </p:cNvPr>
          <p:cNvSpPr>
            <a:spLocks/>
          </p:cNvSpPr>
          <p:nvPr/>
        </p:nvSpPr>
        <p:spPr bwMode="auto">
          <a:xfrm>
            <a:off x="5951539" y="3716339"/>
            <a:ext cx="649287" cy="1152525"/>
          </a:xfrm>
          <a:custGeom>
            <a:avLst/>
            <a:gdLst>
              <a:gd name="T0" fmla="*/ 0 w 363"/>
              <a:gd name="T1" fmla="*/ 0 h 408"/>
              <a:gd name="T2" fmla="*/ 136 w 363"/>
              <a:gd name="T3" fmla="*/ 272 h 408"/>
              <a:gd name="T4" fmla="*/ 363 w 363"/>
              <a:gd name="T5" fmla="*/ 408 h 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3" h="408">
                <a:moveTo>
                  <a:pt x="0" y="0"/>
                </a:moveTo>
                <a:cubicBezTo>
                  <a:pt x="38" y="102"/>
                  <a:pt x="76" y="204"/>
                  <a:pt x="136" y="272"/>
                </a:cubicBezTo>
                <a:cubicBezTo>
                  <a:pt x="196" y="340"/>
                  <a:pt x="279" y="374"/>
                  <a:pt x="363" y="408"/>
                </a:cubicBezTo>
              </a:path>
            </a:pathLst>
          </a:custGeom>
          <a:noFill/>
          <a:ln w="38100" cap="sq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3750" name="Line 22">
            <a:extLst>
              <a:ext uri="{FF2B5EF4-FFF2-40B4-BE49-F238E27FC236}">
                <a16:creationId xmlns:a16="http://schemas.microsoft.com/office/drawing/2014/main" id="{4B294B89-E508-2C00-0900-E4BE820F5C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00826" y="3644901"/>
            <a:ext cx="144463" cy="1223963"/>
          </a:xfrm>
          <a:prstGeom prst="line">
            <a:avLst/>
          </a:prstGeom>
          <a:noFill/>
          <a:ln w="381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3751" name="Freeform 23">
            <a:extLst>
              <a:ext uri="{FF2B5EF4-FFF2-40B4-BE49-F238E27FC236}">
                <a16:creationId xmlns:a16="http://schemas.microsoft.com/office/drawing/2014/main" id="{2CA3F5DE-4242-16B7-2FDB-B2A6121547C0}"/>
              </a:ext>
            </a:extLst>
          </p:cNvPr>
          <p:cNvSpPr>
            <a:spLocks/>
          </p:cNvSpPr>
          <p:nvPr/>
        </p:nvSpPr>
        <p:spPr bwMode="auto">
          <a:xfrm>
            <a:off x="6743701" y="3644901"/>
            <a:ext cx="625475" cy="1198563"/>
          </a:xfrm>
          <a:custGeom>
            <a:avLst/>
            <a:gdLst>
              <a:gd name="T0" fmla="*/ 0 w 363"/>
              <a:gd name="T1" fmla="*/ 0 h 408"/>
              <a:gd name="T2" fmla="*/ 136 w 363"/>
              <a:gd name="T3" fmla="*/ 272 h 408"/>
              <a:gd name="T4" fmla="*/ 363 w 363"/>
              <a:gd name="T5" fmla="*/ 408 h 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3" h="408">
                <a:moveTo>
                  <a:pt x="0" y="0"/>
                </a:moveTo>
                <a:cubicBezTo>
                  <a:pt x="38" y="102"/>
                  <a:pt x="76" y="204"/>
                  <a:pt x="136" y="272"/>
                </a:cubicBezTo>
                <a:cubicBezTo>
                  <a:pt x="196" y="340"/>
                  <a:pt x="279" y="374"/>
                  <a:pt x="363" y="408"/>
                </a:cubicBezTo>
              </a:path>
            </a:pathLst>
          </a:custGeom>
          <a:noFill/>
          <a:ln w="38100" cap="sq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3752" name="Text Box 24">
            <a:extLst>
              <a:ext uri="{FF2B5EF4-FFF2-40B4-BE49-F238E27FC236}">
                <a16:creationId xmlns:a16="http://schemas.microsoft.com/office/drawing/2014/main" id="{A5676452-AAEC-F20F-FCB1-4F11C77D9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9963" y="2493964"/>
            <a:ext cx="61266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altLang="en-US" sz="2000">
                <a:solidFill>
                  <a:schemeClr val="hlink"/>
                </a:solidFill>
                <a:sym typeface="Wingdings" panose="05000000000000000000" pitchFamily="2" charset="2"/>
              </a:rPr>
              <a:t>100</a:t>
            </a:r>
            <a:br>
              <a:rPr lang="en-CA" altLang="en-US" sz="2000">
                <a:solidFill>
                  <a:schemeClr val="hlink"/>
                </a:solidFill>
                <a:sym typeface="Wingdings" panose="05000000000000000000" pitchFamily="2" charset="2"/>
              </a:rPr>
            </a:br>
            <a:r>
              <a:rPr lang="en-CA" altLang="en-US" sz="2000" u="sng">
                <a:solidFill>
                  <a:schemeClr val="hlink"/>
                </a:solidFill>
                <a:sym typeface="Wingdings" panose="05000000000000000000" pitchFamily="2" charset="2"/>
              </a:rPr>
              <a:t>100</a:t>
            </a:r>
          </a:p>
          <a:p>
            <a:r>
              <a:rPr lang="en-CA" altLang="en-US" sz="2000">
                <a:solidFill>
                  <a:schemeClr val="hlink"/>
                </a:solidFill>
                <a:sym typeface="Wingdings" panose="05000000000000000000" pitchFamily="2" charset="2"/>
              </a:rPr>
              <a:t>200</a:t>
            </a:r>
            <a:endParaRPr lang="en-CA" altLang="en-US" sz="2000">
              <a:solidFill>
                <a:schemeClr val="hlink"/>
              </a:solidFill>
            </a:endParaRPr>
          </a:p>
        </p:txBody>
      </p:sp>
      <p:sp>
        <p:nvSpPr>
          <p:cNvPr id="73753" name="Line 25">
            <a:extLst>
              <a:ext uri="{FF2B5EF4-FFF2-40B4-BE49-F238E27FC236}">
                <a16:creationId xmlns:a16="http://schemas.microsoft.com/office/drawing/2014/main" id="{1E0BEA44-A86B-0A47-DE57-DFC4B67CE9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1401" y="3644901"/>
            <a:ext cx="144463" cy="1223963"/>
          </a:xfrm>
          <a:prstGeom prst="line">
            <a:avLst/>
          </a:prstGeom>
          <a:noFill/>
          <a:ln w="381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3754" name="Text Box 26">
            <a:extLst>
              <a:ext uri="{FF2B5EF4-FFF2-40B4-BE49-F238E27FC236}">
                <a16:creationId xmlns:a16="http://schemas.microsoft.com/office/drawing/2014/main" id="{6B533982-AD65-22A6-6E52-526308C6B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6588" y="2636839"/>
            <a:ext cx="61266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altLang="en-US" sz="2000">
                <a:solidFill>
                  <a:schemeClr val="hlink"/>
                </a:solidFill>
                <a:sym typeface="Wingdings" panose="05000000000000000000" pitchFamily="2" charset="2"/>
              </a:rPr>
              <a:t>100</a:t>
            </a:r>
            <a:br>
              <a:rPr lang="en-CA" altLang="en-US" sz="2000">
                <a:solidFill>
                  <a:schemeClr val="hlink"/>
                </a:solidFill>
                <a:sym typeface="Wingdings" panose="05000000000000000000" pitchFamily="2" charset="2"/>
              </a:rPr>
            </a:br>
            <a:r>
              <a:rPr lang="en-CA" altLang="en-US" sz="2000" u="sng">
                <a:solidFill>
                  <a:schemeClr val="hlink"/>
                </a:solidFill>
                <a:sym typeface="Wingdings" panose="05000000000000000000" pitchFamily="2" charset="2"/>
              </a:rPr>
              <a:t>100</a:t>
            </a:r>
          </a:p>
          <a:p>
            <a:r>
              <a:rPr lang="en-CA" altLang="en-US" sz="2000">
                <a:solidFill>
                  <a:schemeClr val="hlink"/>
                </a:solidFill>
                <a:sym typeface="Wingdings" panose="05000000000000000000" pitchFamily="2" charset="2"/>
              </a:rPr>
              <a:t>200</a:t>
            </a:r>
            <a:endParaRPr lang="en-CA" altLang="en-US" sz="2000">
              <a:solidFill>
                <a:schemeClr val="hlink"/>
              </a:solidFill>
            </a:endParaRPr>
          </a:p>
        </p:txBody>
      </p:sp>
      <p:sp>
        <p:nvSpPr>
          <p:cNvPr id="73755" name="Freeform 27">
            <a:extLst>
              <a:ext uri="{FF2B5EF4-FFF2-40B4-BE49-F238E27FC236}">
                <a16:creationId xmlns:a16="http://schemas.microsoft.com/office/drawing/2014/main" id="{4938E4C1-BFAC-B903-282F-B51170E0F7DC}"/>
              </a:ext>
            </a:extLst>
          </p:cNvPr>
          <p:cNvSpPr>
            <a:spLocks/>
          </p:cNvSpPr>
          <p:nvPr/>
        </p:nvSpPr>
        <p:spPr bwMode="auto">
          <a:xfrm>
            <a:off x="7535864" y="3644901"/>
            <a:ext cx="625475" cy="1198563"/>
          </a:xfrm>
          <a:custGeom>
            <a:avLst/>
            <a:gdLst>
              <a:gd name="T0" fmla="*/ 0 w 363"/>
              <a:gd name="T1" fmla="*/ 0 h 408"/>
              <a:gd name="T2" fmla="*/ 136 w 363"/>
              <a:gd name="T3" fmla="*/ 272 h 408"/>
              <a:gd name="T4" fmla="*/ 363 w 363"/>
              <a:gd name="T5" fmla="*/ 408 h 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3" h="408">
                <a:moveTo>
                  <a:pt x="0" y="0"/>
                </a:moveTo>
                <a:cubicBezTo>
                  <a:pt x="38" y="102"/>
                  <a:pt x="76" y="204"/>
                  <a:pt x="136" y="272"/>
                </a:cubicBezTo>
                <a:cubicBezTo>
                  <a:pt x="196" y="340"/>
                  <a:pt x="279" y="374"/>
                  <a:pt x="363" y="408"/>
                </a:cubicBezTo>
              </a:path>
            </a:pathLst>
          </a:custGeom>
          <a:noFill/>
          <a:ln w="38100" cap="sq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3756" name="Line 28">
            <a:extLst>
              <a:ext uri="{FF2B5EF4-FFF2-40B4-BE49-F238E27FC236}">
                <a16:creationId xmlns:a16="http://schemas.microsoft.com/office/drawing/2014/main" id="{F877EE56-65DB-6C4B-79B5-3BDC65CB60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99438" y="3684588"/>
            <a:ext cx="144462" cy="1223962"/>
          </a:xfrm>
          <a:prstGeom prst="line">
            <a:avLst/>
          </a:prstGeom>
          <a:noFill/>
          <a:ln w="381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3757" name="Line 29">
            <a:extLst>
              <a:ext uri="{FF2B5EF4-FFF2-40B4-BE49-F238E27FC236}">
                <a16:creationId xmlns:a16="http://schemas.microsoft.com/office/drawing/2014/main" id="{854FE83E-0447-C8A4-D95B-3D57736DE5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56139" y="2349501"/>
            <a:ext cx="287337" cy="360363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3758" name="Line 30">
            <a:extLst>
              <a:ext uri="{FF2B5EF4-FFF2-40B4-BE49-F238E27FC236}">
                <a16:creationId xmlns:a16="http://schemas.microsoft.com/office/drawing/2014/main" id="{AA99F446-775C-D6C9-342E-3EA773CE15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75276" y="2420938"/>
            <a:ext cx="288925" cy="431800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3759" name="Line 31">
            <a:extLst>
              <a:ext uri="{FF2B5EF4-FFF2-40B4-BE49-F238E27FC236}">
                <a16:creationId xmlns:a16="http://schemas.microsoft.com/office/drawing/2014/main" id="{C8FC3151-07FF-7AA8-7D70-03F0FEA1BC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0464" y="2636838"/>
            <a:ext cx="288925" cy="431800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3760" name="Line 32">
            <a:extLst>
              <a:ext uri="{FF2B5EF4-FFF2-40B4-BE49-F238E27FC236}">
                <a16:creationId xmlns:a16="http://schemas.microsoft.com/office/drawing/2014/main" id="{390D8FC7-F3E8-0776-A00F-33154DF1CF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75501" y="2781300"/>
            <a:ext cx="288925" cy="431800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3761" name="Line 33">
            <a:extLst>
              <a:ext uri="{FF2B5EF4-FFF2-40B4-BE49-F238E27FC236}">
                <a16:creationId xmlns:a16="http://schemas.microsoft.com/office/drawing/2014/main" id="{D432F4B3-4CC1-0A40-4399-DAB0DF8DAC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83563" y="2852739"/>
            <a:ext cx="146050" cy="288925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3770" name="Text Box 42">
            <a:extLst>
              <a:ext uri="{FF2B5EF4-FFF2-40B4-BE49-F238E27FC236}">
                <a16:creationId xmlns:a16="http://schemas.microsoft.com/office/drawing/2014/main" id="{367EF8DA-CF5F-D0BC-48B7-2206372659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1917700"/>
            <a:ext cx="61266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altLang="en-US" sz="2000">
                <a:solidFill>
                  <a:schemeClr val="hlink"/>
                </a:solidFill>
                <a:sym typeface="Wingdings" panose="05000000000000000000" pitchFamily="2" charset="2"/>
              </a:rPr>
              <a:t>200</a:t>
            </a:r>
            <a:endParaRPr lang="en-CA" altLang="en-US" sz="2000">
              <a:solidFill>
                <a:schemeClr val="hlink"/>
              </a:solidFill>
            </a:endParaRPr>
          </a:p>
        </p:txBody>
      </p:sp>
      <p:sp>
        <p:nvSpPr>
          <p:cNvPr id="73771" name="Line 43">
            <a:extLst>
              <a:ext uri="{FF2B5EF4-FFF2-40B4-BE49-F238E27FC236}">
                <a16:creationId xmlns:a16="http://schemas.microsoft.com/office/drawing/2014/main" id="{8150BAAC-ED73-3A6F-00B9-FD678AE912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63976" y="2133600"/>
            <a:ext cx="360363" cy="0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3772" name="Rectangle 44">
            <a:extLst>
              <a:ext uri="{FF2B5EF4-FFF2-40B4-BE49-F238E27FC236}">
                <a16:creationId xmlns:a16="http://schemas.microsoft.com/office/drawing/2014/main" id="{72C91F69-618C-76FD-9848-326662780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3" y="2276475"/>
            <a:ext cx="576262" cy="6492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73" name="Rectangle 45">
            <a:extLst>
              <a:ext uri="{FF2B5EF4-FFF2-40B4-BE49-F238E27FC236}">
                <a16:creationId xmlns:a16="http://schemas.microsoft.com/office/drawing/2014/main" id="{5992EAE2-8469-C8EB-9C77-2C345262A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6" y="2420939"/>
            <a:ext cx="504825" cy="64928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74" name="Rectangle 46">
            <a:extLst>
              <a:ext uri="{FF2B5EF4-FFF2-40B4-BE49-F238E27FC236}">
                <a16:creationId xmlns:a16="http://schemas.microsoft.com/office/drawing/2014/main" id="{6A2E61A8-76C9-23E2-39CF-551843E54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4200" y="2565400"/>
            <a:ext cx="647700" cy="6492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75" name="Rectangle 47">
            <a:extLst>
              <a:ext uri="{FF2B5EF4-FFF2-40B4-BE49-F238E27FC236}">
                <a16:creationId xmlns:a16="http://schemas.microsoft.com/office/drawing/2014/main" id="{E450D205-09FF-19C6-BF1B-EEA299CF7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2238" y="2725738"/>
            <a:ext cx="703262" cy="6334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76" name="Rectangle 48">
            <a:extLst>
              <a:ext uri="{FF2B5EF4-FFF2-40B4-BE49-F238E27FC236}">
                <a16:creationId xmlns:a16="http://schemas.microsoft.com/office/drawing/2014/main" id="{297137D6-056F-07F4-AA88-5470D7F16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2870201"/>
            <a:ext cx="865188" cy="6318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77" name="Rectangle 49">
            <a:extLst>
              <a:ext uri="{FF2B5EF4-FFF2-40B4-BE49-F238E27FC236}">
                <a16:creationId xmlns:a16="http://schemas.microsoft.com/office/drawing/2014/main" id="{6CCB1049-6F16-2C9A-58DD-E9349460F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8025" y="2997200"/>
            <a:ext cx="1081088" cy="6492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44" grpId="0"/>
      <p:bldP spid="73745" grpId="0"/>
      <p:bldP spid="73746" grpId="0"/>
      <p:bldP spid="73747" grpId="0"/>
      <p:bldP spid="73752" grpId="0"/>
      <p:bldP spid="73754" grpId="0"/>
      <p:bldP spid="7377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976F7E99-CD69-147F-AC76-255D2E3EADB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82147" y="0"/>
            <a:ext cx="8885853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CA" altLang="en-US" dirty="0"/>
              <a:t>Pharmacodynamics (PD)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6B0ACCA0-7EDB-B3D7-2494-050A7034BBE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782147" y="1143001"/>
            <a:ext cx="8885853" cy="3592513"/>
          </a:xfrm>
          <a:ln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en-CA" altLang="en-US" sz="2800"/>
              <a:t>A. ALTERATION OF CELL ENVIRONMENT</a:t>
            </a:r>
          </a:p>
          <a:p>
            <a:pPr lvl="1"/>
            <a:r>
              <a:rPr lang="en-CA" altLang="en-US" sz="2400"/>
              <a:t>Pharmacological action not directly dependent on the chemical structure of the drug</a:t>
            </a:r>
          </a:p>
          <a:p>
            <a:pPr lvl="1"/>
            <a:r>
              <a:rPr lang="en-CA" altLang="en-US" sz="2400"/>
              <a:t>Effects elicited by physico-chemical processes:</a:t>
            </a:r>
          </a:p>
          <a:p>
            <a:pPr lvl="2"/>
            <a:r>
              <a:rPr lang="en-CA" altLang="en-US"/>
              <a:t>Physical processes:</a:t>
            </a:r>
          </a:p>
          <a:p>
            <a:pPr lvl="3"/>
            <a:r>
              <a:rPr lang="en-CA" altLang="en-US"/>
              <a:t>alteration of surface tension (ex. stool softener)</a:t>
            </a:r>
          </a:p>
          <a:p>
            <a:pPr lvl="3"/>
            <a:r>
              <a:rPr lang="en-CA" altLang="en-US"/>
              <a:t>lubrication (ex. mineral oil)</a:t>
            </a:r>
          </a:p>
          <a:p>
            <a:pPr lvl="3"/>
            <a:r>
              <a:rPr lang="en-CA" altLang="en-US"/>
              <a:t>adsorption (ex. activated charcoal)</a:t>
            </a:r>
          </a:p>
          <a:p>
            <a:pPr lvl="3"/>
            <a:r>
              <a:rPr lang="en-CA" altLang="en-US"/>
              <a:t>others</a:t>
            </a:r>
          </a:p>
          <a:p>
            <a:pPr lvl="2"/>
            <a:r>
              <a:rPr lang="en-CA" altLang="en-US"/>
              <a:t>Chemical processes: </a:t>
            </a:r>
          </a:p>
          <a:p>
            <a:pPr lvl="3"/>
            <a:r>
              <a:rPr lang="en-CA" altLang="en-US"/>
              <a:t>inactivation, </a:t>
            </a:r>
          </a:p>
          <a:p>
            <a:pPr lvl="3"/>
            <a:r>
              <a:rPr lang="en-CA" altLang="en-US"/>
              <a:t>alteration of pH, </a:t>
            </a:r>
          </a:p>
          <a:p>
            <a:pPr lvl="3"/>
            <a:r>
              <a:rPr lang="en-CA" altLang="en-US"/>
              <a:t>alteration of body fluid </a:t>
            </a:r>
          </a:p>
          <a:p>
            <a:endParaRPr lang="en-CA" altLang="en-US" sz="28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7C60F141-5DA0-19CA-B4DE-94C2C0772EE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4164" y="0"/>
            <a:ext cx="8645236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CA" altLang="en-US"/>
              <a:t>PD cont’d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8B6E86F6-6684-71EB-55B6-0A5862CA927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782147" y="1143000"/>
            <a:ext cx="8733453" cy="4953000"/>
          </a:xfrm>
          <a:ln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CA" altLang="en-US" sz="2800" dirty="0"/>
              <a:t>B. ALTERATION OF CELL FUNCTION</a:t>
            </a:r>
          </a:p>
          <a:p>
            <a:pPr lvl="1"/>
            <a:r>
              <a:rPr lang="en-CA" altLang="en-US" sz="2400" dirty="0"/>
              <a:t>Pharmacological action directly dependent on the chemical structure of the drug</a:t>
            </a:r>
          </a:p>
          <a:p>
            <a:pPr lvl="1"/>
            <a:r>
              <a:rPr lang="en-CA" altLang="en-US" sz="2400" dirty="0"/>
              <a:t>Effects elicited by the drug attaching itself to a three-dimensional receptor</a:t>
            </a:r>
          </a:p>
          <a:p>
            <a:endParaRPr lang="en-CA" altLang="en-US" sz="2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AC3B7EB3-1C0C-0499-E4F6-D2F25F38A96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85166" y="0"/>
            <a:ext cx="8197034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CA" altLang="en-US"/>
              <a:t>PD - Receptor theory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B5FBAA25-9838-854B-C8CC-B6D57303CAB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894114" y="1143000"/>
            <a:ext cx="4963886" cy="5715000"/>
          </a:xfrm>
          <a:ln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CA" altLang="en-US" sz="2800" dirty="0"/>
              <a:t>Receptor:</a:t>
            </a:r>
          </a:p>
          <a:p>
            <a:pPr lvl="1"/>
            <a:r>
              <a:rPr lang="en-CA" altLang="en-US" sz="2400" dirty="0"/>
              <a:t>portion of a cell or tissue to which a drug can bind, resulting in a particular effect</a:t>
            </a:r>
          </a:p>
          <a:p>
            <a:pPr lvl="1"/>
            <a:r>
              <a:rPr lang="en-CA" altLang="en-US" sz="2400" dirty="0"/>
              <a:t>nature: cellular proteins (most often, enzymes, lipids, others)</a:t>
            </a:r>
          </a:p>
          <a:p>
            <a:r>
              <a:rPr lang="en-CA" altLang="en-US" sz="2800" dirty="0"/>
              <a:t>Affinity:  </a:t>
            </a:r>
          </a:p>
          <a:p>
            <a:pPr lvl="1"/>
            <a:r>
              <a:rPr lang="en-CA" altLang="en-US" sz="2400" dirty="0"/>
              <a:t>tendency of the drug to combine with the receptor</a:t>
            </a:r>
          </a:p>
        </p:txBody>
      </p:sp>
      <p:pic>
        <p:nvPicPr>
          <p:cNvPr id="33796" name="Picture 4">
            <a:extLst>
              <a:ext uri="{FF2B5EF4-FFF2-40B4-BE49-F238E27FC236}">
                <a16:creationId xmlns:a16="http://schemas.microsoft.com/office/drawing/2014/main" id="{16030FC7-0C5F-D0EA-0673-04BBC299F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1143000"/>
            <a:ext cx="3935412" cy="51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797" name="Text Box 5">
            <a:extLst>
              <a:ext uri="{FF2B5EF4-FFF2-40B4-BE49-F238E27FC236}">
                <a16:creationId xmlns:a16="http://schemas.microsoft.com/office/drawing/2014/main" id="{BCEC56D9-9233-5676-17CC-2F05B84A3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6324600"/>
            <a:ext cx="4038600" cy="533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fr-CA" altLang="en-US" sz="1800">
                <a:solidFill>
                  <a:schemeClr val="hlink"/>
                </a:solidFill>
                <a:latin typeface="Arial" panose="020B0604020202020204" pitchFamily="34" charset="0"/>
              </a:rPr>
              <a:t>Source: Kalant, Roschlau, Principles of MEDICAL PHARMACOLOGY</a:t>
            </a:r>
            <a:endParaRPr lang="en-US" altLang="en-US" sz="180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E4B0B680-E691-7383-D3A7-F3AF9DB9145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859194" y="0"/>
            <a:ext cx="8199206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CA" altLang="en-US" dirty="0"/>
              <a:t>PD - Agonism vs. Antagonism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AC573C81-9E9E-EEAD-2D65-851E0217980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763486" y="1143000"/>
            <a:ext cx="8904514" cy="4343400"/>
          </a:xfrm>
          <a:ln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CA" altLang="en-US" sz="2800"/>
              <a:t>Agonism:	</a:t>
            </a:r>
          </a:p>
          <a:p>
            <a:pPr lvl="1"/>
            <a:r>
              <a:rPr lang="en-CA" altLang="en-US" sz="2400"/>
              <a:t>when the drug has affinity for the receptor and </a:t>
            </a:r>
            <a:r>
              <a:rPr lang="en-CA" altLang="en-US" sz="2400" u="sng"/>
              <a:t>generates a pharmacologic response</a:t>
            </a:r>
          </a:p>
          <a:p>
            <a:endParaRPr lang="en-CA" altLang="en-US" sz="2800"/>
          </a:p>
          <a:p>
            <a:r>
              <a:rPr lang="en-CA" altLang="en-US" sz="2800"/>
              <a:t>Antagonism:	</a:t>
            </a:r>
          </a:p>
          <a:p>
            <a:pPr lvl="1"/>
            <a:r>
              <a:rPr lang="en-CA" altLang="en-US" sz="2400"/>
              <a:t>when the drug has affinity for the receptor, but </a:t>
            </a:r>
            <a:r>
              <a:rPr lang="en-CA" altLang="en-US" sz="2400" u="sng"/>
              <a:t>does not result in pharmacologic response</a:t>
            </a:r>
          </a:p>
          <a:p>
            <a:pPr lvl="2"/>
            <a:r>
              <a:rPr lang="en-CA" altLang="en-US"/>
              <a:t>reversible or irreversible receptor binding</a:t>
            </a:r>
          </a:p>
          <a:p>
            <a:endParaRPr lang="en-CA" altLang="en-US" sz="28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2AFCC0D2-7371-A34E-457E-992FF093BC8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862658" y="0"/>
            <a:ext cx="8119542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CA" altLang="en-US" dirty="0"/>
              <a:t>Alteration of PK &amp; PD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37A6FEC6-994F-F95B-CE65-6487D59E77C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754155" y="1143000"/>
            <a:ext cx="8913845" cy="5715000"/>
          </a:xfrm>
          <a:ln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CA" altLang="en-US" sz="2800"/>
              <a:t>A.   DISEASE STATES</a:t>
            </a:r>
          </a:p>
          <a:p>
            <a:pPr lvl="1"/>
            <a:r>
              <a:rPr lang="en-CA" altLang="en-US" sz="2400"/>
              <a:t>Heart failure</a:t>
            </a:r>
          </a:p>
          <a:p>
            <a:pPr lvl="2"/>
            <a:r>
              <a:rPr lang="en-CA" altLang="en-US" sz="2000"/>
              <a:t>Decreased absorption (ex. digoxin)</a:t>
            </a:r>
          </a:p>
          <a:p>
            <a:pPr lvl="2"/>
            <a:r>
              <a:rPr lang="en-CA" altLang="en-US" sz="2000"/>
              <a:t>Reduced distribution (ex. digoxin)</a:t>
            </a:r>
          </a:p>
          <a:p>
            <a:pPr lvl="2"/>
            <a:r>
              <a:rPr lang="en-CA" altLang="en-US" sz="2000"/>
              <a:t>Reduced perfusion of:</a:t>
            </a:r>
          </a:p>
          <a:p>
            <a:pPr lvl="3"/>
            <a:r>
              <a:rPr lang="en-CA" altLang="en-US"/>
              <a:t>liver with decreased metabolism</a:t>
            </a:r>
          </a:p>
          <a:p>
            <a:pPr lvl="3"/>
            <a:r>
              <a:rPr lang="en-CA" altLang="en-US"/>
              <a:t>kidneys with decreased excretion</a:t>
            </a:r>
          </a:p>
          <a:p>
            <a:pPr lvl="1"/>
            <a:r>
              <a:rPr lang="en-CA" altLang="en-US" sz="2400"/>
              <a:t>Renal failure</a:t>
            </a:r>
          </a:p>
          <a:p>
            <a:pPr lvl="2"/>
            <a:r>
              <a:rPr lang="en-CA" altLang="en-US" sz="2000"/>
              <a:t>Decreased elimination of renally excreted drugs, with accumulation of parent compounds and active metabolites (ex. gentamicin, vancomycin, oxazepam, lorazepam)</a:t>
            </a:r>
          </a:p>
          <a:p>
            <a:pPr lvl="1"/>
            <a:r>
              <a:rPr lang="en-CA" altLang="en-US" sz="2400"/>
              <a:t>Liver failure</a:t>
            </a:r>
          </a:p>
          <a:p>
            <a:pPr lvl="2"/>
            <a:r>
              <a:rPr lang="en-CA" altLang="en-US" sz="2000"/>
              <a:t>Decreased metabolism of biotransformed drugs (ex. diazepam, cyclosporin)</a:t>
            </a:r>
            <a:endParaRPr lang="en-CA" altLang="en-US" sz="18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>
            <a:extLst>
              <a:ext uri="{FF2B5EF4-FFF2-40B4-BE49-F238E27FC236}">
                <a16:creationId xmlns:a16="http://schemas.microsoft.com/office/drawing/2014/main" id="{D37388B5-60BB-91ED-D413-517285018FF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698171" y="1143000"/>
            <a:ext cx="8969829" cy="4038600"/>
          </a:xfrm>
          <a:ln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CA" altLang="en-US"/>
              <a:t>B.   FOOD &amp; DRUG INTERACTIONS</a:t>
            </a:r>
          </a:p>
          <a:p>
            <a:pPr lvl="1"/>
            <a:r>
              <a:rPr lang="en-CA" altLang="en-US"/>
              <a:t>Absorption</a:t>
            </a:r>
          </a:p>
          <a:p>
            <a:pPr lvl="2"/>
            <a:r>
              <a:rPr lang="en-CA" altLang="en-US"/>
              <a:t>Decreased / delayed / increased absorption by food </a:t>
            </a:r>
          </a:p>
          <a:p>
            <a:pPr lvl="2"/>
            <a:r>
              <a:rPr lang="en-CA" altLang="en-US"/>
              <a:t>Decreased absorption by another drug </a:t>
            </a:r>
          </a:p>
          <a:p>
            <a:pPr lvl="1"/>
            <a:r>
              <a:rPr lang="en-CA" altLang="en-US"/>
              <a:t>Distribution</a:t>
            </a:r>
          </a:p>
          <a:p>
            <a:pPr lvl="2"/>
            <a:r>
              <a:rPr lang="en-CA" altLang="en-US"/>
              <a:t>Displacement from proteins binding sites by another drug</a:t>
            </a:r>
          </a:p>
          <a:p>
            <a:pPr lvl="1"/>
            <a:r>
              <a:rPr lang="en-CA" altLang="en-US"/>
              <a:t>Metabolism</a:t>
            </a:r>
          </a:p>
          <a:p>
            <a:pPr lvl="2"/>
            <a:r>
              <a:rPr lang="en-CA" altLang="en-US"/>
              <a:t>Induction / inhibition of liver metabolism </a:t>
            </a:r>
          </a:p>
          <a:p>
            <a:pPr lvl="1"/>
            <a:r>
              <a:rPr lang="en-CA" altLang="en-US"/>
              <a:t>Elimination</a:t>
            </a:r>
          </a:p>
          <a:p>
            <a:pPr lvl="2">
              <a:lnSpc>
                <a:spcPct val="90000"/>
              </a:lnSpc>
            </a:pPr>
            <a:r>
              <a:rPr lang="en-CA" altLang="en-US"/>
              <a:t>Increased / decreased renal excretion</a:t>
            </a:r>
            <a:endParaRPr lang="en-CA" altLang="en-US" sz="3200"/>
          </a:p>
        </p:txBody>
      </p:sp>
      <p:sp>
        <p:nvSpPr>
          <p:cNvPr id="37892" name="Rectangle 2">
            <a:extLst>
              <a:ext uri="{FF2B5EF4-FFF2-40B4-BE49-F238E27FC236}">
                <a16:creationId xmlns:a16="http://schemas.microsoft.com/office/drawing/2014/main" id="{989D0FEB-6902-C54D-1A63-AFD74F9F4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1663" y="0"/>
            <a:ext cx="81705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CA" altLang="en-US" sz="4400" dirty="0">
                <a:solidFill>
                  <a:schemeClr val="bg1"/>
                </a:solidFill>
              </a:rPr>
              <a:t>Alteration of PK &amp; PD cont’d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>
            <a:extLst>
              <a:ext uri="{FF2B5EF4-FFF2-40B4-BE49-F238E27FC236}">
                <a16:creationId xmlns:a16="http://schemas.microsoft.com/office/drawing/2014/main" id="{C1FF9552-7276-479C-0AF8-5A6DC49D431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735494" y="1143000"/>
            <a:ext cx="8932506" cy="3810000"/>
          </a:xfrm>
          <a:ln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CA" altLang="en-US" sz="2800"/>
              <a:t>Additive effects:</a:t>
            </a:r>
          </a:p>
          <a:p>
            <a:pPr lvl="2"/>
            <a:r>
              <a:rPr lang="en-CA" altLang="en-US"/>
              <a:t>two drugs combined result is the sum of the individual effects</a:t>
            </a:r>
          </a:p>
          <a:p>
            <a:pPr lvl="1"/>
            <a:r>
              <a:rPr lang="en-CA" altLang="en-US" sz="2400"/>
              <a:t>A alone</a:t>
            </a:r>
            <a:r>
              <a:rPr lang="en-CA" altLang="en-US" sz="2400">
                <a:sym typeface="Symbol" panose="05050102010706020507" pitchFamily="18" charset="2"/>
              </a:rPr>
              <a:t></a:t>
            </a:r>
            <a:r>
              <a:rPr lang="en-CA" altLang="en-US" sz="2400"/>
              <a:t>1, B alone</a:t>
            </a:r>
            <a:r>
              <a:rPr lang="en-CA" altLang="en-US" sz="2400">
                <a:sym typeface="Symbol" panose="05050102010706020507" pitchFamily="18" charset="2"/>
              </a:rPr>
              <a:t></a:t>
            </a:r>
            <a:r>
              <a:rPr lang="en-CA" altLang="en-US" sz="2400"/>
              <a:t> 1; A+B </a:t>
            </a:r>
            <a:r>
              <a:rPr lang="en-CA" altLang="en-US" sz="2400">
                <a:sym typeface="Symbol" panose="05050102010706020507" pitchFamily="18" charset="2"/>
              </a:rPr>
              <a:t></a:t>
            </a:r>
            <a:r>
              <a:rPr lang="en-CA" altLang="en-US" sz="2400"/>
              <a:t> 2   </a:t>
            </a:r>
          </a:p>
          <a:p>
            <a:r>
              <a:rPr lang="en-CA" altLang="en-US" sz="2800"/>
              <a:t>Synergistic effects:</a:t>
            </a:r>
          </a:p>
          <a:p>
            <a:pPr lvl="2"/>
            <a:r>
              <a:rPr lang="en-CA" altLang="en-US"/>
              <a:t>two drugs combined result is greater than the sum of both drugs’ individual effects</a:t>
            </a:r>
          </a:p>
          <a:p>
            <a:pPr lvl="1"/>
            <a:r>
              <a:rPr lang="en-CA" altLang="en-US" sz="2400"/>
              <a:t>A alone </a:t>
            </a:r>
            <a:r>
              <a:rPr lang="en-CA" altLang="en-US" sz="2400">
                <a:sym typeface="Symbol" panose="05050102010706020507" pitchFamily="18" charset="2"/>
              </a:rPr>
              <a:t></a:t>
            </a:r>
            <a:r>
              <a:rPr lang="en-CA" altLang="en-US" sz="2400"/>
              <a:t> 1, C alone </a:t>
            </a:r>
            <a:r>
              <a:rPr lang="en-CA" altLang="en-US" sz="2400">
                <a:sym typeface="Symbol" panose="05050102010706020507" pitchFamily="18" charset="2"/>
              </a:rPr>
              <a:t></a:t>
            </a:r>
            <a:r>
              <a:rPr lang="en-CA" altLang="en-US" sz="2400"/>
              <a:t> 1; A+C</a:t>
            </a:r>
            <a:r>
              <a:rPr lang="en-CA" altLang="en-US" sz="2400">
                <a:sym typeface="Symbol" panose="05050102010706020507" pitchFamily="18" charset="2"/>
              </a:rPr>
              <a:t></a:t>
            </a:r>
            <a:r>
              <a:rPr lang="en-CA" altLang="en-US" sz="2400"/>
              <a:t> &gt;2</a:t>
            </a:r>
          </a:p>
          <a:p>
            <a:r>
              <a:rPr lang="en-CA" altLang="en-US" sz="2800"/>
              <a:t>Antagonistic:</a:t>
            </a:r>
          </a:p>
          <a:p>
            <a:pPr lvl="2"/>
            <a:r>
              <a:rPr lang="en-CA" altLang="en-US"/>
              <a:t>two drugs combined result is less than either active component alone</a:t>
            </a:r>
          </a:p>
          <a:p>
            <a:pPr lvl="1"/>
            <a:r>
              <a:rPr lang="en-CA" altLang="en-US" sz="2400"/>
              <a:t> A alone </a:t>
            </a:r>
            <a:r>
              <a:rPr lang="en-CA" altLang="en-US" sz="2400">
                <a:sym typeface="Symbol" panose="05050102010706020507" pitchFamily="18" charset="2"/>
              </a:rPr>
              <a:t> 1, D alone  1; A+D  &lt;1</a:t>
            </a:r>
          </a:p>
        </p:txBody>
      </p:sp>
      <p:sp>
        <p:nvSpPr>
          <p:cNvPr id="40964" name="Rectangle 2">
            <a:extLst>
              <a:ext uri="{FF2B5EF4-FFF2-40B4-BE49-F238E27FC236}">
                <a16:creationId xmlns:a16="http://schemas.microsoft.com/office/drawing/2014/main" id="{C4583240-D3B1-7CDE-6AF5-3D6F6B040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5660" y="0"/>
            <a:ext cx="813654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eaLnBrk="0" hangingPunct="0"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CA" altLang="en-US" sz="4400" dirty="0">
                <a:solidFill>
                  <a:schemeClr val="bg1"/>
                </a:solidFill>
              </a:rPr>
              <a:t>Alteration of PK &amp; PD cont’d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D1876C9E-88B3-98F8-985C-6652A50C7A9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810139" y="0"/>
            <a:ext cx="8857861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CA" altLang="en-US" sz="4200" dirty="0"/>
              <a:t>Other Factors altering PK and PD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91A60189-0FB0-92D3-9DBA-ADA33542231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971800" y="1143000"/>
            <a:ext cx="7010400" cy="5257800"/>
          </a:xfrm>
          <a:ln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CA" altLang="en-US" dirty="0"/>
              <a:t>Patient's age</a:t>
            </a:r>
          </a:p>
          <a:p>
            <a:r>
              <a:rPr lang="en-CA" altLang="en-US" dirty="0"/>
              <a:t>Body temperature</a:t>
            </a:r>
          </a:p>
          <a:p>
            <a:r>
              <a:rPr lang="en-CA" altLang="en-US" dirty="0"/>
              <a:t>Environment (ex. smoking)</a:t>
            </a:r>
          </a:p>
          <a:p>
            <a:r>
              <a:rPr lang="en-CA" altLang="en-US" dirty="0"/>
              <a:t>Nutritional status and diet</a:t>
            </a:r>
          </a:p>
          <a:p>
            <a:r>
              <a:rPr lang="en-CA" altLang="en-US" dirty="0"/>
              <a:t>Genetics</a:t>
            </a:r>
            <a:br>
              <a:rPr lang="en-CA" altLang="en-US" dirty="0"/>
            </a:br>
            <a:r>
              <a:rPr lang="en-CA" altLang="en-US" dirty="0"/>
              <a:t>(Pharmacogenetics)</a:t>
            </a:r>
          </a:p>
          <a:p>
            <a:r>
              <a:rPr lang="en-CA" altLang="en-US" dirty="0"/>
              <a:t>Circadian rhythm (</a:t>
            </a:r>
            <a:r>
              <a:rPr lang="en-CA" altLang="en-US" dirty="0" err="1"/>
              <a:t>Chronopharmacology</a:t>
            </a:r>
            <a:r>
              <a:rPr lang="en-CA" altLang="en-US" dirty="0"/>
              <a:t>)</a:t>
            </a:r>
          </a:p>
          <a:p>
            <a:endParaRPr lang="en-CA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0E291199-F1DD-E138-D9EB-3A4A9CA003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Course Outline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24636136-21D3-D286-A6E4-8FAD9C058B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/>
              <a:t>Definitions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Just a few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Biopharmaceutics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Pharmacokinetics (PK)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Absorption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Distribution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Metabolism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Elimination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Pharmacodynamics (PD)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Factors altering PK/PD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80D84215-44A3-1EE5-6DB8-803C09883D2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CA" altLang="en-US"/>
              <a:t>Questions</a:t>
            </a:r>
          </a:p>
        </p:txBody>
      </p:sp>
      <p:pic>
        <p:nvPicPr>
          <p:cNvPr id="81923" name="Picture 3" descr="Questions.jpg">
            <a:extLst>
              <a:ext uri="{FF2B5EF4-FFF2-40B4-BE49-F238E27FC236}">
                <a16:creationId xmlns:a16="http://schemas.microsoft.com/office/drawing/2014/main" id="{44E93545-C715-07B0-677F-5546BB16DC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75" y="1071564"/>
            <a:ext cx="4267200" cy="543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HA-3112-Template-11-10-26">
  <a:themeElements>
    <a:clrScheme name="">
      <a:dk1>
        <a:srgbClr val="786950"/>
      </a:dk1>
      <a:lt1>
        <a:srgbClr val="FFFF99"/>
      </a:lt1>
      <a:dk2>
        <a:srgbClr val="205E39"/>
      </a:dk2>
      <a:lt2>
        <a:srgbClr val="FF9900"/>
      </a:lt2>
      <a:accent1>
        <a:srgbClr val="FFFFFF"/>
      </a:accent1>
      <a:accent2>
        <a:srgbClr val="D54F41"/>
      </a:accent2>
      <a:accent3>
        <a:srgbClr val="ABB6AE"/>
      </a:accent3>
      <a:accent4>
        <a:srgbClr val="DADA82"/>
      </a:accent4>
      <a:accent5>
        <a:srgbClr val="FFFFFF"/>
      </a:accent5>
      <a:accent6>
        <a:srgbClr val="C1473A"/>
      </a:accent6>
      <a:hlink>
        <a:srgbClr val="003300"/>
      </a:hlink>
      <a:folHlink>
        <a:srgbClr val="339933"/>
      </a:folHlink>
    </a:clrScheme>
    <a:fontScheme name="Office Theme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rgbClr val="000000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rgbClr val="000000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EAEAEA"/>
        </a:lt1>
        <a:dk2>
          <a:srgbClr val="819E81"/>
        </a:dk2>
        <a:lt2>
          <a:srgbClr val="FFCC66"/>
        </a:lt2>
        <a:accent1>
          <a:srgbClr val="727DE0"/>
        </a:accent1>
        <a:accent2>
          <a:srgbClr val="D54F41"/>
        </a:accent2>
        <a:accent3>
          <a:srgbClr val="C1CCC1"/>
        </a:accent3>
        <a:accent4>
          <a:srgbClr val="C8C8C8"/>
        </a:accent4>
        <a:accent5>
          <a:srgbClr val="BCBFED"/>
        </a:accent5>
        <a:accent6>
          <a:srgbClr val="C1473A"/>
        </a:accent6>
        <a:hlink>
          <a:srgbClr val="003300"/>
        </a:hlink>
        <a:folHlink>
          <a:srgbClr val="66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E9E2B6"/>
        </a:lt1>
        <a:dk2>
          <a:srgbClr val="996600"/>
        </a:dk2>
        <a:lt2>
          <a:srgbClr val="786950"/>
        </a:lt2>
        <a:accent1>
          <a:srgbClr val="727DE0"/>
        </a:accent1>
        <a:accent2>
          <a:srgbClr val="D54F41"/>
        </a:accent2>
        <a:accent3>
          <a:srgbClr val="F2EED7"/>
        </a:accent3>
        <a:accent4>
          <a:srgbClr val="000000"/>
        </a:accent4>
        <a:accent5>
          <a:srgbClr val="BCBFED"/>
        </a:accent5>
        <a:accent6>
          <a:srgbClr val="C1473A"/>
        </a:accent6>
        <a:hlink>
          <a:srgbClr val="003300"/>
        </a:hlink>
        <a:folHlink>
          <a:srgbClr val="3399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EAEAEA"/>
        </a:lt1>
        <a:dk2>
          <a:srgbClr val="BC6262"/>
        </a:dk2>
        <a:lt2>
          <a:srgbClr val="FFCC66"/>
        </a:lt2>
        <a:accent1>
          <a:srgbClr val="727DE0"/>
        </a:accent1>
        <a:accent2>
          <a:srgbClr val="D54F41"/>
        </a:accent2>
        <a:accent3>
          <a:srgbClr val="DAB7B7"/>
        </a:accent3>
        <a:accent4>
          <a:srgbClr val="C8C8C8"/>
        </a:accent4>
        <a:accent5>
          <a:srgbClr val="BCBFED"/>
        </a:accent5>
        <a:accent6>
          <a:srgbClr val="C1473A"/>
        </a:accent6>
        <a:hlink>
          <a:srgbClr val="000066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EAEAEA"/>
        </a:lt1>
        <a:dk2>
          <a:srgbClr val="5C74A4"/>
        </a:dk2>
        <a:lt2>
          <a:srgbClr val="FFCC99"/>
        </a:lt2>
        <a:accent1>
          <a:srgbClr val="727DE0"/>
        </a:accent1>
        <a:accent2>
          <a:srgbClr val="D54F41"/>
        </a:accent2>
        <a:accent3>
          <a:srgbClr val="B5BCCF"/>
        </a:accent3>
        <a:accent4>
          <a:srgbClr val="C8C8C8"/>
        </a:accent4>
        <a:accent5>
          <a:srgbClr val="BCBFED"/>
        </a:accent5>
        <a:accent6>
          <a:srgbClr val="C1473A"/>
        </a:accent6>
        <a:hlink>
          <a:srgbClr val="FFFFCC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EAEAEA"/>
        </a:lt1>
        <a:dk2>
          <a:srgbClr val="996600"/>
        </a:dk2>
        <a:lt2>
          <a:srgbClr val="FFCC99"/>
        </a:lt2>
        <a:accent1>
          <a:srgbClr val="727DE0"/>
        </a:accent1>
        <a:accent2>
          <a:srgbClr val="D54F41"/>
        </a:accent2>
        <a:accent3>
          <a:srgbClr val="CAB8AA"/>
        </a:accent3>
        <a:accent4>
          <a:srgbClr val="C8C8C8"/>
        </a:accent4>
        <a:accent5>
          <a:srgbClr val="BCBFED"/>
        </a:accent5>
        <a:accent6>
          <a:srgbClr val="C1473A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21-PHCNP-Dermato.pptx" id="{0E621B66-DF74-4DBC-BA58-D04AF3C41D84}" vid="{71E1C264-7D24-47C1-94F1-1023C5439D8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Pharm Template</Template>
  <TotalTime>264</TotalTime>
  <Words>2097</Words>
  <Application>Microsoft Office PowerPoint</Application>
  <PresentationFormat>Widescreen</PresentationFormat>
  <Paragraphs>361</Paragraphs>
  <Slides>47</Slides>
  <Notes>11</Notes>
  <HiddenSlides>2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6" baseType="lpstr">
      <vt:lpstr>Arial</vt:lpstr>
      <vt:lpstr>Calibri</vt:lpstr>
      <vt:lpstr>Courier New</vt:lpstr>
      <vt:lpstr>Google Sans</vt:lpstr>
      <vt:lpstr>Symbol</vt:lpstr>
      <vt:lpstr>Times New Roman</vt:lpstr>
      <vt:lpstr>Wingdings</vt:lpstr>
      <vt:lpstr>PHA-3112-Template-11-10-26</vt:lpstr>
      <vt:lpstr>Organization Chart</vt:lpstr>
      <vt:lpstr>Drug Action and Pharmacokinetics</vt:lpstr>
      <vt:lpstr>Learning Objectives</vt:lpstr>
      <vt:lpstr>Learning Objectives cont’d</vt:lpstr>
      <vt:lpstr>Pre-reading Questions</vt:lpstr>
      <vt:lpstr>Course Outline</vt:lpstr>
      <vt:lpstr>Definitions</vt:lpstr>
      <vt:lpstr>Definitions cont’d</vt:lpstr>
      <vt:lpstr>Interrelationships</vt:lpstr>
      <vt:lpstr>Phases of Drug Activity</vt:lpstr>
      <vt:lpstr>Routes of Administration</vt:lpstr>
      <vt:lpstr>Biopharmaceutic Phase</vt:lpstr>
      <vt:lpstr>Biopharmaceutics Phase cont’d</vt:lpstr>
      <vt:lpstr>Disintegration &amp; Dissolution</vt:lpstr>
      <vt:lpstr>Pharmacokinetic (PK) Phases</vt:lpstr>
      <vt:lpstr>PK - Absorption Phase</vt:lpstr>
      <vt:lpstr>Absorption cont’d</vt:lpstr>
      <vt:lpstr>Absorption cont’d</vt:lpstr>
      <vt:lpstr>Absorption cont’d</vt:lpstr>
      <vt:lpstr>Absorption cont’d</vt:lpstr>
      <vt:lpstr>Relationship b/w Blood Concentration &amp; Effect</vt:lpstr>
      <vt:lpstr>PK - Distribution Phase</vt:lpstr>
      <vt:lpstr>Distribution - special considerations</vt:lpstr>
      <vt:lpstr>Distribution - Drug Transport</vt:lpstr>
      <vt:lpstr>Metabolism phase</vt:lpstr>
      <vt:lpstr>Metabolism - reactions</vt:lpstr>
      <vt:lpstr>Metabolism Activity of metabolites</vt:lpstr>
      <vt:lpstr>Cytochrome P-450</vt:lpstr>
      <vt:lpstr>P450 some examples</vt:lpstr>
      <vt:lpstr>Elimination phase</vt:lpstr>
      <vt:lpstr>Elimination cont’d</vt:lpstr>
      <vt:lpstr>Steady State &amp; Accumulation</vt:lpstr>
      <vt:lpstr>Drug Accumulation to Steady State</vt:lpstr>
      <vt:lpstr>PowerPoint Presentation</vt:lpstr>
      <vt:lpstr>PowerPoint Presentation</vt:lpstr>
      <vt:lpstr>Therapeutic Range</vt:lpstr>
      <vt:lpstr>Loading Doses</vt:lpstr>
      <vt:lpstr>PowerPoint Presentation</vt:lpstr>
      <vt:lpstr>Pharmacodynamics (PD)</vt:lpstr>
      <vt:lpstr>PD cont’d</vt:lpstr>
      <vt:lpstr>PD - Receptor theory</vt:lpstr>
      <vt:lpstr>PD - Agonism vs. Antagonism</vt:lpstr>
      <vt:lpstr>Alteration of PK &amp; PD</vt:lpstr>
      <vt:lpstr>PowerPoint Presentation</vt:lpstr>
      <vt:lpstr>PowerPoint Presentation</vt:lpstr>
      <vt:lpstr>Other Factors altering PK and PD</vt:lpstr>
      <vt:lpstr>Course Outline</vt:lpstr>
      <vt:lpstr>Questions</vt:lpstr>
    </vt:vector>
  </TitlesOfParts>
  <Company>Canadian Blood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Drug Action and Pharmacokinetics</dc:title>
  <dc:creator>Sylvain Grenier</dc:creator>
  <cp:lastModifiedBy>Sherry Morrell</cp:lastModifiedBy>
  <cp:revision>2</cp:revision>
  <dcterms:created xsi:type="dcterms:W3CDTF">2023-08-25T12:48:01Z</dcterms:created>
  <dcterms:modified xsi:type="dcterms:W3CDTF">2024-05-24T21:29:18Z</dcterms:modified>
</cp:coreProperties>
</file>