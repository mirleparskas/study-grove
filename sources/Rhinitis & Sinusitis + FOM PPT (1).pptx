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5"/>
  </p:notesMasterIdLst>
  <p:sldIdLst>
    <p:sldId id="256" r:id="rId2"/>
    <p:sldId id="258" r:id="rId3"/>
    <p:sldId id="263" r:id="rId4"/>
    <p:sldId id="265" r:id="rId5"/>
    <p:sldId id="268" r:id="rId6"/>
    <p:sldId id="260" r:id="rId7"/>
    <p:sldId id="264" r:id="rId8"/>
    <p:sldId id="266" r:id="rId9"/>
    <p:sldId id="261" r:id="rId10"/>
    <p:sldId id="259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102" autoAdjust="0"/>
  </p:normalViewPr>
  <p:slideViewPr>
    <p:cSldViewPr snapToGrid="0">
      <p:cViewPr varScale="1">
        <p:scale>
          <a:sx n="58" d="100"/>
          <a:sy n="58" d="100"/>
        </p:scale>
        <p:origin x="9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DCC2E-CF2D-410E-8464-E3CEA3306CE9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3DA54-A60B-4E00-A601-80C7998EF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585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What other physical examinations will you do when someone presents with these symptoms?</a:t>
            </a:r>
          </a:p>
          <a:p>
            <a:r>
              <a:rPr lang="en-CA" dirty="0"/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3DA54-A60B-4E00-A601-80C7998EFE6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567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Septal spur is not always present; a normal variant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3DA54-A60B-4E00-A601-80C7998EFE6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1871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What other physical examinations will you do when someone presents with symptoms concerning for sinusitis?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3DA54-A60B-4E00-A601-80C7998EFE6B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573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630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546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6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4285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03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4260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3407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676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586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3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61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49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4261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908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9377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8297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2252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21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6963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817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2804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0839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76189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7835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8279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39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18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9515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D3D6741A-CBA5-45FA-A256-B4A5F48EB047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27BD9CE4-AF9C-40F5-99D5-FF14E49FEE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9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8Lo3bENDqzs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-CYWdc73IQ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A807-82D0-B55C-7F94-4933A8F51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Rhinitis, Rhinosinusitis, and Sinusitis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68A57-AD64-B85F-B230-74655112E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8770" y="3260367"/>
            <a:ext cx="7289245" cy="1184035"/>
          </a:xfrm>
        </p:spPr>
        <p:txBody>
          <a:bodyPr/>
          <a:lstStyle/>
          <a:p>
            <a:r>
              <a:rPr lang="en-CA" dirty="0"/>
              <a:t>AHAD 1</a:t>
            </a:r>
          </a:p>
          <a:p>
            <a:r>
              <a:rPr lang="en-CA" dirty="0"/>
              <a:t>Gabrielle Heil, MN, NP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814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56B2-FD48-5338-A5A8-5922FE6C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-477945"/>
            <a:ext cx="10515600" cy="1325563"/>
          </a:xfrm>
        </p:spPr>
        <p:txBody>
          <a:bodyPr/>
          <a:lstStyle/>
          <a:p>
            <a:r>
              <a:rPr lang="en-CA" dirty="0"/>
              <a:t>Rhinitis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245CB-078B-2596-C81E-FAE4D1D5A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71" y="1054082"/>
            <a:ext cx="10946258" cy="47498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Definition: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Risks: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Symptoms: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Signs: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Physical Examinations: </a:t>
            </a:r>
          </a:p>
          <a:p>
            <a:pPr marL="0" indent="0">
              <a:spcBef>
                <a:spcPts val="0"/>
              </a:spcBef>
              <a:buNone/>
            </a:pPr>
            <a:endParaRPr lang="en-CA" sz="12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Confirmatory Diagnostics:</a:t>
            </a:r>
            <a:r>
              <a:rPr lang="en-CA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07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5AB5-40D9-FA40-CD5F-A2A8E242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0B6A-E996-D13E-D60E-7BBF03CE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-477945"/>
            <a:ext cx="10515600" cy="1325563"/>
          </a:xfrm>
        </p:spPr>
        <p:txBody>
          <a:bodyPr/>
          <a:lstStyle/>
          <a:p>
            <a:r>
              <a:rPr lang="en-CA" dirty="0"/>
              <a:t>Rhinitis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E1052-F1B3-6A98-F179-DD9990C8B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71" y="1054082"/>
            <a:ext cx="10946258" cy="47498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Definition: </a:t>
            </a:r>
            <a:r>
              <a:rPr lang="en-CA" sz="1800" dirty="0"/>
              <a:t>inflammation of the nasal turbinates 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endParaRPr lang="en-CA" sz="12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Risks: </a:t>
            </a:r>
            <a:r>
              <a:rPr lang="en-CA" sz="1800" dirty="0"/>
              <a:t>allergies, infection exposure, NSAID use, nasal corticosteroid discontinuation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endParaRPr lang="en-CA" sz="12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Symptoms: </a:t>
            </a:r>
            <a:r>
              <a:rPr lang="en-CA" sz="1800" dirty="0"/>
              <a:t>rhinorrhea, sneezing, nasal stuffiness and blockage</a:t>
            </a:r>
          </a:p>
          <a:p>
            <a:pPr marL="0" indent="0">
              <a:spcBef>
                <a:spcPts val="0"/>
              </a:spcBef>
              <a:buNone/>
            </a:pPr>
            <a:endParaRPr lang="en-CA" sz="12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Signs: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Physical Examination findings: 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CA" sz="1800" dirty="0"/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Confirmatory Diagnostics:</a:t>
            </a:r>
            <a:r>
              <a:rPr lang="en-CA" sz="1800" dirty="0"/>
              <a:t> Only if initial management is not successful</a:t>
            </a:r>
          </a:p>
          <a:p>
            <a:pPr lvl="1">
              <a:spcBef>
                <a:spcPts val="0"/>
              </a:spcBef>
            </a:pPr>
            <a:r>
              <a:rPr lang="en-CA" sz="1800" dirty="0"/>
              <a:t>Nasal smear for infection (neutrophils, bacteria) or allergic (eosinophils)/allergy testing</a:t>
            </a:r>
          </a:p>
          <a:p>
            <a:pPr lvl="1">
              <a:spcBef>
                <a:spcPts val="0"/>
              </a:spcBef>
            </a:pPr>
            <a:r>
              <a:rPr lang="en-CA" sz="1800" dirty="0"/>
              <a:t>Infection: CRP</a:t>
            </a:r>
          </a:p>
          <a:p>
            <a:pPr lvl="1">
              <a:spcBef>
                <a:spcPts val="0"/>
              </a:spcBef>
            </a:pPr>
            <a:r>
              <a:rPr lang="en-CA" sz="1800" dirty="0"/>
              <a:t>Allergies: allergy testing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D07DC7-7AD1-3A68-C1F8-BC7D301A9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32587"/>
              </p:ext>
            </p:extLst>
          </p:nvPr>
        </p:nvGraphicFramePr>
        <p:xfrm>
          <a:off x="1401064" y="3429000"/>
          <a:ext cx="8128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7523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46879064"/>
                    </a:ext>
                  </a:extLst>
                </a:gridCol>
              </a:tblGrid>
              <a:tr h="316218">
                <a:tc>
                  <a:txBody>
                    <a:bodyPr/>
                    <a:lstStyle/>
                    <a:p>
                      <a:r>
                        <a:rPr lang="en-CA" dirty="0"/>
                        <a:t>Allergic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Infectious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488574"/>
                  </a:ext>
                </a:extLst>
              </a:tr>
              <a:tr h="1067236">
                <a:tc>
                  <a:txBody>
                    <a:bodyPr/>
                    <a:lstStyle/>
                    <a:p>
                      <a:r>
                        <a:rPr lang="en-CA" sz="1500" dirty="0"/>
                        <a:t>Nasal mucosa pale &amp; boggy</a:t>
                      </a:r>
                    </a:p>
                    <a:p>
                      <a:r>
                        <a:rPr lang="en-CA" sz="1500" dirty="0"/>
                        <a:t>Clear </a:t>
                      </a:r>
                      <a:r>
                        <a:rPr lang="en-CA" sz="1500" dirty="0" err="1"/>
                        <a:t>rhinorhea</a:t>
                      </a:r>
                      <a:r>
                        <a:rPr lang="en-CA" sz="1500" dirty="0"/>
                        <a:t>, watery mucous</a:t>
                      </a:r>
                    </a:p>
                    <a:p>
                      <a:r>
                        <a:rPr lang="en-CA" sz="1500" dirty="0"/>
                        <a:t>Associated allergic sequelae (e.g. allergic conjunctivitis)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Nasal mucosa erythematous &amp; swollen</a:t>
                      </a:r>
                    </a:p>
                    <a:p>
                      <a:r>
                        <a:rPr lang="en-CA" sz="1500" dirty="0"/>
                        <a:t>Purulent discharge (yellow/green)</a:t>
                      </a:r>
                    </a:p>
                    <a:p>
                      <a:r>
                        <a:rPr lang="en-CA" sz="1500" dirty="0"/>
                        <a:t>Fever possible </a:t>
                      </a:r>
                    </a:p>
                    <a:p>
                      <a:r>
                        <a:rPr lang="en-CA" sz="1500" dirty="0"/>
                        <a:t>Other viral symptoms associated</a:t>
                      </a:r>
                    </a:p>
                    <a:p>
                      <a:endParaRPr lang="en-CA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4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572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hinorrhoea — ent4gp.com">
            <a:extLst>
              <a:ext uri="{FF2B5EF4-FFF2-40B4-BE49-F238E27FC236}">
                <a16:creationId xmlns:a16="http://schemas.microsoft.com/office/drawing/2014/main" id="{F746F6D2-A0A5-B0D5-9996-19741441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9" y="268414"/>
            <a:ext cx="4772025" cy="3724275"/>
          </a:xfrm>
          <a:prstGeom prst="rect">
            <a:avLst/>
          </a:prstGeom>
        </p:spPr>
      </p:pic>
      <p:pic>
        <p:nvPicPr>
          <p:cNvPr id="8" name="Picture 7" descr="Allergic Rhinitis in Children - Pediatric Otorhinolaryngology: Diagnosis  and Treatment, 1st Ed.">
            <a:extLst>
              <a:ext uri="{FF2B5EF4-FFF2-40B4-BE49-F238E27FC236}">
                <a16:creationId xmlns:a16="http://schemas.microsoft.com/office/drawing/2014/main" id="{0556EBC7-CB22-2FA7-53B8-3A3AFA9D3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316" y="453080"/>
            <a:ext cx="5715000" cy="266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9CA26-71F8-4A80-67C2-3B3C78A09BA5}"/>
              </a:ext>
            </a:extLst>
          </p:cNvPr>
          <p:cNvSpPr txBox="1"/>
          <p:nvPr/>
        </p:nvSpPr>
        <p:spPr>
          <a:xfrm>
            <a:off x="7750366" y="83748"/>
            <a:ext cx="1894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Allergic Rhinitis </a:t>
            </a:r>
          </a:p>
        </p:txBody>
      </p:sp>
      <p:pic>
        <p:nvPicPr>
          <p:cNvPr id="11" name="Picture 10" descr="978-3-13-169901-5_c017_f003.tif">
            <a:extLst>
              <a:ext uri="{FF2B5EF4-FFF2-40B4-BE49-F238E27FC236}">
                <a16:creationId xmlns:a16="http://schemas.microsoft.com/office/drawing/2014/main" id="{DE30EC95-AF67-CFA0-15D2-6BA6AE2FD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390" y="4203776"/>
            <a:ext cx="7620000" cy="4559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2147A0-B8EC-556B-3561-812A102507B5}"/>
              </a:ext>
            </a:extLst>
          </p:cNvPr>
          <p:cNvSpPr txBox="1"/>
          <p:nvPr/>
        </p:nvSpPr>
        <p:spPr>
          <a:xfrm>
            <a:off x="7616328" y="3808023"/>
            <a:ext cx="2464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Infectious Rhinitis </a:t>
            </a:r>
          </a:p>
        </p:txBody>
      </p:sp>
    </p:spTree>
    <p:extLst>
      <p:ext uri="{BB962C8B-B14F-4D97-AF65-F5344CB8AC3E}">
        <p14:creationId xmlns:p14="http://schemas.microsoft.com/office/powerpoint/2010/main" val="366658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2AD4-1051-57BE-B377-AC282DB1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9E69-FE88-E49E-8FFA-5447D5FB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-477945"/>
            <a:ext cx="10515600" cy="1325563"/>
          </a:xfrm>
        </p:spPr>
        <p:txBody>
          <a:bodyPr/>
          <a:lstStyle/>
          <a:p>
            <a:r>
              <a:rPr lang="en-CA" dirty="0"/>
              <a:t>Acute Sinusitis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F220-3A39-9A27-4A7E-668963A3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71" y="1054082"/>
            <a:ext cx="10946258" cy="47498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Definition: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Risks: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Symptoms: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Signs: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Physical Examinations: </a:t>
            </a:r>
          </a:p>
          <a:p>
            <a:pPr marL="0" indent="0">
              <a:spcBef>
                <a:spcPts val="0"/>
              </a:spcBef>
              <a:buNone/>
            </a:pPr>
            <a:endParaRPr lang="en-CA" sz="12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Confirmatory Diagnostics:</a:t>
            </a:r>
            <a:r>
              <a:rPr lang="en-CA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811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52116-EFA6-8B7B-DC74-FE1E11D5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B82A-E51D-8807-4B8F-7FEB9947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-477945"/>
            <a:ext cx="10515600" cy="1325563"/>
          </a:xfrm>
        </p:spPr>
        <p:txBody>
          <a:bodyPr/>
          <a:lstStyle/>
          <a:p>
            <a:r>
              <a:rPr lang="en-CA" dirty="0"/>
              <a:t>Acute Sinusitis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31851-C3D7-E077-5702-4AD0E7FEF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71" y="1054082"/>
            <a:ext cx="10946258" cy="47498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Definition: </a:t>
            </a:r>
            <a:r>
              <a:rPr lang="en-CA" sz="1800" dirty="0"/>
              <a:t>inflammation of the frontal, maxillary, and/or ethmoid sinuses </a:t>
            </a: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Risks: </a:t>
            </a:r>
            <a:r>
              <a:rPr lang="en-CA" sz="1800" dirty="0"/>
              <a:t>smoking, recent URI, winter months</a:t>
            </a:r>
          </a:p>
          <a:p>
            <a:pPr marL="0" indent="0">
              <a:spcBef>
                <a:spcPts val="0"/>
              </a:spcBef>
              <a:buNone/>
            </a:pPr>
            <a:endParaRPr lang="en-CA" sz="1200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Symptoms: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Purulent nasal discharge (yellow/green), frontal headaches worse with forward bending, fullness/pressure feeling</a:t>
            </a:r>
          </a:p>
          <a:p>
            <a:pPr marL="0" indent="0">
              <a:spcBef>
                <a:spcPts val="0"/>
              </a:spcBef>
              <a:buNone/>
            </a:pPr>
            <a:endParaRPr lang="en-CA" sz="18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Signs: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Physical Examinations: </a:t>
            </a:r>
          </a:p>
          <a:p>
            <a:pPr lvl="1">
              <a:spcBef>
                <a:spcPts val="0"/>
              </a:spcBef>
            </a:pPr>
            <a:r>
              <a:rPr lang="en-CA" sz="1800" dirty="0"/>
              <a:t>Decreased transillumination</a:t>
            </a:r>
          </a:p>
          <a:p>
            <a:pPr lvl="1">
              <a:spcBef>
                <a:spcPts val="0"/>
              </a:spcBef>
            </a:pPr>
            <a:r>
              <a:rPr lang="en-CA" sz="1800" dirty="0"/>
              <a:t>Palpation/percussion: localized tenderness to affected sinus, maxillary toothache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sz="1800" dirty="0"/>
              <a:t>			</a:t>
            </a:r>
            <a:r>
              <a:rPr lang="en-CA" sz="1200" dirty="0"/>
              <a:t>Not listening for the sound associated with percussion, just tenderness or referred pain</a:t>
            </a:r>
          </a:p>
          <a:p>
            <a:pPr lvl="1">
              <a:spcBef>
                <a:spcPts val="0"/>
              </a:spcBef>
            </a:pPr>
            <a:r>
              <a:rPr lang="en-CA" sz="1800" dirty="0"/>
              <a:t>Vitals: fever</a:t>
            </a:r>
          </a:p>
          <a:p>
            <a:pPr marL="0" indent="0">
              <a:spcBef>
                <a:spcPts val="0"/>
              </a:spcBef>
              <a:buNone/>
            </a:pPr>
            <a:endParaRPr lang="en-CA" sz="1200" b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b="1" dirty="0"/>
              <a:t>Confirmatory Diagnostics:</a:t>
            </a:r>
            <a:r>
              <a:rPr lang="en-CA" sz="1800" dirty="0"/>
              <a:t> None</a:t>
            </a:r>
          </a:p>
        </p:txBody>
      </p:sp>
    </p:spTree>
    <p:extLst>
      <p:ext uri="{BB962C8B-B14F-4D97-AF65-F5344CB8AC3E}">
        <p14:creationId xmlns:p14="http://schemas.microsoft.com/office/powerpoint/2010/main" val="272838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Frontal Sinus Transillumination">
            <a:hlinkClick r:id="" action="ppaction://media"/>
            <a:extLst>
              <a:ext uri="{FF2B5EF4-FFF2-40B4-BE49-F238E27FC236}">
                <a16:creationId xmlns:a16="http://schemas.microsoft.com/office/drawing/2014/main" id="{291198FD-98D2-308D-8E84-398C964F01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438400" y="418641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Maxillary Sinus Transillumination">
            <a:hlinkClick r:id="" action="ppaction://media"/>
            <a:extLst>
              <a:ext uri="{FF2B5EF4-FFF2-40B4-BE49-F238E27FC236}">
                <a16:creationId xmlns:a16="http://schemas.microsoft.com/office/drawing/2014/main" id="{E7FFDB8A-7E12-A838-68B8-652E7F5F20E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32370" y="685034"/>
            <a:ext cx="7674338" cy="575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3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B12A-A927-A1B0-CE6E-90B6B961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294E-67FB-302B-29D0-68EE9D44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-477945"/>
            <a:ext cx="10515600" cy="1325563"/>
          </a:xfrm>
        </p:spPr>
        <p:txBody>
          <a:bodyPr/>
          <a:lstStyle/>
          <a:p>
            <a:r>
              <a:rPr lang="en-CA" dirty="0"/>
              <a:t>Viral vs. Bacterial Sinusitis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0E145C-6FF6-0E26-023E-3905F7CD3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073214"/>
              </p:ext>
            </p:extLst>
          </p:nvPr>
        </p:nvGraphicFramePr>
        <p:xfrm>
          <a:off x="700088" y="1511300"/>
          <a:ext cx="10775631" cy="477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064">
                  <a:extLst>
                    <a:ext uri="{9D8B030D-6E8A-4147-A177-3AD203B41FA5}">
                      <a16:colId xmlns:a16="http://schemas.microsoft.com/office/drawing/2014/main" val="383985876"/>
                    </a:ext>
                  </a:extLst>
                </a:gridCol>
                <a:gridCol w="4087106">
                  <a:extLst>
                    <a:ext uri="{9D8B030D-6E8A-4147-A177-3AD203B41FA5}">
                      <a16:colId xmlns:a16="http://schemas.microsoft.com/office/drawing/2014/main" val="4187019395"/>
                    </a:ext>
                  </a:extLst>
                </a:gridCol>
                <a:gridCol w="5029461">
                  <a:extLst>
                    <a:ext uri="{9D8B030D-6E8A-4147-A177-3AD203B41FA5}">
                      <a16:colId xmlns:a16="http://schemas.microsoft.com/office/drawing/2014/main" val="2833870010"/>
                    </a:ext>
                  </a:extLst>
                </a:gridCol>
              </a:tblGrid>
              <a:tr h="371987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Viral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Bacterial (ADULT)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5988"/>
                  </a:ext>
                </a:extLst>
              </a:tr>
              <a:tr h="917227">
                <a:tc>
                  <a:txBody>
                    <a:bodyPr/>
                    <a:lstStyle/>
                    <a:p>
                      <a:r>
                        <a:rPr lang="en-CA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Largely resolves or markedly improved within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No symptom improvement after 7 days </a:t>
                      </a:r>
                      <a:r>
                        <a:rPr lang="en-CA" i="1" u="sng" dirty="0"/>
                        <a:t>OR</a:t>
                      </a:r>
                      <a:r>
                        <a:rPr lang="en-CA" dirty="0"/>
                        <a:t> worsening after 5-7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581099"/>
                  </a:ext>
                </a:extLst>
              </a:tr>
              <a:tr h="3118572">
                <a:tc>
                  <a:txBody>
                    <a:bodyPr/>
                    <a:lstStyle/>
                    <a:p>
                      <a:r>
                        <a:rPr lang="en-CA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Associated with other viral sequelae: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dirty="0"/>
                        <a:t>Rhinitis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dirty="0"/>
                        <a:t>Pharyngitis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dirty="0"/>
                        <a:t>Cough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2+ major symptoms present:</a:t>
                      </a:r>
                    </a:p>
                    <a:p>
                      <a:r>
                        <a:rPr lang="en-CA" dirty="0"/>
                        <a:t> </a:t>
                      </a:r>
                    </a:p>
                    <a:p>
                      <a:r>
                        <a:rPr lang="en-CA" b="1" dirty="0"/>
                        <a:t>At least 1 of the major symptoms must include: </a:t>
                      </a:r>
                    </a:p>
                    <a:p>
                      <a:r>
                        <a:rPr lang="en-CA" dirty="0"/>
                        <a:t>Nasal obstruction, purulent nasal AND/OR pharyngeal discharge </a:t>
                      </a:r>
                    </a:p>
                    <a:p>
                      <a:endParaRPr lang="en-CA" dirty="0"/>
                    </a:p>
                    <a:p>
                      <a:r>
                        <a:rPr lang="en-CA" i="1" u="sng" dirty="0"/>
                        <a:t>Other major symptoms: </a:t>
                      </a:r>
                      <a:r>
                        <a:rPr lang="en-CA" dirty="0"/>
                        <a:t>Facial pain/pressure/ fullness; hyposmia/anosmia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915376"/>
                  </a:ext>
                </a:extLst>
              </a:tr>
              <a:tr h="371987">
                <a:tc>
                  <a:txBody>
                    <a:bodyPr/>
                    <a:lstStyle/>
                    <a:p>
                      <a:r>
                        <a:rPr lang="en-CA" dirty="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Lowe grade fever more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High fever more common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402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2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828E-AAEB-5BEF-818B-EF269AC4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2667-4099-DC98-565D-DCC06152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-477945"/>
            <a:ext cx="10515600" cy="1325563"/>
          </a:xfrm>
        </p:spPr>
        <p:txBody>
          <a:bodyPr/>
          <a:lstStyle/>
          <a:p>
            <a:r>
              <a:rPr lang="en-CA" dirty="0"/>
              <a:t>Rhinosinusitis (the common cold)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E406-FD98-8643-AD7C-2EB75DE8B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71" y="1054082"/>
            <a:ext cx="10946258" cy="47498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A combination of sinusitis &amp; rhinitis symptoms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When both exist, it is likely a viral cause, as the virus is contributing to the diverse sequelae </a:t>
            </a:r>
          </a:p>
          <a:p>
            <a:pPr marL="0" indent="0">
              <a:spcBef>
                <a:spcPts val="0"/>
              </a:spcBef>
              <a:buNone/>
            </a:pPr>
            <a:endParaRPr lang="en-CA" sz="1800" dirty="0"/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/>
              <a:t>* Viral sinusitis may pave the way for bacterial sinusitis </a:t>
            </a:r>
          </a:p>
        </p:txBody>
      </p:sp>
    </p:spTree>
    <p:extLst>
      <p:ext uri="{BB962C8B-B14F-4D97-AF65-F5344CB8AC3E}">
        <p14:creationId xmlns:p14="http://schemas.microsoft.com/office/powerpoint/2010/main" val="1925728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1D18-76BF-1EBC-74CB-6C1BD95D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Don’t Miss Diagnosis: Frontal Osteomyelitis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A9247-BAE2-E77E-BA86-3693AC15FBA5}"/>
              </a:ext>
            </a:extLst>
          </p:cNvPr>
          <p:cNvSpPr txBox="1"/>
          <p:nvPr/>
        </p:nvSpPr>
        <p:spPr>
          <a:xfrm>
            <a:off x="914400" y="1905918"/>
            <a:ext cx="1017958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Definition:</a:t>
            </a:r>
            <a:endParaRPr lang="en-CA" sz="1200" dirty="0"/>
          </a:p>
          <a:p>
            <a:r>
              <a:rPr lang="en-CA" b="1" dirty="0"/>
              <a:t>Risks:</a:t>
            </a:r>
            <a:endParaRPr lang="en-CA" sz="1200" dirty="0"/>
          </a:p>
          <a:p>
            <a:r>
              <a:rPr lang="en-CA" b="1" dirty="0"/>
              <a:t>Symptoms: </a:t>
            </a:r>
          </a:p>
          <a:p>
            <a:r>
              <a:rPr lang="en-CA" b="1" dirty="0"/>
              <a:t>Signs: </a:t>
            </a:r>
          </a:p>
          <a:p>
            <a:r>
              <a:rPr lang="en-CA" dirty="0"/>
              <a:t>Physical Examinations: </a:t>
            </a:r>
          </a:p>
          <a:p>
            <a:endParaRPr lang="en-CA" sz="1200" b="1" dirty="0"/>
          </a:p>
          <a:p>
            <a:r>
              <a:rPr lang="en-CA" b="1" dirty="0"/>
              <a:t>Confirmatory Diagnostics:</a:t>
            </a:r>
            <a:r>
              <a:rPr lang="en-CA" dirty="0"/>
              <a:t>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463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F15A-8391-934C-16FD-C39881A6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813D-5A69-32C2-1C2F-DF9E4ABF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Frontal Osteomyelitis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26559-39DE-9AF6-9799-4D0F09F495A8}"/>
              </a:ext>
            </a:extLst>
          </p:cNvPr>
          <p:cNvSpPr txBox="1"/>
          <p:nvPr/>
        </p:nvSpPr>
        <p:spPr>
          <a:xfrm>
            <a:off x="914400" y="1905918"/>
            <a:ext cx="1017958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Definition: </a:t>
            </a:r>
            <a:r>
              <a:rPr lang="en-CA" dirty="0"/>
              <a:t>infection of the frontal bone </a:t>
            </a:r>
            <a:endParaRPr lang="en-CA" sz="1200" dirty="0"/>
          </a:p>
          <a:p>
            <a:endParaRPr lang="en-CA" b="1" dirty="0"/>
          </a:p>
          <a:p>
            <a:r>
              <a:rPr lang="en-CA" b="1" dirty="0"/>
              <a:t>Risks: </a:t>
            </a:r>
            <a:r>
              <a:rPr lang="en-CA" dirty="0"/>
              <a:t>bacterial sinusitis associated with head trauma or scuba diving (staph pyogenes or anaerobic streptococci)</a:t>
            </a:r>
          </a:p>
          <a:p>
            <a:endParaRPr lang="en-CA" sz="1200" dirty="0"/>
          </a:p>
          <a:p>
            <a:r>
              <a:rPr lang="en-CA" b="1" dirty="0"/>
              <a:t>Symptoms: </a:t>
            </a:r>
            <a:r>
              <a:rPr lang="en-CA" dirty="0"/>
              <a:t>General severe malaise</a:t>
            </a:r>
          </a:p>
          <a:p>
            <a:endParaRPr lang="en-CA" b="1" dirty="0"/>
          </a:p>
          <a:p>
            <a:r>
              <a:rPr lang="en-CA" b="1" dirty="0"/>
              <a:t>Signs: </a:t>
            </a:r>
          </a:p>
          <a:p>
            <a:r>
              <a:rPr lang="en-CA" dirty="0"/>
              <a:t>Physical Examinations: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Appear very ill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High fever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Swelling over frontal bone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Upper eyelid edema</a:t>
            </a:r>
          </a:p>
          <a:p>
            <a:pPr lvl="1"/>
            <a:endParaRPr lang="en-CA" dirty="0"/>
          </a:p>
          <a:p>
            <a:endParaRPr lang="en-CA" sz="1200" b="1" dirty="0"/>
          </a:p>
          <a:p>
            <a:r>
              <a:rPr lang="en-CA" b="1" dirty="0"/>
              <a:t>Confirmatory Diagnostics:</a:t>
            </a:r>
            <a:r>
              <a:rPr lang="en-CA" dirty="0"/>
              <a:t> X-rays of sinuses &amp; skull; blood cultures </a:t>
            </a:r>
          </a:p>
          <a:p>
            <a:r>
              <a:rPr lang="en-CA" dirty="0"/>
              <a:t>* If suspected, referral to ED for the above tests urgently </a:t>
            </a:r>
          </a:p>
        </p:txBody>
      </p:sp>
    </p:spTree>
    <p:extLst>
      <p:ext uri="{BB962C8B-B14F-4D97-AF65-F5344CB8AC3E}">
        <p14:creationId xmlns:p14="http://schemas.microsoft.com/office/powerpoint/2010/main" val="3945578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steitis, Osteomyelitis">
            <a:extLst>
              <a:ext uri="{FF2B5EF4-FFF2-40B4-BE49-F238E27FC236}">
                <a16:creationId xmlns:a16="http://schemas.microsoft.com/office/drawing/2014/main" id="{640CF6D0-4D1B-E135-304D-2FBFDFF71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077" y="297673"/>
            <a:ext cx="4393205" cy="626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8405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73</TotalTime>
  <Words>521</Words>
  <Application>Microsoft Office PowerPoint</Application>
  <PresentationFormat>Widescreen</PresentationFormat>
  <Paragraphs>122</Paragraphs>
  <Slides>13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JasmineUPC</vt:lpstr>
      <vt:lpstr>Raleway</vt:lpstr>
      <vt:lpstr>School Days</vt:lpstr>
      <vt:lpstr>Rhinitis, Rhinosinusitis, and Sinusitis</vt:lpstr>
      <vt:lpstr>Rhinitis </vt:lpstr>
      <vt:lpstr>Rhinitis </vt:lpstr>
      <vt:lpstr>PowerPoint Presentation</vt:lpstr>
      <vt:lpstr>Acute Sinusitis</vt:lpstr>
      <vt:lpstr>Acute Sinusitis </vt:lpstr>
      <vt:lpstr>PowerPoint Presentation</vt:lpstr>
      <vt:lpstr>PowerPoint Presentation</vt:lpstr>
      <vt:lpstr>Viral vs. Bacterial Sinusitis </vt:lpstr>
      <vt:lpstr>Rhinosinusitis (the common cold)</vt:lpstr>
      <vt:lpstr>Don’t Miss Diagnosis: Frontal Osteomyelitis </vt:lpstr>
      <vt:lpstr>Frontal Osteomyelitis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Gabrielle Heil</dc:creator>
  <cp:lastModifiedBy>Gabrielle Heil</cp:lastModifiedBy>
  <cp:revision>1</cp:revision>
  <dcterms:created xsi:type="dcterms:W3CDTF">2026-09-16T17:33:44Z</dcterms:created>
  <dcterms:modified xsi:type="dcterms:W3CDTF">2026-09-16T18:47:33Z</dcterms:modified>
</cp:coreProperties>
</file>