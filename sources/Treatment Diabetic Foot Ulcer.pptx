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631" r:id="rId2"/>
    <p:sldId id="649" r:id="rId3"/>
    <p:sldId id="414" r:id="rId4"/>
    <p:sldId id="370" r:id="rId5"/>
    <p:sldId id="406" r:id="rId6"/>
    <p:sldId id="305" r:id="rId7"/>
    <p:sldId id="306" r:id="rId8"/>
    <p:sldId id="307" r:id="rId9"/>
    <p:sldId id="310" r:id="rId10"/>
    <p:sldId id="58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CCF19C-5A17-47AF-8891-D0DE4D9B49A2}" type="datetimeFigureOut">
              <a:rPr lang="en-CA" smtClean="0"/>
              <a:t>2024-07-11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255798-CACF-429B-B303-D1F46696756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0023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Shttps://guidelines.diabetes.ca/GuideLines/media/Docs/cpg/Appendix-14.pdfource 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D36E56-DA4C-4A41-B107-93B3167F1749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1143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7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6" name="Google Shape;946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2f674a2d4b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2f674a2d4b_0_4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4" name="Google Shape;954;g2f674a2d4b_0_42:notes"/>
          <p:cNvSpPr txBox="1">
            <a:spLocks noGrp="1"/>
          </p:cNvSpPr>
          <p:nvPr>
            <p:ph type="sldNum" idx="12"/>
          </p:nvPr>
        </p:nvSpPr>
        <p:spPr>
          <a:xfrm>
            <a:off x="5180012" y="6513512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CA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7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7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0" name="Google Shape;960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7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7/11/2024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256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881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308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7/11/2024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315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7/11/2024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277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7/11/2024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222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7/11/2024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68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7/11/2024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78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89915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418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050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197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b="1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oundscanada.ca/eboutiqu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CE8C29-293C-307E-03D6-84EF2E5EF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Treatment</a:t>
            </a:r>
            <a:br>
              <a:rPr lang="en-US" dirty="0"/>
            </a:br>
            <a:r>
              <a:rPr lang="en-US" sz="4400" dirty="0"/>
              <a:t>Diabetic Foot Ulcer (DFU)</a:t>
            </a:r>
            <a:endParaRPr lang="en-CA" sz="4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244CD9-96B8-62B6-D55D-96557626DF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S. Morrell NP </a:t>
            </a:r>
            <a:r>
              <a:rPr lang="en-US" dirty="0" err="1"/>
              <a:t>MClSc</a:t>
            </a:r>
            <a:r>
              <a:rPr lang="en-US" dirty="0"/>
              <a:t>-wound healing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98129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91FF0C-7ED8-F269-1503-5A6223691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842" y="1159429"/>
            <a:ext cx="2130500" cy="1371600"/>
          </a:xfrm>
        </p:spPr>
        <p:txBody>
          <a:bodyPr>
            <a:normAutofit fontScale="90000"/>
          </a:bodyPr>
          <a:lstStyle/>
          <a:p>
            <a:r>
              <a:rPr lang="en-US" dirty="0"/>
              <a:t>Treatment Diabetic foot ulcers</a:t>
            </a:r>
            <a:br>
              <a:rPr lang="en-US" dirty="0"/>
            </a:br>
            <a:r>
              <a:rPr lang="en-US" dirty="0"/>
              <a:t>Diabetes</a:t>
            </a:r>
            <a:br>
              <a:rPr lang="en-US" dirty="0"/>
            </a:br>
            <a:r>
              <a:rPr lang="en-US" dirty="0"/>
              <a:t>Canada</a:t>
            </a:r>
            <a:endParaRPr lang="en-CA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FCA8AB9-13A8-1CBE-DE77-36F48340E0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55402" y="505561"/>
            <a:ext cx="9488728" cy="5846877"/>
          </a:xfrm>
        </p:spPr>
      </p:pic>
    </p:spTree>
    <p:extLst>
      <p:ext uri="{BB962C8B-B14F-4D97-AF65-F5344CB8AC3E}">
        <p14:creationId xmlns:p14="http://schemas.microsoft.com/office/powerpoint/2010/main" val="2043966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US" dirty="0"/>
              <a:t>Diabetic ulcer-treatment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4965431" y="2438400"/>
            <a:ext cx="7003962" cy="378541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900" dirty="0"/>
              <a:t>Foot care and callus removal by qualified health care provider</a:t>
            </a:r>
          </a:p>
          <a:p>
            <a:pPr marL="457200" indent="-457200">
              <a:buFont typeface="+mj-lt"/>
              <a:buAutoNum type="arabicPeriod"/>
            </a:pPr>
            <a:r>
              <a:rPr lang="en-CA" sz="1900" dirty="0"/>
              <a:t>Offloading devices to alleviate pressure areas to promote healing of ulcers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1DCADA-243A-45F5-B604-32B2FCAB5C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67" r="13251" b="-1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309573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082" y="-111662"/>
            <a:ext cx="9483917" cy="708132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9796" y="4870753"/>
            <a:ext cx="2517866" cy="182286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230" y="4950008"/>
            <a:ext cx="2621507" cy="174360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0351" y="1370159"/>
            <a:ext cx="2633700" cy="173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790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solidFill>
                  <a:srgbClr val="FF0000"/>
                </a:solidFill>
              </a:rPr>
              <a:t>Prevention of DFUs (this is key!!!)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379" y="1657542"/>
            <a:ext cx="10810821" cy="5289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443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154"/>
          <p:cNvSpPr txBox="1"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</p:spPr>
        <p:txBody>
          <a:bodyPr spcFirstLastPara="1" vert="horz" lIns="91425" tIns="45700" rIns="91425" bIns="45700" rtlCol="0" anchorCtr="0">
            <a:normAutofit/>
          </a:bodyPr>
          <a:lstStyle/>
          <a:p>
            <a:pPr>
              <a:spcBef>
                <a:spcPts val="0"/>
              </a:spcBef>
              <a:buClr>
                <a:srgbClr val="A50021"/>
              </a:buClr>
              <a:buSzPts val="4400"/>
            </a:pPr>
            <a:r>
              <a:rPr lang="en-CA" sz="4000" b="1">
                <a:latin typeface="Corbel"/>
                <a:ea typeface="Corbel"/>
                <a:cs typeface="Corbel"/>
                <a:sym typeface="Corbel"/>
              </a:rPr>
              <a:t>Diagnostic</a:t>
            </a:r>
            <a:r>
              <a:rPr lang="en-CA" sz="4000"/>
              <a:t>- Lab (monitor end organ damage)</a:t>
            </a:r>
          </a:p>
        </p:txBody>
      </p:sp>
      <p:sp>
        <p:nvSpPr>
          <p:cNvPr id="949" name="Google Shape;949;p154"/>
          <p:cNvSpPr txBox="1">
            <a:spLocks noGrp="1"/>
          </p:cNvSpPr>
          <p:nvPr>
            <p:ph type="body" idx="1"/>
          </p:nvPr>
        </p:nvSpPr>
        <p:spPr>
          <a:xfrm>
            <a:off x="674290" y="1581490"/>
            <a:ext cx="10168128" cy="3695020"/>
          </a:xfrm>
          <a:prstGeom prst="rect">
            <a:avLst/>
          </a:prstGeom>
        </p:spPr>
        <p:txBody>
          <a:bodyPr spcFirstLastPara="1" vert="horz" lIns="91425" tIns="45700" rIns="91425" bIns="45700" rtlCol="0" anchorCtr="0">
            <a:no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Pts val="4140"/>
              <a:buNone/>
              <a:tabLst/>
              <a:defRPr/>
            </a:pPr>
            <a:r>
              <a:rPr kumimoji="0" lang="en-CA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Glucose control </a:t>
            </a: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HbA1C q 3 months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CA" sz="2000" dirty="0"/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CA" sz="2000" b="1" dirty="0"/>
              <a:t>Monitor- Renal </a:t>
            </a:r>
            <a:r>
              <a:rPr lang="en-CA" sz="2000" dirty="0"/>
              <a:t>(kidney disease)</a:t>
            </a:r>
          </a:p>
          <a:p>
            <a:pPr marL="742950" lvl="1" indent="-285750">
              <a:spcBef>
                <a:spcPts val="0"/>
              </a:spcBef>
              <a:spcAft>
                <a:spcPts val="600"/>
              </a:spcAft>
              <a:buSzPts val="2240"/>
              <a:buChar char="■"/>
            </a:pPr>
            <a:r>
              <a:rPr lang="en-CA" sz="2000" dirty="0"/>
              <a:t>Albumin/creatinine ratio- </a:t>
            </a:r>
          </a:p>
          <a:p>
            <a:pPr lvl="2">
              <a:spcBef>
                <a:spcPts val="0"/>
              </a:spcBef>
              <a:spcAft>
                <a:spcPts val="600"/>
              </a:spcAft>
              <a:buSzPts val="1540"/>
              <a:buChar char="■"/>
            </a:pPr>
            <a:r>
              <a:rPr lang="en-CA" sz="2000" dirty="0"/>
              <a:t>First morning urine sample</a:t>
            </a:r>
          </a:p>
          <a:p>
            <a:pPr lvl="2">
              <a:spcBef>
                <a:spcPts val="0"/>
              </a:spcBef>
              <a:spcAft>
                <a:spcPts val="600"/>
              </a:spcAft>
              <a:buSzPts val="1540"/>
              <a:buChar char="■"/>
            </a:pPr>
            <a:r>
              <a:rPr lang="en-CA" sz="2000" dirty="0"/>
              <a:t> 	normal ACR &lt;2 mg/mmol</a:t>
            </a:r>
          </a:p>
          <a:p>
            <a:pPr marL="742950" lvl="1" indent="-285750">
              <a:spcBef>
                <a:spcPts val="0"/>
              </a:spcBef>
              <a:spcAft>
                <a:spcPts val="600"/>
              </a:spcAft>
              <a:buSzPts val="2240"/>
              <a:buChar char="■"/>
            </a:pPr>
            <a:endParaRPr lang="en-CA" sz="2000" dirty="0"/>
          </a:p>
          <a:p>
            <a:pPr marL="742950" lvl="1" indent="-285750">
              <a:spcBef>
                <a:spcPts val="0"/>
              </a:spcBef>
              <a:spcAft>
                <a:spcPts val="600"/>
              </a:spcAft>
              <a:buSzPts val="2240"/>
              <a:buChar char="■"/>
            </a:pPr>
            <a:r>
              <a:rPr lang="en-CA" sz="2000" dirty="0"/>
              <a:t>Glomerular filtration rate</a:t>
            </a:r>
          </a:p>
          <a:p>
            <a:pPr lvl="2">
              <a:spcBef>
                <a:spcPts val="0"/>
              </a:spcBef>
              <a:spcAft>
                <a:spcPts val="600"/>
              </a:spcAft>
              <a:buSzPts val="1540"/>
              <a:buChar char="■"/>
            </a:pPr>
            <a:r>
              <a:rPr lang="en-CA" sz="2000" dirty="0"/>
              <a:t>serum blood test</a:t>
            </a:r>
          </a:p>
          <a:p>
            <a:pPr lvl="2">
              <a:spcBef>
                <a:spcPts val="0"/>
              </a:spcBef>
              <a:spcAft>
                <a:spcPts val="600"/>
              </a:spcAft>
              <a:buSzPts val="1540"/>
              <a:buChar char="■"/>
            </a:pPr>
            <a:r>
              <a:rPr lang="en-CA" sz="2000" dirty="0"/>
              <a:t>calculation using- blood creatinine test, age, body size and gender</a:t>
            </a:r>
          </a:p>
          <a:p>
            <a:pPr lvl="2">
              <a:spcBef>
                <a:spcPts val="0"/>
              </a:spcBef>
              <a:spcAft>
                <a:spcPts val="600"/>
              </a:spcAft>
              <a:buSzPts val="1540"/>
              <a:buChar char="■"/>
            </a:pPr>
            <a:r>
              <a:rPr lang="en-CA" sz="2000" dirty="0"/>
              <a:t>normal &gt;60 ml/min First-morning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155"/>
          <p:cNvSpPr txBox="1"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</p:spPr>
        <p:txBody>
          <a:bodyPr spcFirstLastPara="1" vert="horz" lIns="91425" tIns="91425" rIns="91425" bIns="91425" rtlCol="0" anchorCtr="0">
            <a:normAutofit/>
          </a:bodyPr>
          <a:lstStyle/>
          <a:p>
            <a:pPr>
              <a:spcBef>
                <a:spcPts val="0"/>
              </a:spcBef>
              <a:buClr>
                <a:srgbClr val="A50021"/>
              </a:buClr>
              <a:buSzPts val="4400"/>
            </a:pPr>
            <a:r>
              <a:rPr kumimoji="0" lang="en-CA" sz="4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rbel"/>
                <a:ea typeface="Corbel"/>
                <a:cs typeface="Corbel"/>
                <a:sym typeface="Corbel"/>
              </a:rPr>
              <a:t>Diagnostic</a:t>
            </a:r>
            <a:r>
              <a:rPr kumimoji="0" lang="en-CA" sz="4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- Lab (monitor end organ damage)</a:t>
            </a:r>
            <a:endParaRPr lang="en-CA" sz="4000"/>
          </a:p>
        </p:txBody>
      </p:sp>
      <p:sp>
        <p:nvSpPr>
          <p:cNvPr id="957" name="Google Shape;957;p155"/>
          <p:cNvSpPr txBox="1">
            <a:spLocks noGrp="1"/>
          </p:cNvSpPr>
          <p:nvPr>
            <p:ph type="body" idx="1"/>
          </p:nvPr>
        </p:nvSpPr>
        <p:spPr>
          <a:xfrm>
            <a:off x="1115568" y="2481943"/>
            <a:ext cx="10168128" cy="3695020"/>
          </a:xfrm>
          <a:prstGeom prst="rect">
            <a:avLst/>
          </a:prstGeom>
        </p:spPr>
        <p:txBody>
          <a:bodyPr spcFirstLastPara="1" vert="horz" lIns="91425" tIns="91425" rIns="91425" bIns="91425" rtlCol="0" anchorCtr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SzPts val="4140"/>
              <a:buNone/>
            </a:pPr>
            <a:r>
              <a:rPr lang="en-CA" sz="2400" b="1" dirty="0"/>
              <a:t>Dyslipidemia</a:t>
            </a:r>
          </a:p>
          <a:p>
            <a:pPr marL="1371600" indent="-491489">
              <a:spcBef>
                <a:spcPts val="0"/>
              </a:spcBef>
              <a:spcAft>
                <a:spcPts val="600"/>
              </a:spcAft>
              <a:buSzPts val="4140"/>
              <a:buChar char="▪"/>
            </a:pPr>
            <a:r>
              <a:rPr lang="en-CA" sz="2400" dirty="0"/>
              <a:t>fasting lipid levels(TC, HDL, TG &amp; calculated LDL</a:t>
            </a:r>
          </a:p>
          <a:p>
            <a:pPr marL="1371600" indent="-491489">
              <a:spcBef>
                <a:spcPts val="0"/>
              </a:spcBef>
              <a:spcAft>
                <a:spcPts val="600"/>
              </a:spcAft>
              <a:buSzPts val="4140"/>
              <a:buChar char="▪"/>
            </a:pPr>
            <a:r>
              <a:rPr lang="en-CA" sz="2400" dirty="0"/>
              <a:t>LDL &lt;/= 2 mmol/L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CA" sz="2400" dirty="0"/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CA" sz="2400" b="1" dirty="0"/>
              <a:t>Coronary artery disease </a:t>
            </a:r>
            <a:r>
              <a:rPr lang="en-CA" sz="2400" dirty="0"/>
              <a:t>(CAD) ECG-baseline &amp; q2years ECG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lang="en-CA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" name="Google Shape;962;p1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7801" y="368300"/>
            <a:ext cx="9610725" cy="648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p156"/>
          <p:cNvSpPr/>
          <p:nvPr/>
        </p:nvSpPr>
        <p:spPr>
          <a:xfrm>
            <a:off x="3741175" y="1"/>
            <a:ext cx="5760276" cy="51874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 w="9525" cap="flat" cmpd="sng">
                  <a:solidFill>
                    <a:srgbClr val="412440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rgbClr val="E2E8E5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Screening                         Ranges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159"/>
          <p:cNvSpPr txBox="1"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 fontScale="90000"/>
          </a:bodyPr>
          <a:lstStyle/>
          <a:p>
            <a:pPr algn="ctr">
              <a:buClr>
                <a:srgbClr val="A50021"/>
              </a:buClr>
              <a:buSzPts val="4400"/>
            </a:pPr>
            <a:r>
              <a:rPr lang="en-US" sz="45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Corbel"/>
              </a:rPr>
              <a:t>Dietician</a:t>
            </a:r>
            <a:br>
              <a:rPr lang="en-US" sz="45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Corbel"/>
              </a:rPr>
            </a:br>
            <a:r>
              <a:rPr lang="en-US" sz="45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Corbel"/>
              </a:rPr>
              <a:t>Diabetic Wellness</a:t>
            </a:r>
            <a:br>
              <a:rPr lang="en-US" sz="45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Corbel"/>
              </a:rPr>
            </a:br>
            <a:r>
              <a:rPr lang="en-US" sz="45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Corbel"/>
              </a:rPr>
              <a:t>Orthotics-offloading (CCAC –covered)</a:t>
            </a:r>
          </a:p>
          <a:p>
            <a:pPr algn="ctr">
              <a:buClr>
                <a:srgbClr val="A50021"/>
              </a:buClr>
              <a:buSzPts val="4400"/>
            </a:pPr>
            <a:r>
              <a:rPr lang="en-US" sz="45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Foot care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4A9580-22EA-4C23-AC49-94DB3935D7FB}"/>
              </a:ext>
            </a:extLst>
          </p:cNvPr>
          <p:cNvSpPr txBox="1"/>
          <p:nvPr/>
        </p:nvSpPr>
        <p:spPr>
          <a:xfrm>
            <a:off x="767080" y="798920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1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Corbel"/>
                <a:ea typeface="Corbel"/>
                <a:cs typeface="Corbel"/>
                <a:sym typeface="Corbel"/>
              </a:rPr>
              <a:t>Referrals required</a:t>
            </a: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lawik Light" panose="02020404030301010803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B240C-C728-55D1-EC9B-E54D819DC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700" y="517320"/>
            <a:ext cx="8229600" cy="747161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References</a:t>
            </a:r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3439BB-80EF-7CD2-8C8B-77000FB2B079}"/>
              </a:ext>
            </a:extLst>
          </p:cNvPr>
          <p:cNvSpPr txBox="1"/>
          <p:nvPr/>
        </p:nvSpPr>
        <p:spPr>
          <a:xfrm>
            <a:off x="766142" y="1970063"/>
            <a:ext cx="1068857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-45720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vity"/>
                <a:ea typeface="+mn-ea"/>
                <a:cs typeface="+mn-cs"/>
              </a:rPr>
              <a:t>Diabetes Canada Clinical Practice Guidelines Expert Committee. Diabetes Canada 2018 Clinical Practice Guidelines for the Prevention and Management of Diabetes in Canada. Can J Diabetes. 2018;42(Suppl 1):S1-S325.</a:t>
            </a:r>
          </a:p>
          <a:p>
            <a:pPr marL="457200" marR="0" lvl="1" indent="-45720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vity"/>
              <a:ea typeface="+mn-ea"/>
              <a:cs typeface="+mn-cs"/>
            </a:endParaRPr>
          </a:p>
          <a:p>
            <a:pPr marL="444500" marR="0" lvl="0" indent="-4445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vity"/>
                <a:ea typeface="+mn-ea"/>
                <a:cs typeface="+mn-cs"/>
              </a:rPr>
              <a:t>Orsted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vity"/>
                <a:ea typeface="+mn-ea"/>
                <a:cs typeface="+mn-cs"/>
              </a:rPr>
              <a:t>, H.L. &amp; Rosenthal, S. (2021). Foundations of Best Practice for 	Skin and 	Wound Management. Wounds Canada.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vity"/>
                <a:ea typeface="+mn-ea"/>
                <a:cs typeface="+mn-cs"/>
              </a:rPr>
              <a:t>Ebook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vity"/>
                <a:ea typeface="+mn-ea"/>
                <a:cs typeface="+mn-cs"/>
              </a:rPr>
              <a:t>  Available to purchase at </a:t>
            </a:r>
            <a:r>
              <a:rPr kumimoji="0" lang="en-US" sz="18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vity"/>
                <a:ea typeface="+mn-ea"/>
                <a:cs typeface="+mn-cs"/>
                <a:hlinkClick r:id="rId2"/>
              </a:rPr>
              <a:t>https://www.woundscanada.ca/eboutique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vity"/>
                <a:ea typeface="+mn-ea"/>
                <a:cs typeface="+mn-cs"/>
                <a:hlinkClick r:id="rId2"/>
              </a:rPr>
              <a:t>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vity"/>
                <a:ea typeface="+mn-ea"/>
                <a:cs typeface="+mn-cs"/>
              </a:rPr>
              <a:t>and the 	code for 25% discount on the 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vity"/>
                <a:ea typeface="+mn-ea"/>
                <a:cs typeface="+mn-cs"/>
              </a:rPr>
              <a:t>ebook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vity"/>
                <a:ea typeface="+mn-ea"/>
                <a:cs typeface="+mn-cs"/>
              </a:rPr>
              <a:t> is 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vity"/>
                <a:ea typeface="+mn-ea"/>
                <a:cs typeface="+mn-cs"/>
              </a:rPr>
              <a:t>UWNursing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vity"/>
                <a:ea typeface="+mn-ea"/>
                <a:cs typeface="+mn-cs"/>
              </a:rPr>
              <a:t> </a:t>
            </a: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vity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vity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44287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AnalogousFromLightSeedLeftStep">
      <a:dk1>
        <a:srgbClr val="000000"/>
      </a:dk1>
      <a:lt1>
        <a:srgbClr val="FFFFFF"/>
      </a:lt1>
      <a:dk2>
        <a:srgbClr val="412440"/>
      </a:dk2>
      <a:lt2>
        <a:srgbClr val="E2E8E5"/>
      </a:lt2>
      <a:accent1>
        <a:srgbClr val="C696B2"/>
      </a:accent1>
      <a:accent2>
        <a:srgbClr val="BA7FB9"/>
      </a:accent2>
      <a:accent3>
        <a:srgbClr val="B296C6"/>
      </a:accent3>
      <a:accent4>
        <a:srgbClr val="897FBA"/>
      </a:accent4>
      <a:accent5>
        <a:srgbClr val="96A2C6"/>
      </a:accent5>
      <a:accent6>
        <a:srgbClr val="7FA6BA"/>
      </a:accent6>
      <a:hlink>
        <a:srgbClr val="558D6D"/>
      </a:hlink>
      <a:folHlink>
        <a:srgbClr val="7F7F7F"/>
      </a:folHlink>
    </a:clrScheme>
    <a:fontScheme name="Savon">
      <a:majorFont>
        <a:latin typeface="Speak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elawik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282</Words>
  <Application>Microsoft Office PowerPoint</Application>
  <PresentationFormat>Widescreen</PresentationFormat>
  <Paragraphs>36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Corbel</vt:lpstr>
      <vt:lpstr>Garamond</vt:lpstr>
      <vt:lpstr>Gravity</vt:lpstr>
      <vt:lpstr>Selawik Light</vt:lpstr>
      <vt:lpstr>Speak Pro</vt:lpstr>
      <vt:lpstr>SavonVTI</vt:lpstr>
      <vt:lpstr>Treatment Diabetic Foot Ulcer (DFU)</vt:lpstr>
      <vt:lpstr>Treatment Diabetic foot ulcers Diabetes Canada</vt:lpstr>
      <vt:lpstr>Diabetic ulcer-treatment</vt:lpstr>
      <vt:lpstr>PowerPoint Presentation</vt:lpstr>
      <vt:lpstr>Prevention of DFUs (this is key!!!)</vt:lpstr>
      <vt:lpstr>Diagnostic- Lab (monitor end organ damage)</vt:lpstr>
      <vt:lpstr>Diagnostic- Lab (monitor end organ damage)</vt:lpstr>
      <vt:lpstr>PowerPoint Presentation</vt:lpstr>
      <vt:lpstr>Dietician Diabetic Wellness Orthotics-offloading (CCAC –covered) Foot care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Sherry Morrell</dc:creator>
  <cp:lastModifiedBy>Sherry Morrell</cp:lastModifiedBy>
  <cp:revision>2</cp:revision>
  <dcterms:created xsi:type="dcterms:W3CDTF">2024-07-11T18:32:51Z</dcterms:created>
  <dcterms:modified xsi:type="dcterms:W3CDTF">2024-07-11T18:38:37Z</dcterms:modified>
</cp:coreProperties>
</file>