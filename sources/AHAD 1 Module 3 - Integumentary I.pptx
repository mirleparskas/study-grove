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314" r:id="rId3"/>
    <p:sldId id="257" r:id="rId4"/>
    <p:sldId id="278" r:id="rId5"/>
    <p:sldId id="311" r:id="rId6"/>
    <p:sldId id="258" r:id="rId7"/>
    <p:sldId id="260" r:id="rId8"/>
    <p:sldId id="283" r:id="rId9"/>
    <p:sldId id="261" r:id="rId10"/>
    <p:sldId id="289" r:id="rId11"/>
    <p:sldId id="284" r:id="rId12"/>
    <p:sldId id="319" r:id="rId13"/>
    <p:sldId id="320" r:id="rId14"/>
    <p:sldId id="315" r:id="rId15"/>
    <p:sldId id="318" r:id="rId16"/>
    <p:sldId id="259" r:id="rId17"/>
    <p:sldId id="265" r:id="rId18"/>
    <p:sldId id="288" r:id="rId19"/>
    <p:sldId id="316" r:id="rId20"/>
    <p:sldId id="317" r:id="rId21"/>
    <p:sldId id="286" r:id="rId22"/>
    <p:sldId id="281" r:id="rId23"/>
    <p:sldId id="264" r:id="rId24"/>
    <p:sldId id="279" r:id="rId25"/>
    <p:sldId id="280" r:id="rId26"/>
    <p:sldId id="282" r:id="rId27"/>
    <p:sldId id="266" r:id="rId28"/>
    <p:sldId id="321" r:id="rId29"/>
    <p:sldId id="267" r:id="rId30"/>
    <p:sldId id="275" r:id="rId31"/>
    <p:sldId id="276" r:id="rId32"/>
    <p:sldId id="290" r:id="rId33"/>
    <p:sldId id="263" r:id="rId34"/>
    <p:sldId id="313" r:id="rId35"/>
    <p:sldId id="268" r:id="rId36"/>
    <p:sldId id="291" r:id="rId37"/>
    <p:sldId id="269" r:id="rId38"/>
    <p:sldId id="270" r:id="rId39"/>
    <p:sldId id="262" r:id="rId40"/>
    <p:sldId id="326" r:id="rId41"/>
    <p:sldId id="325" r:id="rId42"/>
    <p:sldId id="324" r:id="rId43"/>
    <p:sldId id="322" r:id="rId44"/>
    <p:sldId id="271" r:id="rId45"/>
    <p:sldId id="272" r:id="rId46"/>
    <p:sldId id="273" r:id="rId47"/>
    <p:sldId id="292" r:id="rId48"/>
    <p:sldId id="293" r:id="rId49"/>
    <p:sldId id="294" r:id="rId50"/>
    <p:sldId id="295" r:id="rId51"/>
    <p:sldId id="323" r:id="rId52"/>
    <p:sldId id="296" r:id="rId53"/>
    <p:sldId id="298" r:id="rId54"/>
    <p:sldId id="302" r:id="rId55"/>
    <p:sldId id="304" r:id="rId56"/>
    <p:sldId id="305" r:id="rId57"/>
    <p:sldId id="312" r:id="rId58"/>
    <p:sldId id="310" r:id="rId59"/>
    <p:sldId id="303" r:id="rId60"/>
    <p:sldId id="299" r:id="rId61"/>
    <p:sldId id="309" r:id="rId62"/>
    <p:sldId id="307" r:id="rId63"/>
    <p:sldId id="308" r:id="rId64"/>
    <p:sldId id="30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F99E04B8-E6D8-4957-AF6B-EC86F91D67F4}">
          <p14:sldIdLst>
            <p14:sldId id="256"/>
            <p14:sldId id="314"/>
            <p14:sldId id="257"/>
            <p14:sldId id="278"/>
            <p14:sldId id="311"/>
            <p14:sldId id="258"/>
          </p14:sldIdLst>
        </p14:section>
        <p14:section name="Subjective &amp; Objective Skin Assessment" id="{A4EA0C30-85D9-4C6E-B2E7-48AEED476562}">
          <p14:sldIdLst>
            <p14:sldId id="260"/>
            <p14:sldId id="283"/>
            <p14:sldId id="261"/>
            <p14:sldId id="289"/>
            <p14:sldId id="284"/>
            <p14:sldId id="319"/>
            <p14:sldId id="320"/>
            <p14:sldId id="315"/>
            <p14:sldId id="318"/>
            <p14:sldId id="259"/>
            <p14:sldId id="265"/>
            <p14:sldId id="288"/>
            <p14:sldId id="316"/>
            <p14:sldId id="317"/>
            <p14:sldId id="286"/>
            <p14:sldId id="281"/>
          </p14:sldIdLst>
        </p14:section>
        <p14:section name="Red Flags" id="{46139B4C-D4F3-4855-BA7C-A48F3E8D0099}">
          <p14:sldIdLst>
            <p14:sldId id="264"/>
            <p14:sldId id="279"/>
            <p14:sldId id="280"/>
            <p14:sldId id="282"/>
          </p14:sldIdLst>
        </p14:section>
        <p14:section name="Case Studies" id="{B5E217EF-DCB3-471A-AA7E-6FD8F2F16B16}">
          <p14:sldIdLst>
            <p14:sldId id="266"/>
            <p14:sldId id="321"/>
            <p14:sldId id="267"/>
            <p14:sldId id="275"/>
            <p14:sldId id="276"/>
          </p14:sldIdLst>
        </p14:section>
        <p14:section name="Dermatitis" id="{1B7884FE-835D-4ED1-AA16-B2C33242E632}">
          <p14:sldIdLst>
            <p14:sldId id="290"/>
            <p14:sldId id="263"/>
            <p14:sldId id="313"/>
          </p14:sldIdLst>
        </p14:section>
        <p14:section name="Cellulitis" id="{2F6FEA6B-6033-46C6-ADC8-CD81F77A4AED}">
          <p14:sldIdLst>
            <p14:sldId id="268"/>
            <p14:sldId id="291"/>
          </p14:sldIdLst>
        </p14:section>
        <p14:section name="Folliculitis/Pseudofolliculitis Barbae" id="{0FBF1A5B-6BB5-4A4F-A818-274B4FAF2D88}">
          <p14:sldIdLst>
            <p14:sldId id="269"/>
            <p14:sldId id="270"/>
          </p14:sldIdLst>
        </p14:section>
        <p14:section name="Acne" id="{94DF590C-D948-4FC8-A854-3604AF32A39B}">
          <p14:sldIdLst>
            <p14:sldId id="262"/>
            <p14:sldId id="326"/>
            <p14:sldId id="325"/>
            <p14:sldId id="324"/>
          </p14:sldIdLst>
        </p14:section>
        <p14:section name="BREAKOUT" id="{26FF8E9F-FC14-4AD8-AA74-B45D03BA3D92}">
          <p14:sldIdLst>
            <p14:sldId id="322"/>
          </p14:sldIdLst>
        </p14:section>
        <p14:section name="Practice Questions" id="{5F4E61B7-3AB9-4E07-A1EB-A25A3C2A6590}">
          <p14:sldIdLst>
            <p14:sldId id="271"/>
            <p14:sldId id="272"/>
            <p14:sldId id="273"/>
            <p14:sldId id="292"/>
            <p14:sldId id="293"/>
            <p14:sldId id="294"/>
            <p14:sldId id="295"/>
            <p14:sldId id="323"/>
            <p14:sldId id="296"/>
            <p14:sldId id="298"/>
            <p14:sldId id="302"/>
          </p14:sldIdLst>
        </p14:section>
        <p14:section name="Hidden Slides - Students to Prep their own" id="{815773CD-B43B-4835-B3C9-E07CFF1B57CF}">
          <p14:sldIdLst>
            <p14:sldId id="304"/>
            <p14:sldId id="305"/>
            <p14:sldId id="312"/>
            <p14:sldId id="310"/>
            <p14:sldId id="303"/>
            <p14:sldId id="299"/>
            <p14:sldId id="309"/>
            <p14:sldId id="307"/>
            <p14:sldId id="308"/>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77129" autoAdjust="0"/>
  </p:normalViewPr>
  <p:slideViewPr>
    <p:cSldViewPr snapToGrid="0">
      <p:cViewPr>
        <p:scale>
          <a:sx n="50" d="100"/>
          <a:sy n="50" d="100"/>
        </p:scale>
        <p:origin x="556" y="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2_2#9">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1C3C0D-EB30-4F15-84F1-9F88EF979C56}" type="doc">
      <dgm:prSet loTypeId="urn:microsoft.com/office/officeart/2005/8/layout/vList5" loCatId="list" qsTypeId="urn:microsoft.com/office/officeart/2005/8/quickstyle/simple1#10" qsCatId="simple" csTypeId="urn:microsoft.com/office/officeart/2005/8/colors/accent2_2#9" csCatId="accent2" phldr="1"/>
      <dgm:spPr/>
      <dgm:t>
        <a:bodyPr/>
        <a:lstStyle/>
        <a:p>
          <a:endParaRPr lang="en-US"/>
        </a:p>
      </dgm:t>
    </dgm:pt>
    <dgm:pt modelId="{ABFBB84D-5D8D-488D-A414-D2A9328D5E30}">
      <dgm:prSet/>
      <dgm:spPr/>
      <dgm:t>
        <a:bodyPr/>
        <a:lstStyle/>
        <a:p>
          <a:r>
            <a:rPr lang="en-CA" dirty="0"/>
            <a:t>Red flags?</a:t>
          </a:r>
          <a:endParaRPr lang="en-US" dirty="0"/>
        </a:p>
      </dgm:t>
    </dgm:pt>
    <dgm:pt modelId="{6C4C9E47-9807-4DD8-8E15-10967D889798}" type="parTrans" cxnId="{8C4DFF54-91DC-4CF8-A18E-786F3E024BA7}">
      <dgm:prSet/>
      <dgm:spPr/>
      <dgm:t>
        <a:bodyPr/>
        <a:lstStyle/>
        <a:p>
          <a:endParaRPr lang="en-US"/>
        </a:p>
      </dgm:t>
    </dgm:pt>
    <dgm:pt modelId="{62B0CD94-2893-4AF7-988B-7233AAAE8CF7}" type="sibTrans" cxnId="{8C4DFF54-91DC-4CF8-A18E-786F3E024BA7}">
      <dgm:prSet/>
      <dgm:spPr/>
      <dgm:t>
        <a:bodyPr/>
        <a:lstStyle/>
        <a:p>
          <a:endParaRPr lang="en-US"/>
        </a:p>
      </dgm:t>
    </dgm:pt>
    <dgm:pt modelId="{BE9BA755-E56A-4534-BA01-78CC77861286}">
      <dgm:prSet/>
      <dgm:spPr/>
      <dgm:t>
        <a:bodyPr/>
        <a:lstStyle/>
        <a:p>
          <a:r>
            <a:rPr lang="en-CA" dirty="0"/>
            <a:t>Ie. Fever, SOB, angioedema, difficulty swallowing, tender rash with mucous membrane involvement</a:t>
          </a:r>
          <a:endParaRPr lang="en-US" dirty="0"/>
        </a:p>
      </dgm:t>
    </dgm:pt>
    <dgm:pt modelId="{902F4408-541E-4237-A5C2-A2CB08D6C191}" type="parTrans" cxnId="{9B85BB70-439C-4A0C-9A0F-A043A71F59D8}">
      <dgm:prSet/>
      <dgm:spPr/>
      <dgm:t>
        <a:bodyPr/>
        <a:lstStyle/>
        <a:p>
          <a:endParaRPr lang="en-US"/>
        </a:p>
      </dgm:t>
    </dgm:pt>
    <dgm:pt modelId="{7DF78BE8-8453-4BBD-A61F-EFF909FEC016}" type="sibTrans" cxnId="{9B85BB70-439C-4A0C-9A0F-A043A71F59D8}">
      <dgm:prSet/>
      <dgm:spPr/>
      <dgm:t>
        <a:bodyPr/>
        <a:lstStyle/>
        <a:p>
          <a:endParaRPr lang="en-US"/>
        </a:p>
      </dgm:t>
    </dgm:pt>
    <dgm:pt modelId="{6DFCD235-E212-4BCB-B8B3-6AFDB71634B0}">
      <dgm:prSet/>
      <dgm:spPr/>
      <dgm:t>
        <a:bodyPr/>
        <a:lstStyle/>
        <a:p>
          <a:r>
            <a:rPr lang="en-CA"/>
            <a:t>Systemic signs?</a:t>
          </a:r>
          <a:endParaRPr lang="en-US"/>
        </a:p>
      </dgm:t>
    </dgm:pt>
    <dgm:pt modelId="{74837AEB-852E-4C62-8D90-8751C1AAB272}" type="parTrans" cxnId="{049137F9-460F-4DCA-BC6A-9D0F7C4D4C55}">
      <dgm:prSet/>
      <dgm:spPr/>
      <dgm:t>
        <a:bodyPr/>
        <a:lstStyle/>
        <a:p>
          <a:endParaRPr lang="en-US"/>
        </a:p>
      </dgm:t>
    </dgm:pt>
    <dgm:pt modelId="{BE3B1A99-2807-4628-8737-D3C2F2220977}" type="sibTrans" cxnId="{049137F9-460F-4DCA-BC6A-9D0F7C4D4C55}">
      <dgm:prSet/>
      <dgm:spPr/>
      <dgm:t>
        <a:bodyPr/>
        <a:lstStyle/>
        <a:p>
          <a:endParaRPr lang="en-US"/>
        </a:p>
      </dgm:t>
    </dgm:pt>
    <dgm:pt modelId="{382E1432-E649-45BF-94CD-DE51C1661B7F}">
      <dgm:prSet/>
      <dgm:spPr/>
      <dgm:t>
        <a:bodyPr/>
        <a:lstStyle/>
        <a:p>
          <a:r>
            <a:rPr lang="en-CA"/>
            <a:t>Fever, joint pain, malaise, weakness, edema</a:t>
          </a:r>
          <a:endParaRPr lang="en-US"/>
        </a:p>
      </dgm:t>
    </dgm:pt>
    <dgm:pt modelId="{63A99D73-361F-42B4-A5C4-785C2B1FD343}" type="parTrans" cxnId="{2B309284-D4B1-44AD-8674-A8888F9C5604}">
      <dgm:prSet/>
      <dgm:spPr/>
      <dgm:t>
        <a:bodyPr/>
        <a:lstStyle/>
        <a:p>
          <a:endParaRPr lang="en-US"/>
        </a:p>
      </dgm:t>
    </dgm:pt>
    <dgm:pt modelId="{270A3863-107F-4C75-8864-8068D33DC843}" type="sibTrans" cxnId="{2B309284-D4B1-44AD-8674-A8888F9C5604}">
      <dgm:prSet/>
      <dgm:spPr/>
      <dgm:t>
        <a:bodyPr/>
        <a:lstStyle/>
        <a:p>
          <a:endParaRPr lang="en-US"/>
        </a:p>
      </dgm:t>
    </dgm:pt>
    <dgm:pt modelId="{986ACE89-2E4A-4962-9330-984655AE35FD}">
      <dgm:prSet/>
      <dgm:spPr/>
      <dgm:t>
        <a:bodyPr/>
        <a:lstStyle/>
        <a:p>
          <a:r>
            <a:rPr lang="en-CA"/>
            <a:t>Personal and family history?</a:t>
          </a:r>
          <a:endParaRPr lang="en-US"/>
        </a:p>
      </dgm:t>
    </dgm:pt>
    <dgm:pt modelId="{28D9F208-BA6C-4D87-9AF4-49F6035061A8}" type="parTrans" cxnId="{024E0418-66FF-4075-B288-2D51B389E85C}">
      <dgm:prSet/>
      <dgm:spPr/>
      <dgm:t>
        <a:bodyPr/>
        <a:lstStyle/>
        <a:p>
          <a:endParaRPr lang="en-US"/>
        </a:p>
      </dgm:t>
    </dgm:pt>
    <dgm:pt modelId="{8571D25E-2E91-4E18-BB02-6640AF5C5D9A}" type="sibTrans" cxnId="{024E0418-66FF-4075-B288-2D51B389E85C}">
      <dgm:prSet/>
      <dgm:spPr/>
      <dgm:t>
        <a:bodyPr/>
        <a:lstStyle/>
        <a:p>
          <a:endParaRPr lang="en-US"/>
        </a:p>
      </dgm:t>
    </dgm:pt>
    <dgm:pt modelId="{8C30970C-2155-4AE2-9938-EA799DF023A6}">
      <dgm:prSet/>
      <dgm:spPr/>
      <dgm:t>
        <a:bodyPr/>
        <a:lstStyle/>
        <a:p>
          <a:r>
            <a:rPr lang="en-CA" dirty="0"/>
            <a:t>Skin disorders, autoimmune disease, cancer </a:t>
          </a:r>
          <a:endParaRPr lang="en-US" dirty="0"/>
        </a:p>
      </dgm:t>
    </dgm:pt>
    <dgm:pt modelId="{73C53E3E-DE0E-4E9B-98BA-9BBAECA9FCB9}" type="parTrans" cxnId="{1FB1A1FC-96D6-4045-8884-B510B013726E}">
      <dgm:prSet/>
      <dgm:spPr/>
      <dgm:t>
        <a:bodyPr/>
        <a:lstStyle/>
        <a:p>
          <a:endParaRPr lang="en-US"/>
        </a:p>
      </dgm:t>
    </dgm:pt>
    <dgm:pt modelId="{FDD810EC-06C1-4600-AA92-8E578DE050A3}" type="sibTrans" cxnId="{1FB1A1FC-96D6-4045-8884-B510B013726E}">
      <dgm:prSet/>
      <dgm:spPr/>
      <dgm:t>
        <a:bodyPr/>
        <a:lstStyle/>
        <a:p>
          <a:endParaRPr lang="en-US"/>
        </a:p>
      </dgm:t>
    </dgm:pt>
    <dgm:pt modelId="{D8BC2F88-11A0-466D-9A5C-93F9E6370037}">
      <dgm:prSet/>
      <dgm:spPr/>
      <dgm:t>
        <a:bodyPr/>
        <a:lstStyle/>
        <a:p>
          <a:r>
            <a:rPr lang="en-CA"/>
            <a:t>Constitutional signs? </a:t>
          </a:r>
          <a:endParaRPr lang="en-US"/>
        </a:p>
      </dgm:t>
    </dgm:pt>
    <dgm:pt modelId="{B255B3D6-E854-468B-BC06-0366FF292D44}" type="parTrans" cxnId="{34F8C34C-65D0-4BDF-9E91-B7B5C5729B9C}">
      <dgm:prSet/>
      <dgm:spPr/>
      <dgm:t>
        <a:bodyPr/>
        <a:lstStyle/>
        <a:p>
          <a:endParaRPr lang="en-US"/>
        </a:p>
      </dgm:t>
    </dgm:pt>
    <dgm:pt modelId="{06E9261E-65DA-4056-9029-4B5464BC372C}" type="sibTrans" cxnId="{34F8C34C-65D0-4BDF-9E91-B7B5C5729B9C}">
      <dgm:prSet/>
      <dgm:spPr/>
      <dgm:t>
        <a:bodyPr/>
        <a:lstStyle/>
        <a:p>
          <a:endParaRPr lang="en-US"/>
        </a:p>
      </dgm:t>
    </dgm:pt>
    <dgm:pt modelId="{DB177BC0-B553-4515-8180-FEE100C737F8}">
      <dgm:prSet/>
      <dgm:spPr/>
      <dgm:t>
        <a:bodyPr/>
        <a:lstStyle/>
        <a:p>
          <a:r>
            <a:rPr lang="en-CA" dirty="0"/>
            <a:t>Fever, night sweats, chills, fatigue, unexplained weight loss</a:t>
          </a:r>
          <a:endParaRPr lang="en-US" dirty="0"/>
        </a:p>
      </dgm:t>
    </dgm:pt>
    <dgm:pt modelId="{4035ED12-AEEA-4974-AE41-02B757B68E3B}" type="parTrans" cxnId="{CB5247CF-3688-4C79-93DA-28144D5F601B}">
      <dgm:prSet/>
      <dgm:spPr/>
      <dgm:t>
        <a:bodyPr/>
        <a:lstStyle/>
        <a:p>
          <a:endParaRPr lang="en-US"/>
        </a:p>
      </dgm:t>
    </dgm:pt>
    <dgm:pt modelId="{F5EA7235-0890-4777-AC42-88D31745AC9C}" type="sibTrans" cxnId="{CB5247CF-3688-4C79-93DA-28144D5F601B}">
      <dgm:prSet/>
      <dgm:spPr/>
      <dgm:t>
        <a:bodyPr/>
        <a:lstStyle/>
        <a:p>
          <a:endParaRPr lang="en-US"/>
        </a:p>
      </dgm:t>
    </dgm:pt>
    <dgm:pt modelId="{3BBE8ADA-A4E2-44B7-A5A3-D708594D23DB}">
      <dgm:prSet/>
      <dgm:spPr/>
      <dgm:t>
        <a:bodyPr/>
        <a:lstStyle/>
        <a:p>
          <a:r>
            <a:rPr lang="en-CA"/>
            <a:t>Review of Systems (depending on OPQRST)</a:t>
          </a:r>
          <a:endParaRPr lang="en-US"/>
        </a:p>
      </dgm:t>
    </dgm:pt>
    <dgm:pt modelId="{B6F98C8F-1B68-43D8-BB19-F9F6D9094AD9}" type="parTrans" cxnId="{945B2509-28A4-4492-8BDD-F51CC50A585F}">
      <dgm:prSet/>
      <dgm:spPr/>
      <dgm:t>
        <a:bodyPr/>
        <a:lstStyle/>
        <a:p>
          <a:endParaRPr lang="en-US"/>
        </a:p>
      </dgm:t>
    </dgm:pt>
    <dgm:pt modelId="{7B7D07C9-0CF8-4FFB-81EB-EB5E3027FFB0}" type="sibTrans" cxnId="{945B2509-28A4-4492-8BDD-F51CC50A585F}">
      <dgm:prSet/>
      <dgm:spPr/>
      <dgm:t>
        <a:bodyPr/>
        <a:lstStyle/>
        <a:p>
          <a:endParaRPr lang="en-US"/>
        </a:p>
      </dgm:t>
    </dgm:pt>
    <dgm:pt modelId="{3D4C25E7-DED1-44C4-8AD9-CFEE5CE53768}">
      <dgm:prSet/>
      <dgm:spPr/>
      <dgm:t>
        <a:bodyPr/>
        <a:lstStyle/>
        <a:p>
          <a:r>
            <a:rPr lang="en-CA"/>
            <a:t>May include MSK, CV, Resp, GI, renal, neuro, etc. </a:t>
          </a:r>
          <a:endParaRPr lang="en-US"/>
        </a:p>
      </dgm:t>
    </dgm:pt>
    <dgm:pt modelId="{95626D18-64BF-41C4-92D2-E387C3DF60CB}" type="parTrans" cxnId="{8867C781-9A65-4869-8736-F2DBEC316254}">
      <dgm:prSet/>
      <dgm:spPr/>
      <dgm:t>
        <a:bodyPr/>
        <a:lstStyle/>
        <a:p>
          <a:endParaRPr lang="en-US"/>
        </a:p>
      </dgm:t>
    </dgm:pt>
    <dgm:pt modelId="{AC1220FD-276E-4BB3-A9CF-31A8B71AE6B9}" type="sibTrans" cxnId="{8867C781-9A65-4869-8736-F2DBEC316254}">
      <dgm:prSet/>
      <dgm:spPr/>
      <dgm:t>
        <a:bodyPr/>
        <a:lstStyle/>
        <a:p>
          <a:endParaRPr lang="en-US"/>
        </a:p>
      </dgm:t>
    </dgm:pt>
    <dgm:pt modelId="{2DD585C0-511A-4620-A130-4BC3E5ACFF44}" type="pres">
      <dgm:prSet presAssocID="{D81C3C0D-EB30-4F15-84F1-9F88EF979C56}" presName="Name0" presStyleCnt="0">
        <dgm:presLayoutVars>
          <dgm:dir/>
          <dgm:animLvl val="lvl"/>
          <dgm:resizeHandles val="exact"/>
        </dgm:presLayoutVars>
      </dgm:prSet>
      <dgm:spPr/>
    </dgm:pt>
    <dgm:pt modelId="{50F1B858-4FED-4B03-A549-48C230C6A542}" type="pres">
      <dgm:prSet presAssocID="{ABFBB84D-5D8D-488D-A414-D2A9328D5E30}" presName="linNode" presStyleCnt="0"/>
      <dgm:spPr/>
    </dgm:pt>
    <dgm:pt modelId="{E9A6BF22-A2EB-4B0E-8DCE-D611E5D2E651}" type="pres">
      <dgm:prSet presAssocID="{ABFBB84D-5D8D-488D-A414-D2A9328D5E30}" presName="parentText" presStyleLbl="node1" presStyleIdx="0" presStyleCnt="5">
        <dgm:presLayoutVars>
          <dgm:chMax val="1"/>
          <dgm:bulletEnabled val="1"/>
        </dgm:presLayoutVars>
      </dgm:prSet>
      <dgm:spPr/>
    </dgm:pt>
    <dgm:pt modelId="{5A9F0ADA-CE4E-41FE-BC26-6E8DA3C5B7F7}" type="pres">
      <dgm:prSet presAssocID="{ABFBB84D-5D8D-488D-A414-D2A9328D5E30}" presName="descendantText" presStyleLbl="alignAccFollowNode1" presStyleIdx="0" presStyleCnt="5">
        <dgm:presLayoutVars>
          <dgm:bulletEnabled val="1"/>
        </dgm:presLayoutVars>
      </dgm:prSet>
      <dgm:spPr/>
    </dgm:pt>
    <dgm:pt modelId="{3B324382-440F-4D1B-A311-CB49BAA2FA74}" type="pres">
      <dgm:prSet presAssocID="{62B0CD94-2893-4AF7-988B-7233AAAE8CF7}" presName="sp" presStyleCnt="0"/>
      <dgm:spPr/>
    </dgm:pt>
    <dgm:pt modelId="{350C2BFD-602C-4E41-8D7F-EEBFDC6E3D4B}" type="pres">
      <dgm:prSet presAssocID="{6DFCD235-E212-4BCB-B8B3-6AFDB71634B0}" presName="linNode" presStyleCnt="0"/>
      <dgm:spPr/>
    </dgm:pt>
    <dgm:pt modelId="{9C0D6776-339F-4C10-A191-218924598122}" type="pres">
      <dgm:prSet presAssocID="{6DFCD235-E212-4BCB-B8B3-6AFDB71634B0}" presName="parentText" presStyleLbl="node1" presStyleIdx="1" presStyleCnt="5">
        <dgm:presLayoutVars>
          <dgm:chMax val="1"/>
          <dgm:bulletEnabled val="1"/>
        </dgm:presLayoutVars>
      </dgm:prSet>
      <dgm:spPr/>
    </dgm:pt>
    <dgm:pt modelId="{02E56BEA-36D9-4ED9-9EC7-E1C67E2E28F8}" type="pres">
      <dgm:prSet presAssocID="{6DFCD235-E212-4BCB-B8B3-6AFDB71634B0}" presName="descendantText" presStyleLbl="alignAccFollowNode1" presStyleIdx="1" presStyleCnt="5">
        <dgm:presLayoutVars>
          <dgm:bulletEnabled val="1"/>
        </dgm:presLayoutVars>
      </dgm:prSet>
      <dgm:spPr/>
    </dgm:pt>
    <dgm:pt modelId="{FAC5E1BB-8397-4EB4-A067-64274B51DD30}" type="pres">
      <dgm:prSet presAssocID="{BE3B1A99-2807-4628-8737-D3C2F2220977}" presName="sp" presStyleCnt="0"/>
      <dgm:spPr/>
    </dgm:pt>
    <dgm:pt modelId="{1A7CF32A-A3C9-49B0-86C9-25B1A216E65A}" type="pres">
      <dgm:prSet presAssocID="{986ACE89-2E4A-4962-9330-984655AE35FD}" presName="linNode" presStyleCnt="0"/>
      <dgm:spPr/>
    </dgm:pt>
    <dgm:pt modelId="{83451237-F8C4-4A21-9FDD-1E0B424FA125}" type="pres">
      <dgm:prSet presAssocID="{986ACE89-2E4A-4962-9330-984655AE35FD}" presName="parentText" presStyleLbl="node1" presStyleIdx="2" presStyleCnt="5">
        <dgm:presLayoutVars>
          <dgm:chMax val="1"/>
          <dgm:bulletEnabled val="1"/>
        </dgm:presLayoutVars>
      </dgm:prSet>
      <dgm:spPr/>
    </dgm:pt>
    <dgm:pt modelId="{68DD454A-86EF-4F9C-95F3-063101C02297}" type="pres">
      <dgm:prSet presAssocID="{986ACE89-2E4A-4962-9330-984655AE35FD}" presName="descendantText" presStyleLbl="alignAccFollowNode1" presStyleIdx="2" presStyleCnt="5">
        <dgm:presLayoutVars>
          <dgm:bulletEnabled val="1"/>
        </dgm:presLayoutVars>
      </dgm:prSet>
      <dgm:spPr/>
    </dgm:pt>
    <dgm:pt modelId="{753EC23E-656A-48C6-A0C4-7BCD585095A6}" type="pres">
      <dgm:prSet presAssocID="{8571D25E-2E91-4E18-BB02-6640AF5C5D9A}" presName="sp" presStyleCnt="0"/>
      <dgm:spPr/>
    </dgm:pt>
    <dgm:pt modelId="{4F1435FF-DBA3-40B4-B1FF-74FF7742B6F2}" type="pres">
      <dgm:prSet presAssocID="{D8BC2F88-11A0-466D-9A5C-93F9E6370037}" presName="linNode" presStyleCnt="0"/>
      <dgm:spPr/>
    </dgm:pt>
    <dgm:pt modelId="{8AA161A1-3481-472F-92B1-55675E9D30FB}" type="pres">
      <dgm:prSet presAssocID="{D8BC2F88-11A0-466D-9A5C-93F9E6370037}" presName="parentText" presStyleLbl="node1" presStyleIdx="3" presStyleCnt="5">
        <dgm:presLayoutVars>
          <dgm:chMax val="1"/>
          <dgm:bulletEnabled val="1"/>
        </dgm:presLayoutVars>
      </dgm:prSet>
      <dgm:spPr/>
    </dgm:pt>
    <dgm:pt modelId="{3A33ABD7-FEE7-47CA-B8C8-A1799D8D4C26}" type="pres">
      <dgm:prSet presAssocID="{D8BC2F88-11A0-466D-9A5C-93F9E6370037}" presName="descendantText" presStyleLbl="alignAccFollowNode1" presStyleIdx="3" presStyleCnt="5">
        <dgm:presLayoutVars>
          <dgm:bulletEnabled val="1"/>
        </dgm:presLayoutVars>
      </dgm:prSet>
      <dgm:spPr/>
    </dgm:pt>
    <dgm:pt modelId="{19C1A2D7-669C-415C-B223-5E90EE03F6B1}" type="pres">
      <dgm:prSet presAssocID="{06E9261E-65DA-4056-9029-4B5464BC372C}" presName="sp" presStyleCnt="0"/>
      <dgm:spPr/>
    </dgm:pt>
    <dgm:pt modelId="{BE0B53A3-D66A-4796-A96B-824788886670}" type="pres">
      <dgm:prSet presAssocID="{3BBE8ADA-A4E2-44B7-A5A3-D708594D23DB}" presName="linNode" presStyleCnt="0"/>
      <dgm:spPr/>
    </dgm:pt>
    <dgm:pt modelId="{5AFF8747-E2AE-40D3-8113-BC1CE7FC8EDA}" type="pres">
      <dgm:prSet presAssocID="{3BBE8ADA-A4E2-44B7-A5A3-D708594D23DB}" presName="parentText" presStyleLbl="node1" presStyleIdx="4" presStyleCnt="5">
        <dgm:presLayoutVars>
          <dgm:chMax val="1"/>
          <dgm:bulletEnabled val="1"/>
        </dgm:presLayoutVars>
      </dgm:prSet>
      <dgm:spPr/>
    </dgm:pt>
    <dgm:pt modelId="{FCCD6323-8D02-419C-A1E1-279FEDD0B1E8}" type="pres">
      <dgm:prSet presAssocID="{3BBE8ADA-A4E2-44B7-A5A3-D708594D23DB}" presName="descendantText" presStyleLbl="alignAccFollowNode1" presStyleIdx="4" presStyleCnt="5">
        <dgm:presLayoutVars>
          <dgm:bulletEnabled val="1"/>
        </dgm:presLayoutVars>
      </dgm:prSet>
      <dgm:spPr/>
    </dgm:pt>
  </dgm:ptLst>
  <dgm:cxnLst>
    <dgm:cxn modelId="{945B2509-28A4-4492-8BDD-F51CC50A585F}" srcId="{D81C3C0D-EB30-4F15-84F1-9F88EF979C56}" destId="{3BBE8ADA-A4E2-44B7-A5A3-D708594D23DB}" srcOrd="4" destOrd="0" parTransId="{B6F98C8F-1B68-43D8-BB19-F9F6D9094AD9}" sibTransId="{7B7D07C9-0CF8-4FFB-81EB-EB5E3027FFB0}"/>
    <dgm:cxn modelId="{024E0418-66FF-4075-B288-2D51B389E85C}" srcId="{D81C3C0D-EB30-4F15-84F1-9F88EF979C56}" destId="{986ACE89-2E4A-4962-9330-984655AE35FD}" srcOrd="2" destOrd="0" parTransId="{28D9F208-BA6C-4D87-9AF4-49F6035061A8}" sibTransId="{8571D25E-2E91-4E18-BB02-6640AF5C5D9A}"/>
    <dgm:cxn modelId="{58EB4A20-D956-4307-A5A8-AADA29B01DD2}" type="presOf" srcId="{8C30970C-2155-4AE2-9938-EA799DF023A6}" destId="{68DD454A-86EF-4F9C-95F3-063101C02297}" srcOrd="0" destOrd="0" presId="urn:microsoft.com/office/officeart/2005/8/layout/vList5"/>
    <dgm:cxn modelId="{8ECBEF22-7C26-4BEA-8D06-8E797F11BEEB}" type="presOf" srcId="{6DFCD235-E212-4BCB-B8B3-6AFDB71634B0}" destId="{9C0D6776-339F-4C10-A191-218924598122}" srcOrd="0" destOrd="0" presId="urn:microsoft.com/office/officeart/2005/8/layout/vList5"/>
    <dgm:cxn modelId="{193DA726-2C80-4352-8240-6997CA11BA86}" type="presOf" srcId="{986ACE89-2E4A-4962-9330-984655AE35FD}" destId="{83451237-F8C4-4A21-9FDD-1E0B424FA125}" srcOrd="0" destOrd="0" presId="urn:microsoft.com/office/officeart/2005/8/layout/vList5"/>
    <dgm:cxn modelId="{34F8C34C-65D0-4BDF-9E91-B7B5C5729B9C}" srcId="{D81C3C0D-EB30-4F15-84F1-9F88EF979C56}" destId="{D8BC2F88-11A0-466D-9A5C-93F9E6370037}" srcOrd="3" destOrd="0" parTransId="{B255B3D6-E854-468B-BC06-0366FF292D44}" sibTransId="{06E9261E-65DA-4056-9029-4B5464BC372C}"/>
    <dgm:cxn modelId="{7B3DBE4D-3A0D-4B77-862A-C22C3A2DE723}" type="presOf" srcId="{D81C3C0D-EB30-4F15-84F1-9F88EF979C56}" destId="{2DD585C0-511A-4620-A130-4BC3E5ACFF44}" srcOrd="0" destOrd="0" presId="urn:microsoft.com/office/officeart/2005/8/layout/vList5"/>
    <dgm:cxn modelId="{9B85BB70-439C-4A0C-9A0F-A043A71F59D8}" srcId="{ABFBB84D-5D8D-488D-A414-D2A9328D5E30}" destId="{BE9BA755-E56A-4534-BA01-78CC77861286}" srcOrd="0" destOrd="0" parTransId="{902F4408-541E-4237-A5C2-A2CB08D6C191}" sibTransId="{7DF78BE8-8453-4BBD-A61F-EFF909FEC016}"/>
    <dgm:cxn modelId="{1F7F9252-8B6D-46C2-9F82-69787B163DA0}" type="presOf" srcId="{D8BC2F88-11A0-466D-9A5C-93F9E6370037}" destId="{8AA161A1-3481-472F-92B1-55675E9D30FB}" srcOrd="0" destOrd="0" presId="urn:microsoft.com/office/officeart/2005/8/layout/vList5"/>
    <dgm:cxn modelId="{8C4DFF54-91DC-4CF8-A18E-786F3E024BA7}" srcId="{D81C3C0D-EB30-4F15-84F1-9F88EF979C56}" destId="{ABFBB84D-5D8D-488D-A414-D2A9328D5E30}" srcOrd="0" destOrd="0" parTransId="{6C4C9E47-9807-4DD8-8E15-10967D889798}" sibTransId="{62B0CD94-2893-4AF7-988B-7233AAAE8CF7}"/>
    <dgm:cxn modelId="{8867C781-9A65-4869-8736-F2DBEC316254}" srcId="{3BBE8ADA-A4E2-44B7-A5A3-D708594D23DB}" destId="{3D4C25E7-DED1-44C4-8AD9-CFEE5CE53768}" srcOrd="0" destOrd="0" parTransId="{95626D18-64BF-41C4-92D2-E387C3DF60CB}" sibTransId="{AC1220FD-276E-4BB3-A9CF-31A8B71AE6B9}"/>
    <dgm:cxn modelId="{2B309284-D4B1-44AD-8674-A8888F9C5604}" srcId="{6DFCD235-E212-4BCB-B8B3-6AFDB71634B0}" destId="{382E1432-E649-45BF-94CD-DE51C1661B7F}" srcOrd="0" destOrd="0" parTransId="{63A99D73-361F-42B4-A5C4-785C2B1FD343}" sibTransId="{270A3863-107F-4C75-8864-8068D33DC843}"/>
    <dgm:cxn modelId="{E8D4308D-3531-49A7-9E82-81316AAFE402}" type="presOf" srcId="{DB177BC0-B553-4515-8180-FEE100C737F8}" destId="{3A33ABD7-FEE7-47CA-B8C8-A1799D8D4C26}" srcOrd="0" destOrd="0" presId="urn:microsoft.com/office/officeart/2005/8/layout/vList5"/>
    <dgm:cxn modelId="{589243A5-22C1-4EE7-BC28-8E9F7F71FAF5}" type="presOf" srcId="{ABFBB84D-5D8D-488D-A414-D2A9328D5E30}" destId="{E9A6BF22-A2EB-4B0E-8DCE-D611E5D2E651}" srcOrd="0" destOrd="0" presId="urn:microsoft.com/office/officeart/2005/8/layout/vList5"/>
    <dgm:cxn modelId="{6479CBC2-0072-47D6-BB8E-1847407E69D1}" type="presOf" srcId="{382E1432-E649-45BF-94CD-DE51C1661B7F}" destId="{02E56BEA-36D9-4ED9-9EC7-E1C67E2E28F8}" srcOrd="0" destOrd="0" presId="urn:microsoft.com/office/officeart/2005/8/layout/vList5"/>
    <dgm:cxn modelId="{FDB1FAC2-D0F4-4A9B-8BE2-34F2926F01AE}" type="presOf" srcId="{3BBE8ADA-A4E2-44B7-A5A3-D708594D23DB}" destId="{5AFF8747-E2AE-40D3-8113-BC1CE7FC8EDA}" srcOrd="0" destOrd="0" presId="urn:microsoft.com/office/officeart/2005/8/layout/vList5"/>
    <dgm:cxn modelId="{5783BFCA-0D6F-4C0E-B917-1DFC49FD0FEC}" type="presOf" srcId="{3D4C25E7-DED1-44C4-8AD9-CFEE5CE53768}" destId="{FCCD6323-8D02-419C-A1E1-279FEDD0B1E8}" srcOrd="0" destOrd="0" presId="urn:microsoft.com/office/officeart/2005/8/layout/vList5"/>
    <dgm:cxn modelId="{CB5247CF-3688-4C79-93DA-28144D5F601B}" srcId="{D8BC2F88-11A0-466D-9A5C-93F9E6370037}" destId="{DB177BC0-B553-4515-8180-FEE100C737F8}" srcOrd="0" destOrd="0" parTransId="{4035ED12-AEEA-4974-AE41-02B757B68E3B}" sibTransId="{F5EA7235-0890-4777-AC42-88D31745AC9C}"/>
    <dgm:cxn modelId="{0B7689F4-04A8-4AB6-8985-965BEC9E76AB}" type="presOf" srcId="{BE9BA755-E56A-4534-BA01-78CC77861286}" destId="{5A9F0ADA-CE4E-41FE-BC26-6E8DA3C5B7F7}" srcOrd="0" destOrd="0" presId="urn:microsoft.com/office/officeart/2005/8/layout/vList5"/>
    <dgm:cxn modelId="{049137F9-460F-4DCA-BC6A-9D0F7C4D4C55}" srcId="{D81C3C0D-EB30-4F15-84F1-9F88EF979C56}" destId="{6DFCD235-E212-4BCB-B8B3-6AFDB71634B0}" srcOrd="1" destOrd="0" parTransId="{74837AEB-852E-4C62-8D90-8751C1AAB272}" sibTransId="{BE3B1A99-2807-4628-8737-D3C2F2220977}"/>
    <dgm:cxn modelId="{1FB1A1FC-96D6-4045-8884-B510B013726E}" srcId="{986ACE89-2E4A-4962-9330-984655AE35FD}" destId="{8C30970C-2155-4AE2-9938-EA799DF023A6}" srcOrd="0" destOrd="0" parTransId="{73C53E3E-DE0E-4E9B-98BA-9BBAECA9FCB9}" sibTransId="{FDD810EC-06C1-4600-AA92-8E578DE050A3}"/>
    <dgm:cxn modelId="{FB026D4E-2D54-47A2-94DA-1893C3CB89CA}" type="presParOf" srcId="{2DD585C0-511A-4620-A130-4BC3E5ACFF44}" destId="{50F1B858-4FED-4B03-A549-48C230C6A542}" srcOrd="0" destOrd="0" presId="urn:microsoft.com/office/officeart/2005/8/layout/vList5"/>
    <dgm:cxn modelId="{D1962EF3-579F-4E18-AD37-71EC7EDEAFE2}" type="presParOf" srcId="{50F1B858-4FED-4B03-A549-48C230C6A542}" destId="{E9A6BF22-A2EB-4B0E-8DCE-D611E5D2E651}" srcOrd="0" destOrd="0" presId="urn:microsoft.com/office/officeart/2005/8/layout/vList5"/>
    <dgm:cxn modelId="{786DEE75-1A4B-4CFB-B0B4-9AE725C7234E}" type="presParOf" srcId="{50F1B858-4FED-4B03-A549-48C230C6A542}" destId="{5A9F0ADA-CE4E-41FE-BC26-6E8DA3C5B7F7}" srcOrd="1" destOrd="0" presId="urn:microsoft.com/office/officeart/2005/8/layout/vList5"/>
    <dgm:cxn modelId="{FA02ACA6-5E59-44C8-BDB6-0090B71BAEB7}" type="presParOf" srcId="{2DD585C0-511A-4620-A130-4BC3E5ACFF44}" destId="{3B324382-440F-4D1B-A311-CB49BAA2FA74}" srcOrd="1" destOrd="0" presId="urn:microsoft.com/office/officeart/2005/8/layout/vList5"/>
    <dgm:cxn modelId="{37440A08-E7DD-43CB-A95F-4D9A180FCCAC}" type="presParOf" srcId="{2DD585C0-511A-4620-A130-4BC3E5ACFF44}" destId="{350C2BFD-602C-4E41-8D7F-EEBFDC6E3D4B}" srcOrd="2" destOrd="0" presId="urn:microsoft.com/office/officeart/2005/8/layout/vList5"/>
    <dgm:cxn modelId="{71424205-7F53-41F6-8FCC-B264099849DD}" type="presParOf" srcId="{350C2BFD-602C-4E41-8D7F-EEBFDC6E3D4B}" destId="{9C0D6776-339F-4C10-A191-218924598122}" srcOrd="0" destOrd="0" presId="urn:microsoft.com/office/officeart/2005/8/layout/vList5"/>
    <dgm:cxn modelId="{2D215312-7012-4972-991A-AC7562E22597}" type="presParOf" srcId="{350C2BFD-602C-4E41-8D7F-EEBFDC6E3D4B}" destId="{02E56BEA-36D9-4ED9-9EC7-E1C67E2E28F8}" srcOrd="1" destOrd="0" presId="urn:microsoft.com/office/officeart/2005/8/layout/vList5"/>
    <dgm:cxn modelId="{8EB03579-77EB-4592-8586-36024AE2B89E}" type="presParOf" srcId="{2DD585C0-511A-4620-A130-4BC3E5ACFF44}" destId="{FAC5E1BB-8397-4EB4-A067-64274B51DD30}" srcOrd="3" destOrd="0" presId="urn:microsoft.com/office/officeart/2005/8/layout/vList5"/>
    <dgm:cxn modelId="{98187D37-89E6-46A1-A8DA-595BFA1EF145}" type="presParOf" srcId="{2DD585C0-511A-4620-A130-4BC3E5ACFF44}" destId="{1A7CF32A-A3C9-49B0-86C9-25B1A216E65A}" srcOrd="4" destOrd="0" presId="urn:microsoft.com/office/officeart/2005/8/layout/vList5"/>
    <dgm:cxn modelId="{87EEB448-5EAA-493A-B113-3865DE2158B5}" type="presParOf" srcId="{1A7CF32A-A3C9-49B0-86C9-25B1A216E65A}" destId="{83451237-F8C4-4A21-9FDD-1E0B424FA125}" srcOrd="0" destOrd="0" presId="urn:microsoft.com/office/officeart/2005/8/layout/vList5"/>
    <dgm:cxn modelId="{2AD216D3-A15D-429C-AC07-B513F59EF66E}" type="presParOf" srcId="{1A7CF32A-A3C9-49B0-86C9-25B1A216E65A}" destId="{68DD454A-86EF-4F9C-95F3-063101C02297}" srcOrd="1" destOrd="0" presId="urn:microsoft.com/office/officeart/2005/8/layout/vList5"/>
    <dgm:cxn modelId="{3E0FB5A7-FF2D-418B-BCE2-0866BF270503}" type="presParOf" srcId="{2DD585C0-511A-4620-A130-4BC3E5ACFF44}" destId="{753EC23E-656A-48C6-A0C4-7BCD585095A6}" srcOrd="5" destOrd="0" presId="urn:microsoft.com/office/officeart/2005/8/layout/vList5"/>
    <dgm:cxn modelId="{0EF42C50-2264-4939-AC29-FF3383BC0CAD}" type="presParOf" srcId="{2DD585C0-511A-4620-A130-4BC3E5ACFF44}" destId="{4F1435FF-DBA3-40B4-B1FF-74FF7742B6F2}" srcOrd="6" destOrd="0" presId="urn:microsoft.com/office/officeart/2005/8/layout/vList5"/>
    <dgm:cxn modelId="{A947C7D9-AD29-4146-AA20-0BD711C2C80D}" type="presParOf" srcId="{4F1435FF-DBA3-40B4-B1FF-74FF7742B6F2}" destId="{8AA161A1-3481-472F-92B1-55675E9D30FB}" srcOrd="0" destOrd="0" presId="urn:microsoft.com/office/officeart/2005/8/layout/vList5"/>
    <dgm:cxn modelId="{05A64C96-803B-45AB-935E-EA36D9C890FB}" type="presParOf" srcId="{4F1435FF-DBA3-40B4-B1FF-74FF7742B6F2}" destId="{3A33ABD7-FEE7-47CA-B8C8-A1799D8D4C26}" srcOrd="1" destOrd="0" presId="urn:microsoft.com/office/officeart/2005/8/layout/vList5"/>
    <dgm:cxn modelId="{F5947704-B145-4677-88D4-96D24B07D418}" type="presParOf" srcId="{2DD585C0-511A-4620-A130-4BC3E5ACFF44}" destId="{19C1A2D7-669C-415C-B223-5E90EE03F6B1}" srcOrd="7" destOrd="0" presId="urn:microsoft.com/office/officeart/2005/8/layout/vList5"/>
    <dgm:cxn modelId="{7519A0CA-70F7-468A-A975-CD77C22FED4E}" type="presParOf" srcId="{2DD585C0-511A-4620-A130-4BC3E5ACFF44}" destId="{BE0B53A3-D66A-4796-A96B-824788886670}" srcOrd="8" destOrd="0" presId="urn:microsoft.com/office/officeart/2005/8/layout/vList5"/>
    <dgm:cxn modelId="{334C6D6C-2162-4CDE-BF6C-570CBFBB3572}" type="presParOf" srcId="{BE0B53A3-D66A-4796-A96B-824788886670}" destId="{5AFF8747-E2AE-40D3-8113-BC1CE7FC8EDA}" srcOrd="0" destOrd="0" presId="urn:microsoft.com/office/officeart/2005/8/layout/vList5"/>
    <dgm:cxn modelId="{CAE1CC07-D375-4BFC-897F-43D37B02D794}" type="presParOf" srcId="{BE0B53A3-D66A-4796-A96B-824788886670}" destId="{FCCD6323-8D02-419C-A1E1-279FEDD0B1E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8D55F5-EB6F-4044-A1D8-36BD4D5BA0F4}" type="doc">
      <dgm:prSet loTypeId="urn:microsoft.com/office/officeart/2005/8/layout/list1" loCatId="list" qsTypeId="urn:microsoft.com/office/officeart/2005/8/quickstyle/simple2#4" qsCatId="simple" csTypeId="urn:microsoft.com/office/officeart/2005/8/colors/accent1_2#5" csCatId="accent1"/>
      <dgm:spPr/>
      <dgm:t>
        <a:bodyPr/>
        <a:lstStyle/>
        <a:p>
          <a:endParaRPr lang="en-US"/>
        </a:p>
      </dgm:t>
    </dgm:pt>
    <dgm:pt modelId="{3AFEF821-52FB-482D-9354-6ED9AA815566}">
      <dgm:prSet custT="1"/>
      <dgm:spPr/>
      <dgm:t>
        <a:bodyPr/>
        <a:lstStyle/>
        <a:p>
          <a:r>
            <a:rPr lang="en-US" sz="2000" dirty="0"/>
            <a:t>Primary Lesions</a:t>
          </a:r>
        </a:p>
      </dgm:t>
    </dgm:pt>
    <dgm:pt modelId="{1343A3E7-976E-41BC-A018-D2A60EBD41CD}" type="parTrans" cxnId="{F1C69595-5B9B-4939-BC03-4B5557B610FE}">
      <dgm:prSet/>
      <dgm:spPr/>
      <dgm:t>
        <a:bodyPr/>
        <a:lstStyle/>
        <a:p>
          <a:endParaRPr lang="en-US"/>
        </a:p>
      </dgm:t>
    </dgm:pt>
    <dgm:pt modelId="{3FD21877-905F-454B-9D19-423FC759DC24}" type="sibTrans" cxnId="{F1C69595-5B9B-4939-BC03-4B5557B610FE}">
      <dgm:prSet/>
      <dgm:spPr/>
      <dgm:t>
        <a:bodyPr/>
        <a:lstStyle/>
        <a:p>
          <a:endParaRPr lang="en-US"/>
        </a:p>
      </dgm:t>
    </dgm:pt>
    <dgm:pt modelId="{B3C33CD2-495C-4A4F-AC56-7967BFB40FB8}">
      <dgm:prSet custT="1"/>
      <dgm:spPr/>
      <dgm:t>
        <a:bodyPr/>
        <a:lstStyle/>
        <a:p>
          <a:r>
            <a:rPr lang="en-US" sz="2000" dirty="0"/>
            <a:t>Secondary Lesions</a:t>
          </a:r>
        </a:p>
      </dgm:t>
    </dgm:pt>
    <dgm:pt modelId="{D545C138-CB38-4B85-BCCD-4F0F493B7827}" type="parTrans" cxnId="{B9A50B72-C25E-4791-8F20-E65E4A864C00}">
      <dgm:prSet/>
      <dgm:spPr/>
      <dgm:t>
        <a:bodyPr/>
        <a:lstStyle/>
        <a:p>
          <a:endParaRPr lang="en-US"/>
        </a:p>
      </dgm:t>
    </dgm:pt>
    <dgm:pt modelId="{1F96673B-4019-4AD7-9C10-CB36EB59BED4}" type="sibTrans" cxnId="{B9A50B72-C25E-4791-8F20-E65E4A864C00}">
      <dgm:prSet/>
      <dgm:spPr/>
      <dgm:t>
        <a:bodyPr/>
        <a:lstStyle/>
        <a:p>
          <a:endParaRPr lang="en-US"/>
        </a:p>
      </dgm:t>
    </dgm:pt>
    <dgm:pt modelId="{F08D8F41-0268-4201-9CD1-913A136B00C2}">
      <dgm:prSet custT="1"/>
      <dgm:spPr/>
      <dgm:t>
        <a:bodyPr/>
        <a:lstStyle/>
        <a:p>
          <a:r>
            <a:rPr lang="en-US" sz="2000" dirty="0"/>
            <a:t>Distribution of Lesions</a:t>
          </a:r>
        </a:p>
      </dgm:t>
    </dgm:pt>
    <dgm:pt modelId="{7B1692EF-7D62-41E5-A501-AF52128A5D44}" type="parTrans" cxnId="{0D5C7ED5-8334-4572-9F86-57ADA9172F0E}">
      <dgm:prSet/>
      <dgm:spPr/>
      <dgm:t>
        <a:bodyPr/>
        <a:lstStyle/>
        <a:p>
          <a:endParaRPr lang="en-US"/>
        </a:p>
      </dgm:t>
    </dgm:pt>
    <dgm:pt modelId="{AF227A3E-FB74-4DA3-AD9D-1619100632F6}" type="sibTrans" cxnId="{0D5C7ED5-8334-4572-9F86-57ADA9172F0E}">
      <dgm:prSet/>
      <dgm:spPr/>
      <dgm:t>
        <a:bodyPr/>
        <a:lstStyle/>
        <a:p>
          <a:endParaRPr lang="en-US"/>
        </a:p>
      </dgm:t>
    </dgm:pt>
    <dgm:pt modelId="{B6166BED-BD2A-4939-9379-2DA1E55D4B93}">
      <dgm:prSet custT="1"/>
      <dgm:spPr/>
      <dgm:t>
        <a:bodyPr/>
        <a:lstStyle/>
        <a:p>
          <a:r>
            <a:rPr lang="en-US" sz="2000" dirty="0"/>
            <a:t>Shape and Arrangement</a:t>
          </a:r>
        </a:p>
      </dgm:t>
    </dgm:pt>
    <dgm:pt modelId="{C5301DDF-2BC9-417B-8C3F-1C5F1AC036CF}" type="parTrans" cxnId="{0BE83AE7-C38B-4BE3-B91B-0652CB5F99CE}">
      <dgm:prSet/>
      <dgm:spPr/>
      <dgm:t>
        <a:bodyPr/>
        <a:lstStyle/>
        <a:p>
          <a:endParaRPr lang="en-US"/>
        </a:p>
      </dgm:t>
    </dgm:pt>
    <dgm:pt modelId="{40218C37-B9C6-448E-A8B2-8D620C5E7F57}" type="sibTrans" cxnId="{0BE83AE7-C38B-4BE3-B91B-0652CB5F99CE}">
      <dgm:prSet/>
      <dgm:spPr/>
      <dgm:t>
        <a:bodyPr/>
        <a:lstStyle/>
        <a:p>
          <a:endParaRPr lang="en-US"/>
        </a:p>
      </dgm:t>
    </dgm:pt>
    <dgm:pt modelId="{7E28CF91-557C-465D-893E-0EBC39521BDD}">
      <dgm:prSet custT="1"/>
      <dgm:spPr/>
      <dgm:t>
        <a:bodyPr/>
        <a:lstStyle/>
        <a:p>
          <a:r>
            <a:rPr lang="en-US" sz="2000" dirty="0"/>
            <a:t>Border or Margin</a:t>
          </a:r>
        </a:p>
      </dgm:t>
    </dgm:pt>
    <dgm:pt modelId="{063A0C4A-F090-4385-80DE-6533762B18E4}" type="parTrans" cxnId="{BECB566A-9B25-48F2-9035-B9BCC76E1670}">
      <dgm:prSet/>
      <dgm:spPr/>
      <dgm:t>
        <a:bodyPr/>
        <a:lstStyle/>
        <a:p>
          <a:endParaRPr lang="en-US"/>
        </a:p>
      </dgm:t>
    </dgm:pt>
    <dgm:pt modelId="{84FCA769-A1F7-44EB-B309-3634E7DBABFE}" type="sibTrans" cxnId="{BECB566A-9B25-48F2-9035-B9BCC76E1670}">
      <dgm:prSet/>
      <dgm:spPr/>
      <dgm:t>
        <a:bodyPr/>
        <a:lstStyle/>
        <a:p>
          <a:endParaRPr lang="en-US"/>
        </a:p>
      </dgm:t>
    </dgm:pt>
    <dgm:pt modelId="{F9420E9C-874A-42C0-A1C2-A2E4F080C570}">
      <dgm:prSet custT="1"/>
      <dgm:spPr/>
      <dgm:t>
        <a:bodyPr/>
        <a:lstStyle/>
        <a:p>
          <a:r>
            <a:rPr lang="en-US" sz="2000" dirty="0"/>
            <a:t>Associated Changes within Lesion</a:t>
          </a:r>
        </a:p>
      </dgm:t>
    </dgm:pt>
    <dgm:pt modelId="{3382C0C5-E347-4A1F-B53A-BFDEB3FDD3E9}" type="parTrans" cxnId="{C99DF51A-A7B1-4D47-9D83-4F899D5B861E}">
      <dgm:prSet/>
      <dgm:spPr/>
      <dgm:t>
        <a:bodyPr/>
        <a:lstStyle/>
        <a:p>
          <a:endParaRPr lang="en-US"/>
        </a:p>
      </dgm:t>
    </dgm:pt>
    <dgm:pt modelId="{A3F1F8B4-CF02-4F48-9BC3-D2C299D44A0B}" type="sibTrans" cxnId="{C99DF51A-A7B1-4D47-9D83-4F899D5B861E}">
      <dgm:prSet/>
      <dgm:spPr/>
      <dgm:t>
        <a:bodyPr/>
        <a:lstStyle/>
        <a:p>
          <a:endParaRPr lang="en-US"/>
        </a:p>
      </dgm:t>
    </dgm:pt>
    <dgm:pt modelId="{A64D7B5E-048A-4E54-958F-21BADB16CC72}">
      <dgm:prSet custT="1"/>
      <dgm:spPr/>
      <dgm:t>
        <a:bodyPr/>
        <a:lstStyle/>
        <a:p>
          <a:r>
            <a:rPr lang="en-US" sz="2000" dirty="0"/>
            <a:t>Pigmentation</a:t>
          </a:r>
        </a:p>
      </dgm:t>
    </dgm:pt>
    <dgm:pt modelId="{BD31DB9C-193D-4A1E-AAAC-3C9F7F939430}" type="parTrans" cxnId="{B66FCCEB-5666-4FF3-8482-F2E067F2FDC0}">
      <dgm:prSet/>
      <dgm:spPr/>
      <dgm:t>
        <a:bodyPr/>
        <a:lstStyle/>
        <a:p>
          <a:endParaRPr lang="en-US"/>
        </a:p>
      </dgm:t>
    </dgm:pt>
    <dgm:pt modelId="{A5A57B6C-C69F-4DAC-B801-5F5CB100EB13}" type="sibTrans" cxnId="{B66FCCEB-5666-4FF3-8482-F2E067F2FDC0}">
      <dgm:prSet/>
      <dgm:spPr/>
      <dgm:t>
        <a:bodyPr/>
        <a:lstStyle/>
        <a:p>
          <a:endParaRPr lang="en-US"/>
        </a:p>
      </dgm:t>
    </dgm:pt>
    <dgm:pt modelId="{4A4350CA-DC8F-4C85-B81C-DD68C81BB764}" type="pres">
      <dgm:prSet presAssocID="{8A8D55F5-EB6F-4044-A1D8-36BD4D5BA0F4}" presName="linear" presStyleCnt="0">
        <dgm:presLayoutVars>
          <dgm:dir/>
          <dgm:animLvl val="lvl"/>
          <dgm:resizeHandles val="exact"/>
        </dgm:presLayoutVars>
      </dgm:prSet>
      <dgm:spPr/>
    </dgm:pt>
    <dgm:pt modelId="{E08A4E00-9458-4597-A4B8-780AA330AACD}" type="pres">
      <dgm:prSet presAssocID="{3AFEF821-52FB-482D-9354-6ED9AA815566}" presName="parentLin" presStyleCnt="0"/>
      <dgm:spPr/>
    </dgm:pt>
    <dgm:pt modelId="{EA73A669-FB7D-49B4-A569-2CC554FCD76E}" type="pres">
      <dgm:prSet presAssocID="{3AFEF821-52FB-482D-9354-6ED9AA815566}" presName="parentLeftMargin" presStyleLbl="node1" presStyleIdx="0" presStyleCnt="7"/>
      <dgm:spPr/>
    </dgm:pt>
    <dgm:pt modelId="{BDDBBAE3-62AF-4A2A-B155-A1564AE62D38}" type="pres">
      <dgm:prSet presAssocID="{3AFEF821-52FB-482D-9354-6ED9AA815566}" presName="parentText" presStyleLbl="node1" presStyleIdx="0" presStyleCnt="7">
        <dgm:presLayoutVars>
          <dgm:chMax val="0"/>
          <dgm:bulletEnabled val="1"/>
        </dgm:presLayoutVars>
      </dgm:prSet>
      <dgm:spPr/>
    </dgm:pt>
    <dgm:pt modelId="{1330CAE6-4CF6-437C-A5D1-D4AE6D7DCBF5}" type="pres">
      <dgm:prSet presAssocID="{3AFEF821-52FB-482D-9354-6ED9AA815566}" presName="negativeSpace" presStyleCnt="0"/>
      <dgm:spPr/>
    </dgm:pt>
    <dgm:pt modelId="{B76D491F-4F5D-4344-A092-39775E47A656}" type="pres">
      <dgm:prSet presAssocID="{3AFEF821-52FB-482D-9354-6ED9AA815566}" presName="childText" presStyleLbl="conFgAcc1" presStyleIdx="0" presStyleCnt="7">
        <dgm:presLayoutVars>
          <dgm:bulletEnabled val="1"/>
        </dgm:presLayoutVars>
      </dgm:prSet>
      <dgm:spPr/>
    </dgm:pt>
    <dgm:pt modelId="{625875B7-BCEC-4818-AF16-CD935E2ED8F4}" type="pres">
      <dgm:prSet presAssocID="{3FD21877-905F-454B-9D19-423FC759DC24}" presName="spaceBetweenRectangles" presStyleCnt="0"/>
      <dgm:spPr/>
    </dgm:pt>
    <dgm:pt modelId="{2E8B06CE-7813-4996-9AF4-9C0CCC64E3CB}" type="pres">
      <dgm:prSet presAssocID="{B3C33CD2-495C-4A4F-AC56-7967BFB40FB8}" presName="parentLin" presStyleCnt="0"/>
      <dgm:spPr/>
    </dgm:pt>
    <dgm:pt modelId="{4815B307-C34F-4757-A6A5-0CDA853303B6}" type="pres">
      <dgm:prSet presAssocID="{B3C33CD2-495C-4A4F-AC56-7967BFB40FB8}" presName="parentLeftMargin" presStyleLbl="node1" presStyleIdx="0" presStyleCnt="7"/>
      <dgm:spPr/>
    </dgm:pt>
    <dgm:pt modelId="{053CED20-B1BC-4B66-9692-224F58CC9A09}" type="pres">
      <dgm:prSet presAssocID="{B3C33CD2-495C-4A4F-AC56-7967BFB40FB8}" presName="parentText" presStyleLbl="node1" presStyleIdx="1" presStyleCnt="7">
        <dgm:presLayoutVars>
          <dgm:chMax val="0"/>
          <dgm:bulletEnabled val="1"/>
        </dgm:presLayoutVars>
      </dgm:prSet>
      <dgm:spPr/>
    </dgm:pt>
    <dgm:pt modelId="{92A6334A-1757-4BA1-B07E-6D4B9A1FFC9F}" type="pres">
      <dgm:prSet presAssocID="{B3C33CD2-495C-4A4F-AC56-7967BFB40FB8}" presName="negativeSpace" presStyleCnt="0"/>
      <dgm:spPr/>
    </dgm:pt>
    <dgm:pt modelId="{FB6CF298-4F4E-493B-8680-9AF81514949F}" type="pres">
      <dgm:prSet presAssocID="{B3C33CD2-495C-4A4F-AC56-7967BFB40FB8}" presName="childText" presStyleLbl="conFgAcc1" presStyleIdx="1" presStyleCnt="7">
        <dgm:presLayoutVars>
          <dgm:bulletEnabled val="1"/>
        </dgm:presLayoutVars>
      </dgm:prSet>
      <dgm:spPr/>
    </dgm:pt>
    <dgm:pt modelId="{DC640C3E-EE85-4101-ABDB-1AFC69749219}" type="pres">
      <dgm:prSet presAssocID="{1F96673B-4019-4AD7-9C10-CB36EB59BED4}" presName="spaceBetweenRectangles" presStyleCnt="0"/>
      <dgm:spPr/>
    </dgm:pt>
    <dgm:pt modelId="{146D5649-46FB-49F8-A547-1BFCC1C2FE79}" type="pres">
      <dgm:prSet presAssocID="{F08D8F41-0268-4201-9CD1-913A136B00C2}" presName="parentLin" presStyleCnt="0"/>
      <dgm:spPr/>
    </dgm:pt>
    <dgm:pt modelId="{6F3B2BA8-A15E-40AB-9898-B865615AC72D}" type="pres">
      <dgm:prSet presAssocID="{F08D8F41-0268-4201-9CD1-913A136B00C2}" presName="parentLeftMargin" presStyleLbl="node1" presStyleIdx="1" presStyleCnt="7"/>
      <dgm:spPr/>
    </dgm:pt>
    <dgm:pt modelId="{EDD268F1-2E19-40DB-8157-6F6CD897C928}" type="pres">
      <dgm:prSet presAssocID="{F08D8F41-0268-4201-9CD1-913A136B00C2}" presName="parentText" presStyleLbl="node1" presStyleIdx="2" presStyleCnt="7">
        <dgm:presLayoutVars>
          <dgm:chMax val="0"/>
          <dgm:bulletEnabled val="1"/>
        </dgm:presLayoutVars>
      </dgm:prSet>
      <dgm:spPr/>
    </dgm:pt>
    <dgm:pt modelId="{06BBE1A3-B877-4F0F-894B-15EA174F63DD}" type="pres">
      <dgm:prSet presAssocID="{F08D8F41-0268-4201-9CD1-913A136B00C2}" presName="negativeSpace" presStyleCnt="0"/>
      <dgm:spPr/>
    </dgm:pt>
    <dgm:pt modelId="{15D71910-6D08-4BA7-A518-DF401A457826}" type="pres">
      <dgm:prSet presAssocID="{F08D8F41-0268-4201-9CD1-913A136B00C2}" presName="childText" presStyleLbl="conFgAcc1" presStyleIdx="2" presStyleCnt="7">
        <dgm:presLayoutVars>
          <dgm:bulletEnabled val="1"/>
        </dgm:presLayoutVars>
      </dgm:prSet>
      <dgm:spPr/>
    </dgm:pt>
    <dgm:pt modelId="{54A3AA67-098A-47D7-9D53-DA3EE143C70D}" type="pres">
      <dgm:prSet presAssocID="{AF227A3E-FB74-4DA3-AD9D-1619100632F6}" presName="spaceBetweenRectangles" presStyleCnt="0"/>
      <dgm:spPr/>
    </dgm:pt>
    <dgm:pt modelId="{8A59A2F4-22FA-4D22-A1F7-E036902019E0}" type="pres">
      <dgm:prSet presAssocID="{B6166BED-BD2A-4939-9379-2DA1E55D4B93}" presName="parentLin" presStyleCnt="0"/>
      <dgm:spPr/>
    </dgm:pt>
    <dgm:pt modelId="{5A7A8E99-BBB5-44C7-8C1D-393902B7989B}" type="pres">
      <dgm:prSet presAssocID="{B6166BED-BD2A-4939-9379-2DA1E55D4B93}" presName="parentLeftMargin" presStyleLbl="node1" presStyleIdx="2" presStyleCnt="7"/>
      <dgm:spPr/>
    </dgm:pt>
    <dgm:pt modelId="{A197F4EE-4A23-4E3D-BB29-9F54A759C050}" type="pres">
      <dgm:prSet presAssocID="{B6166BED-BD2A-4939-9379-2DA1E55D4B93}" presName="parentText" presStyleLbl="node1" presStyleIdx="3" presStyleCnt="7">
        <dgm:presLayoutVars>
          <dgm:chMax val="0"/>
          <dgm:bulletEnabled val="1"/>
        </dgm:presLayoutVars>
      </dgm:prSet>
      <dgm:spPr/>
    </dgm:pt>
    <dgm:pt modelId="{64F903F8-F489-4A98-A862-52CA9636CF2B}" type="pres">
      <dgm:prSet presAssocID="{B6166BED-BD2A-4939-9379-2DA1E55D4B93}" presName="negativeSpace" presStyleCnt="0"/>
      <dgm:spPr/>
    </dgm:pt>
    <dgm:pt modelId="{8D9EA325-A0A8-4675-8B49-C95BCD438D4A}" type="pres">
      <dgm:prSet presAssocID="{B6166BED-BD2A-4939-9379-2DA1E55D4B93}" presName="childText" presStyleLbl="conFgAcc1" presStyleIdx="3" presStyleCnt="7">
        <dgm:presLayoutVars>
          <dgm:bulletEnabled val="1"/>
        </dgm:presLayoutVars>
      </dgm:prSet>
      <dgm:spPr/>
    </dgm:pt>
    <dgm:pt modelId="{39EF19CB-9A74-43A0-BC39-2DCD274B74F5}" type="pres">
      <dgm:prSet presAssocID="{40218C37-B9C6-448E-A8B2-8D620C5E7F57}" presName="spaceBetweenRectangles" presStyleCnt="0"/>
      <dgm:spPr/>
    </dgm:pt>
    <dgm:pt modelId="{E35751BD-CF42-4691-BBB1-FC180CA82F10}" type="pres">
      <dgm:prSet presAssocID="{7E28CF91-557C-465D-893E-0EBC39521BDD}" presName="parentLin" presStyleCnt="0"/>
      <dgm:spPr/>
    </dgm:pt>
    <dgm:pt modelId="{9251B973-B375-4D79-9304-F7822D2A700E}" type="pres">
      <dgm:prSet presAssocID="{7E28CF91-557C-465D-893E-0EBC39521BDD}" presName="parentLeftMargin" presStyleLbl="node1" presStyleIdx="3" presStyleCnt="7"/>
      <dgm:spPr/>
    </dgm:pt>
    <dgm:pt modelId="{91555371-9902-4F83-B497-AD3EC39B49BA}" type="pres">
      <dgm:prSet presAssocID="{7E28CF91-557C-465D-893E-0EBC39521BDD}" presName="parentText" presStyleLbl="node1" presStyleIdx="4" presStyleCnt="7">
        <dgm:presLayoutVars>
          <dgm:chMax val="0"/>
          <dgm:bulletEnabled val="1"/>
        </dgm:presLayoutVars>
      </dgm:prSet>
      <dgm:spPr/>
    </dgm:pt>
    <dgm:pt modelId="{03BD2001-B13F-45C2-904D-F825A767587A}" type="pres">
      <dgm:prSet presAssocID="{7E28CF91-557C-465D-893E-0EBC39521BDD}" presName="negativeSpace" presStyleCnt="0"/>
      <dgm:spPr/>
    </dgm:pt>
    <dgm:pt modelId="{D6F07C85-4681-49FD-9828-E92EAEE39073}" type="pres">
      <dgm:prSet presAssocID="{7E28CF91-557C-465D-893E-0EBC39521BDD}" presName="childText" presStyleLbl="conFgAcc1" presStyleIdx="4" presStyleCnt="7">
        <dgm:presLayoutVars>
          <dgm:bulletEnabled val="1"/>
        </dgm:presLayoutVars>
      </dgm:prSet>
      <dgm:spPr/>
    </dgm:pt>
    <dgm:pt modelId="{BD0A00EC-E74B-4DF7-B19E-C370FA538B6E}" type="pres">
      <dgm:prSet presAssocID="{84FCA769-A1F7-44EB-B309-3634E7DBABFE}" presName="spaceBetweenRectangles" presStyleCnt="0"/>
      <dgm:spPr/>
    </dgm:pt>
    <dgm:pt modelId="{A5CE94DE-16F8-4797-AD97-9F5877D4765D}" type="pres">
      <dgm:prSet presAssocID="{F9420E9C-874A-42C0-A1C2-A2E4F080C570}" presName="parentLin" presStyleCnt="0"/>
      <dgm:spPr/>
    </dgm:pt>
    <dgm:pt modelId="{5AC41F73-B373-42C5-B41C-FCCC3C9F083D}" type="pres">
      <dgm:prSet presAssocID="{F9420E9C-874A-42C0-A1C2-A2E4F080C570}" presName="parentLeftMargin" presStyleLbl="node1" presStyleIdx="4" presStyleCnt="7"/>
      <dgm:spPr/>
    </dgm:pt>
    <dgm:pt modelId="{AE5C6079-9650-4904-9074-AD6330ADE0E8}" type="pres">
      <dgm:prSet presAssocID="{F9420E9C-874A-42C0-A1C2-A2E4F080C570}" presName="parentText" presStyleLbl="node1" presStyleIdx="5" presStyleCnt="7">
        <dgm:presLayoutVars>
          <dgm:chMax val="0"/>
          <dgm:bulletEnabled val="1"/>
        </dgm:presLayoutVars>
      </dgm:prSet>
      <dgm:spPr/>
    </dgm:pt>
    <dgm:pt modelId="{1DF958CE-B043-4520-A6F4-6AAE9C71BE9A}" type="pres">
      <dgm:prSet presAssocID="{F9420E9C-874A-42C0-A1C2-A2E4F080C570}" presName="negativeSpace" presStyleCnt="0"/>
      <dgm:spPr/>
    </dgm:pt>
    <dgm:pt modelId="{96BB7012-8BDC-421B-8B56-E4A8E4042661}" type="pres">
      <dgm:prSet presAssocID="{F9420E9C-874A-42C0-A1C2-A2E4F080C570}" presName="childText" presStyleLbl="conFgAcc1" presStyleIdx="5" presStyleCnt="7">
        <dgm:presLayoutVars>
          <dgm:bulletEnabled val="1"/>
        </dgm:presLayoutVars>
      </dgm:prSet>
      <dgm:spPr/>
    </dgm:pt>
    <dgm:pt modelId="{05441AA8-83FD-45CC-8414-C28910C90ACD}" type="pres">
      <dgm:prSet presAssocID="{A3F1F8B4-CF02-4F48-9BC3-D2C299D44A0B}" presName="spaceBetweenRectangles" presStyleCnt="0"/>
      <dgm:spPr/>
    </dgm:pt>
    <dgm:pt modelId="{2DF60E82-E8A5-4AAA-8E12-FACB5F90263F}" type="pres">
      <dgm:prSet presAssocID="{A64D7B5E-048A-4E54-958F-21BADB16CC72}" presName="parentLin" presStyleCnt="0"/>
      <dgm:spPr/>
    </dgm:pt>
    <dgm:pt modelId="{C75F47A8-F1D7-4067-A59D-2070BEBDDC3E}" type="pres">
      <dgm:prSet presAssocID="{A64D7B5E-048A-4E54-958F-21BADB16CC72}" presName="parentLeftMargin" presStyleLbl="node1" presStyleIdx="5" presStyleCnt="7"/>
      <dgm:spPr/>
    </dgm:pt>
    <dgm:pt modelId="{EEFA1DCA-0D7D-4CEE-B7BD-699204CB2A99}" type="pres">
      <dgm:prSet presAssocID="{A64D7B5E-048A-4E54-958F-21BADB16CC72}" presName="parentText" presStyleLbl="node1" presStyleIdx="6" presStyleCnt="7">
        <dgm:presLayoutVars>
          <dgm:chMax val="0"/>
          <dgm:bulletEnabled val="1"/>
        </dgm:presLayoutVars>
      </dgm:prSet>
      <dgm:spPr/>
    </dgm:pt>
    <dgm:pt modelId="{3452A1A7-EB32-4FD6-8D17-D158BD26C0BF}" type="pres">
      <dgm:prSet presAssocID="{A64D7B5E-048A-4E54-958F-21BADB16CC72}" presName="negativeSpace" presStyleCnt="0"/>
      <dgm:spPr/>
    </dgm:pt>
    <dgm:pt modelId="{A84533B6-E822-47DD-AF7C-6477CF74E7B8}" type="pres">
      <dgm:prSet presAssocID="{A64D7B5E-048A-4E54-958F-21BADB16CC72}" presName="childText" presStyleLbl="conFgAcc1" presStyleIdx="6" presStyleCnt="7">
        <dgm:presLayoutVars>
          <dgm:bulletEnabled val="1"/>
        </dgm:presLayoutVars>
      </dgm:prSet>
      <dgm:spPr/>
    </dgm:pt>
  </dgm:ptLst>
  <dgm:cxnLst>
    <dgm:cxn modelId="{FC58E815-DDC8-48DB-BAAA-2B000533E747}" type="presOf" srcId="{3AFEF821-52FB-482D-9354-6ED9AA815566}" destId="{EA73A669-FB7D-49B4-A569-2CC554FCD76E}" srcOrd="0" destOrd="0" presId="urn:microsoft.com/office/officeart/2005/8/layout/list1"/>
    <dgm:cxn modelId="{C99DF51A-A7B1-4D47-9D83-4F899D5B861E}" srcId="{8A8D55F5-EB6F-4044-A1D8-36BD4D5BA0F4}" destId="{F9420E9C-874A-42C0-A1C2-A2E4F080C570}" srcOrd="5" destOrd="0" parTransId="{3382C0C5-E347-4A1F-B53A-BFDEB3FDD3E9}" sibTransId="{A3F1F8B4-CF02-4F48-9BC3-D2C299D44A0B}"/>
    <dgm:cxn modelId="{FC3F2531-499D-46DB-928C-BB17A3FE8A56}" type="presOf" srcId="{B3C33CD2-495C-4A4F-AC56-7967BFB40FB8}" destId="{053CED20-B1BC-4B66-9692-224F58CC9A09}" srcOrd="1" destOrd="0" presId="urn:microsoft.com/office/officeart/2005/8/layout/list1"/>
    <dgm:cxn modelId="{BBC4F440-6FC5-413A-A332-8CD1D5A0BB50}" type="presOf" srcId="{7E28CF91-557C-465D-893E-0EBC39521BDD}" destId="{9251B973-B375-4D79-9304-F7822D2A700E}" srcOrd="0" destOrd="0" presId="urn:microsoft.com/office/officeart/2005/8/layout/list1"/>
    <dgm:cxn modelId="{ABAD7743-357C-47BD-8486-39BB6AF02007}" type="presOf" srcId="{F9420E9C-874A-42C0-A1C2-A2E4F080C570}" destId="{AE5C6079-9650-4904-9074-AD6330ADE0E8}" srcOrd="1" destOrd="0" presId="urn:microsoft.com/office/officeart/2005/8/layout/list1"/>
    <dgm:cxn modelId="{BECB566A-9B25-48F2-9035-B9BCC76E1670}" srcId="{8A8D55F5-EB6F-4044-A1D8-36BD4D5BA0F4}" destId="{7E28CF91-557C-465D-893E-0EBC39521BDD}" srcOrd="4" destOrd="0" parTransId="{063A0C4A-F090-4385-80DE-6533762B18E4}" sibTransId="{84FCA769-A1F7-44EB-B309-3634E7DBABFE}"/>
    <dgm:cxn modelId="{B9A50B72-C25E-4791-8F20-E65E4A864C00}" srcId="{8A8D55F5-EB6F-4044-A1D8-36BD4D5BA0F4}" destId="{B3C33CD2-495C-4A4F-AC56-7967BFB40FB8}" srcOrd="1" destOrd="0" parTransId="{D545C138-CB38-4B85-BCCD-4F0F493B7827}" sibTransId="{1F96673B-4019-4AD7-9C10-CB36EB59BED4}"/>
    <dgm:cxn modelId="{42026A90-FC47-46B5-B6E5-BD3C95C41ECB}" type="presOf" srcId="{8A8D55F5-EB6F-4044-A1D8-36BD4D5BA0F4}" destId="{4A4350CA-DC8F-4C85-B81C-DD68C81BB764}" srcOrd="0" destOrd="0" presId="urn:microsoft.com/office/officeart/2005/8/layout/list1"/>
    <dgm:cxn modelId="{F1C69595-5B9B-4939-BC03-4B5557B610FE}" srcId="{8A8D55F5-EB6F-4044-A1D8-36BD4D5BA0F4}" destId="{3AFEF821-52FB-482D-9354-6ED9AA815566}" srcOrd="0" destOrd="0" parTransId="{1343A3E7-976E-41BC-A018-D2A60EBD41CD}" sibTransId="{3FD21877-905F-454B-9D19-423FC759DC24}"/>
    <dgm:cxn modelId="{9E758798-74EA-4136-B815-5154915E5164}" type="presOf" srcId="{7E28CF91-557C-465D-893E-0EBC39521BDD}" destId="{91555371-9902-4F83-B497-AD3EC39B49BA}" srcOrd="1" destOrd="0" presId="urn:microsoft.com/office/officeart/2005/8/layout/list1"/>
    <dgm:cxn modelId="{B7C320A0-43CB-4A11-8B47-C10520B802D6}" type="presOf" srcId="{3AFEF821-52FB-482D-9354-6ED9AA815566}" destId="{BDDBBAE3-62AF-4A2A-B155-A1564AE62D38}" srcOrd="1" destOrd="0" presId="urn:microsoft.com/office/officeart/2005/8/layout/list1"/>
    <dgm:cxn modelId="{90F24FA8-498E-4F2E-8B1F-B16C961154CD}" type="presOf" srcId="{F9420E9C-874A-42C0-A1C2-A2E4F080C570}" destId="{5AC41F73-B373-42C5-B41C-FCCC3C9F083D}" srcOrd="0" destOrd="0" presId="urn:microsoft.com/office/officeart/2005/8/layout/list1"/>
    <dgm:cxn modelId="{0EEFEFB0-4EF1-4625-9DCF-4876ED155E5F}" type="presOf" srcId="{A64D7B5E-048A-4E54-958F-21BADB16CC72}" destId="{EEFA1DCA-0D7D-4CEE-B7BD-699204CB2A99}" srcOrd="1" destOrd="0" presId="urn:microsoft.com/office/officeart/2005/8/layout/list1"/>
    <dgm:cxn modelId="{E7E035B9-6918-453B-8226-9DE177A4C1D0}" type="presOf" srcId="{A64D7B5E-048A-4E54-958F-21BADB16CC72}" destId="{C75F47A8-F1D7-4067-A59D-2070BEBDDC3E}" srcOrd="0" destOrd="0" presId="urn:microsoft.com/office/officeart/2005/8/layout/list1"/>
    <dgm:cxn modelId="{0C4ADCBD-F589-4052-829E-AB6084FE4429}" type="presOf" srcId="{F08D8F41-0268-4201-9CD1-913A136B00C2}" destId="{EDD268F1-2E19-40DB-8157-6F6CD897C928}" srcOrd="1" destOrd="0" presId="urn:microsoft.com/office/officeart/2005/8/layout/list1"/>
    <dgm:cxn modelId="{937EBDC8-F45B-4DE5-93B5-27127A203BF6}" type="presOf" srcId="{B3C33CD2-495C-4A4F-AC56-7967BFB40FB8}" destId="{4815B307-C34F-4757-A6A5-0CDA853303B6}" srcOrd="0" destOrd="0" presId="urn:microsoft.com/office/officeart/2005/8/layout/list1"/>
    <dgm:cxn modelId="{0D5C7ED5-8334-4572-9F86-57ADA9172F0E}" srcId="{8A8D55F5-EB6F-4044-A1D8-36BD4D5BA0F4}" destId="{F08D8F41-0268-4201-9CD1-913A136B00C2}" srcOrd="2" destOrd="0" parTransId="{7B1692EF-7D62-41E5-A501-AF52128A5D44}" sibTransId="{AF227A3E-FB74-4DA3-AD9D-1619100632F6}"/>
    <dgm:cxn modelId="{4E8426D8-1EEB-491D-B8E9-D7741DA65A04}" type="presOf" srcId="{B6166BED-BD2A-4939-9379-2DA1E55D4B93}" destId="{5A7A8E99-BBB5-44C7-8C1D-393902B7989B}" srcOrd="0" destOrd="0" presId="urn:microsoft.com/office/officeart/2005/8/layout/list1"/>
    <dgm:cxn modelId="{0BE83AE7-C38B-4BE3-B91B-0652CB5F99CE}" srcId="{8A8D55F5-EB6F-4044-A1D8-36BD4D5BA0F4}" destId="{B6166BED-BD2A-4939-9379-2DA1E55D4B93}" srcOrd="3" destOrd="0" parTransId="{C5301DDF-2BC9-417B-8C3F-1C5F1AC036CF}" sibTransId="{40218C37-B9C6-448E-A8B2-8D620C5E7F57}"/>
    <dgm:cxn modelId="{B66FCCEB-5666-4FF3-8482-F2E067F2FDC0}" srcId="{8A8D55F5-EB6F-4044-A1D8-36BD4D5BA0F4}" destId="{A64D7B5E-048A-4E54-958F-21BADB16CC72}" srcOrd="6" destOrd="0" parTransId="{BD31DB9C-193D-4A1E-AAAC-3C9F7F939430}" sibTransId="{A5A57B6C-C69F-4DAC-B801-5F5CB100EB13}"/>
    <dgm:cxn modelId="{F7FA1AED-898F-442A-9415-9018E0ADAF37}" type="presOf" srcId="{F08D8F41-0268-4201-9CD1-913A136B00C2}" destId="{6F3B2BA8-A15E-40AB-9898-B865615AC72D}" srcOrd="0" destOrd="0" presId="urn:microsoft.com/office/officeart/2005/8/layout/list1"/>
    <dgm:cxn modelId="{BA8694FA-CF08-49DB-A49B-B87A428058DD}" type="presOf" srcId="{B6166BED-BD2A-4939-9379-2DA1E55D4B93}" destId="{A197F4EE-4A23-4E3D-BB29-9F54A759C050}" srcOrd="1" destOrd="0" presId="urn:microsoft.com/office/officeart/2005/8/layout/list1"/>
    <dgm:cxn modelId="{3BA9F9E0-E931-4817-B84C-AB527DFC177B}" type="presParOf" srcId="{4A4350CA-DC8F-4C85-B81C-DD68C81BB764}" destId="{E08A4E00-9458-4597-A4B8-780AA330AACD}" srcOrd="0" destOrd="0" presId="urn:microsoft.com/office/officeart/2005/8/layout/list1"/>
    <dgm:cxn modelId="{910796B6-B5D4-4498-A979-91F1AA126BA1}" type="presParOf" srcId="{E08A4E00-9458-4597-A4B8-780AA330AACD}" destId="{EA73A669-FB7D-49B4-A569-2CC554FCD76E}" srcOrd="0" destOrd="0" presId="urn:microsoft.com/office/officeart/2005/8/layout/list1"/>
    <dgm:cxn modelId="{98AD1F12-5E76-4F78-99B1-CE543217085A}" type="presParOf" srcId="{E08A4E00-9458-4597-A4B8-780AA330AACD}" destId="{BDDBBAE3-62AF-4A2A-B155-A1564AE62D38}" srcOrd="1" destOrd="0" presId="urn:microsoft.com/office/officeart/2005/8/layout/list1"/>
    <dgm:cxn modelId="{BF4FDB84-EACA-4FD4-9680-44B141EF54C1}" type="presParOf" srcId="{4A4350CA-DC8F-4C85-B81C-DD68C81BB764}" destId="{1330CAE6-4CF6-437C-A5D1-D4AE6D7DCBF5}" srcOrd="1" destOrd="0" presId="urn:microsoft.com/office/officeart/2005/8/layout/list1"/>
    <dgm:cxn modelId="{AD2BA86C-BB1C-4068-BABE-8C635C483664}" type="presParOf" srcId="{4A4350CA-DC8F-4C85-B81C-DD68C81BB764}" destId="{B76D491F-4F5D-4344-A092-39775E47A656}" srcOrd="2" destOrd="0" presId="urn:microsoft.com/office/officeart/2005/8/layout/list1"/>
    <dgm:cxn modelId="{1C1F3021-75D4-45C0-9C8A-E509A681BED3}" type="presParOf" srcId="{4A4350CA-DC8F-4C85-B81C-DD68C81BB764}" destId="{625875B7-BCEC-4818-AF16-CD935E2ED8F4}" srcOrd="3" destOrd="0" presId="urn:microsoft.com/office/officeart/2005/8/layout/list1"/>
    <dgm:cxn modelId="{067129BC-12B6-493E-8985-253E67C5A776}" type="presParOf" srcId="{4A4350CA-DC8F-4C85-B81C-DD68C81BB764}" destId="{2E8B06CE-7813-4996-9AF4-9C0CCC64E3CB}" srcOrd="4" destOrd="0" presId="urn:microsoft.com/office/officeart/2005/8/layout/list1"/>
    <dgm:cxn modelId="{C31CCF22-813D-4A68-9221-2DD33759B084}" type="presParOf" srcId="{2E8B06CE-7813-4996-9AF4-9C0CCC64E3CB}" destId="{4815B307-C34F-4757-A6A5-0CDA853303B6}" srcOrd="0" destOrd="0" presId="urn:microsoft.com/office/officeart/2005/8/layout/list1"/>
    <dgm:cxn modelId="{C6AB1ABC-6DB0-4C60-B7E1-EBC7CD6A4D79}" type="presParOf" srcId="{2E8B06CE-7813-4996-9AF4-9C0CCC64E3CB}" destId="{053CED20-B1BC-4B66-9692-224F58CC9A09}" srcOrd="1" destOrd="0" presId="urn:microsoft.com/office/officeart/2005/8/layout/list1"/>
    <dgm:cxn modelId="{2C10DF24-0DD2-4035-9F4C-4765FBACD96F}" type="presParOf" srcId="{4A4350CA-DC8F-4C85-B81C-DD68C81BB764}" destId="{92A6334A-1757-4BA1-B07E-6D4B9A1FFC9F}" srcOrd="5" destOrd="0" presId="urn:microsoft.com/office/officeart/2005/8/layout/list1"/>
    <dgm:cxn modelId="{6EA6BCFB-018B-4679-85EF-4CF014D7A3DA}" type="presParOf" srcId="{4A4350CA-DC8F-4C85-B81C-DD68C81BB764}" destId="{FB6CF298-4F4E-493B-8680-9AF81514949F}" srcOrd="6" destOrd="0" presId="urn:microsoft.com/office/officeart/2005/8/layout/list1"/>
    <dgm:cxn modelId="{31E226A3-644F-4284-8FC3-CAF176F44992}" type="presParOf" srcId="{4A4350CA-DC8F-4C85-B81C-DD68C81BB764}" destId="{DC640C3E-EE85-4101-ABDB-1AFC69749219}" srcOrd="7" destOrd="0" presId="urn:microsoft.com/office/officeart/2005/8/layout/list1"/>
    <dgm:cxn modelId="{D71C9696-D473-4CA6-9DB2-E935C7744E55}" type="presParOf" srcId="{4A4350CA-DC8F-4C85-B81C-DD68C81BB764}" destId="{146D5649-46FB-49F8-A547-1BFCC1C2FE79}" srcOrd="8" destOrd="0" presId="urn:microsoft.com/office/officeart/2005/8/layout/list1"/>
    <dgm:cxn modelId="{B6A1CB8D-3BFA-46C2-8408-6AB4C65ABB7C}" type="presParOf" srcId="{146D5649-46FB-49F8-A547-1BFCC1C2FE79}" destId="{6F3B2BA8-A15E-40AB-9898-B865615AC72D}" srcOrd="0" destOrd="0" presId="urn:microsoft.com/office/officeart/2005/8/layout/list1"/>
    <dgm:cxn modelId="{DE5848FA-E277-48E0-B352-5C05A76B7CB5}" type="presParOf" srcId="{146D5649-46FB-49F8-A547-1BFCC1C2FE79}" destId="{EDD268F1-2E19-40DB-8157-6F6CD897C928}" srcOrd="1" destOrd="0" presId="urn:microsoft.com/office/officeart/2005/8/layout/list1"/>
    <dgm:cxn modelId="{BDC4DE37-28BC-4C2B-9EFB-923E0EAB36FA}" type="presParOf" srcId="{4A4350CA-DC8F-4C85-B81C-DD68C81BB764}" destId="{06BBE1A3-B877-4F0F-894B-15EA174F63DD}" srcOrd="9" destOrd="0" presId="urn:microsoft.com/office/officeart/2005/8/layout/list1"/>
    <dgm:cxn modelId="{FB950B6F-1A5F-433E-820B-B5C7CF6AF365}" type="presParOf" srcId="{4A4350CA-DC8F-4C85-B81C-DD68C81BB764}" destId="{15D71910-6D08-4BA7-A518-DF401A457826}" srcOrd="10" destOrd="0" presId="urn:microsoft.com/office/officeart/2005/8/layout/list1"/>
    <dgm:cxn modelId="{CA5C51D1-6BC3-47C2-AAA8-6A9CEF4B6B94}" type="presParOf" srcId="{4A4350CA-DC8F-4C85-B81C-DD68C81BB764}" destId="{54A3AA67-098A-47D7-9D53-DA3EE143C70D}" srcOrd="11" destOrd="0" presId="urn:microsoft.com/office/officeart/2005/8/layout/list1"/>
    <dgm:cxn modelId="{4F9609C7-590F-443E-B456-457C53AF40ED}" type="presParOf" srcId="{4A4350CA-DC8F-4C85-B81C-DD68C81BB764}" destId="{8A59A2F4-22FA-4D22-A1F7-E036902019E0}" srcOrd="12" destOrd="0" presId="urn:microsoft.com/office/officeart/2005/8/layout/list1"/>
    <dgm:cxn modelId="{F695DBD0-148B-43F2-AAA3-2CF2F99C3C6F}" type="presParOf" srcId="{8A59A2F4-22FA-4D22-A1F7-E036902019E0}" destId="{5A7A8E99-BBB5-44C7-8C1D-393902B7989B}" srcOrd="0" destOrd="0" presId="urn:microsoft.com/office/officeart/2005/8/layout/list1"/>
    <dgm:cxn modelId="{AA3328EF-95F1-475C-9F1A-C182A6F00298}" type="presParOf" srcId="{8A59A2F4-22FA-4D22-A1F7-E036902019E0}" destId="{A197F4EE-4A23-4E3D-BB29-9F54A759C050}" srcOrd="1" destOrd="0" presId="urn:microsoft.com/office/officeart/2005/8/layout/list1"/>
    <dgm:cxn modelId="{59F036BF-CCFC-4673-B804-2E95CA37E077}" type="presParOf" srcId="{4A4350CA-DC8F-4C85-B81C-DD68C81BB764}" destId="{64F903F8-F489-4A98-A862-52CA9636CF2B}" srcOrd="13" destOrd="0" presId="urn:microsoft.com/office/officeart/2005/8/layout/list1"/>
    <dgm:cxn modelId="{257F3882-0735-4C4B-9106-EC940626393A}" type="presParOf" srcId="{4A4350CA-DC8F-4C85-B81C-DD68C81BB764}" destId="{8D9EA325-A0A8-4675-8B49-C95BCD438D4A}" srcOrd="14" destOrd="0" presId="urn:microsoft.com/office/officeart/2005/8/layout/list1"/>
    <dgm:cxn modelId="{164BFF05-2D2D-451E-B91B-7C8D1F4EA719}" type="presParOf" srcId="{4A4350CA-DC8F-4C85-B81C-DD68C81BB764}" destId="{39EF19CB-9A74-43A0-BC39-2DCD274B74F5}" srcOrd="15" destOrd="0" presId="urn:microsoft.com/office/officeart/2005/8/layout/list1"/>
    <dgm:cxn modelId="{D2DB2ED1-E2AE-4B33-8A30-79B14133857B}" type="presParOf" srcId="{4A4350CA-DC8F-4C85-B81C-DD68C81BB764}" destId="{E35751BD-CF42-4691-BBB1-FC180CA82F10}" srcOrd="16" destOrd="0" presId="urn:microsoft.com/office/officeart/2005/8/layout/list1"/>
    <dgm:cxn modelId="{F415A3EA-8CCC-462F-A887-53E2E209B86A}" type="presParOf" srcId="{E35751BD-CF42-4691-BBB1-FC180CA82F10}" destId="{9251B973-B375-4D79-9304-F7822D2A700E}" srcOrd="0" destOrd="0" presId="urn:microsoft.com/office/officeart/2005/8/layout/list1"/>
    <dgm:cxn modelId="{4A11E06D-BF5C-4371-8E78-F3D131E867F7}" type="presParOf" srcId="{E35751BD-CF42-4691-BBB1-FC180CA82F10}" destId="{91555371-9902-4F83-B497-AD3EC39B49BA}" srcOrd="1" destOrd="0" presId="urn:microsoft.com/office/officeart/2005/8/layout/list1"/>
    <dgm:cxn modelId="{FC626060-4BD6-437C-9BD1-CD636EE38341}" type="presParOf" srcId="{4A4350CA-DC8F-4C85-B81C-DD68C81BB764}" destId="{03BD2001-B13F-45C2-904D-F825A767587A}" srcOrd="17" destOrd="0" presId="urn:microsoft.com/office/officeart/2005/8/layout/list1"/>
    <dgm:cxn modelId="{58F4C223-721F-4728-AF5B-4D4A08A71BB4}" type="presParOf" srcId="{4A4350CA-DC8F-4C85-B81C-DD68C81BB764}" destId="{D6F07C85-4681-49FD-9828-E92EAEE39073}" srcOrd="18" destOrd="0" presId="urn:microsoft.com/office/officeart/2005/8/layout/list1"/>
    <dgm:cxn modelId="{BBF25A2E-E5E9-4375-8ED8-10F3B6EAA803}" type="presParOf" srcId="{4A4350CA-DC8F-4C85-B81C-DD68C81BB764}" destId="{BD0A00EC-E74B-4DF7-B19E-C370FA538B6E}" srcOrd="19" destOrd="0" presId="urn:microsoft.com/office/officeart/2005/8/layout/list1"/>
    <dgm:cxn modelId="{3DE4FFD9-E4C7-475E-A19D-660D375B9C6F}" type="presParOf" srcId="{4A4350CA-DC8F-4C85-B81C-DD68C81BB764}" destId="{A5CE94DE-16F8-4797-AD97-9F5877D4765D}" srcOrd="20" destOrd="0" presId="urn:microsoft.com/office/officeart/2005/8/layout/list1"/>
    <dgm:cxn modelId="{11D283DF-6006-4B65-9B00-8DEF2D396BDA}" type="presParOf" srcId="{A5CE94DE-16F8-4797-AD97-9F5877D4765D}" destId="{5AC41F73-B373-42C5-B41C-FCCC3C9F083D}" srcOrd="0" destOrd="0" presId="urn:microsoft.com/office/officeart/2005/8/layout/list1"/>
    <dgm:cxn modelId="{15A9DEC8-0EAF-473B-B695-4BE3A190912C}" type="presParOf" srcId="{A5CE94DE-16F8-4797-AD97-9F5877D4765D}" destId="{AE5C6079-9650-4904-9074-AD6330ADE0E8}" srcOrd="1" destOrd="0" presId="urn:microsoft.com/office/officeart/2005/8/layout/list1"/>
    <dgm:cxn modelId="{46C2205F-7EE0-4371-9F93-3EB8C9DA8FB0}" type="presParOf" srcId="{4A4350CA-DC8F-4C85-B81C-DD68C81BB764}" destId="{1DF958CE-B043-4520-A6F4-6AAE9C71BE9A}" srcOrd="21" destOrd="0" presId="urn:microsoft.com/office/officeart/2005/8/layout/list1"/>
    <dgm:cxn modelId="{261E94FD-906D-4A87-B32E-27D9066FDD43}" type="presParOf" srcId="{4A4350CA-DC8F-4C85-B81C-DD68C81BB764}" destId="{96BB7012-8BDC-421B-8B56-E4A8E4042661}" srcOrd="22" destOrd="0" presId="urn:microsoft.com/office/officeart/2005/8/layout/list1"/>
    <dgm:cxn modelId="{0776978D-4DF2-470E-94E3-A1BE8CD70B9E}" type="presParOf" srcId="{4A4350CA-DC8F-4C85-B81C-DD68C81BB764}" destId="{05441AA8-83FD-45CC-8414-C28910C90ACD}" srcOrd="23" destOrd="0" presId="urn:microsoft.com/office/officeart/2005/8/layout/list1"/>
    <dgm:cxn modelId="{94AA08DC-0B50-4E9B-8087-622B99F7537D}" type="presParOf" srcId="{4A4350CA-DC8F-4C85-B81C-DD68C81BB764}" destId="{2DF60E82-E8A5-4AAA-8E12-FACB5F90263F}" srcOrd="24" destOrd="0" presId="urn:microsoft.com/office/officeart/2005/8/layout/list1"/>
    <dgm:cxn modelId="{1B42135F-6A07-483E-90C8-64FF38ACAEE1}" type="presParOf" srcId="{2DF60E82-E8A5-4AAA-8E12-FACB5F90263F}" destId="{C75F47A8-F1D7-4067-A59D-2070BEBDDC3E}" srcOrd="0" destOrd="0" presId="urn:microsoft.com/office/officeart/2005/8/layout/list1"/>
    <dgm:cxn modelId="{A1A61842-DB49-4864-937B-71DB9FB11B4B}" type="presParOf" srcId="{2DF60E82-E8A5-4AAA-8E12-FACB5F90263F}" destId="{EEFA1DCA-0D7D-4CEE-B7BD-699204CB2A99}" srcOrd="1" destOrd="0" presId="urn:microsoft.com/office/officeart/2005/8/layout/list1"/>
    <dgm:cxn modelId="{C3A781F4-1E7F-4C16-BD06-6803069251A7}" type="presParOf" srcId="{4A4350CA-DC8F-4C85-B81C-DD68C81BB764}" destId="{3452A1A7-EB32-4FD6-8D17-D158BD26C0BF}" srcOrd="25" destOrd="0" presId="urn:microsoft.com/office/officeart/2005/8/layout/list1"/>
    <dgm:cxn modelId="{6D46605A-3F87-4B61-9D18-CA8E3B18E33C}" type="presParOf" srcId="{4A4350CA-DC8F-4C85-B81C-DD68C81BB764}" destId="{A84533B6-E822-47DD-AF7C-6477CF74E7B8}"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F690CA-0AFF-4759-9225-84855BF43D60}" type="doc">
      <dgm:prSet loTypeId="urn:microsoft.com/office/officeart/2005/8/layout/hList1" loCatId="list" qsTypeId="urn:microsoft.com/office/officeart/2005/8/quickstyle/simple5#1" qsCatId="simple" csTypeId="urn:microsoft.com/office/officeart/2005/8/colors/colorful2#1" csCatId="colorful" phldr="1"/>
      <dgm:spPr/>
      <dgm:t>
        <a:bodyPr/>
        <a:lstStyle/>
        <a:p>
          <a:endParaRPr lang="en-US"/>
        </a:p>
      </dgm:t>
    </dgm:pt>
    <dgm:pt modelId="{0D3E8AFC-8E2B-4D50-B98B-C8C2A9A246A2}">
      <dgm:prSet custT="1"/>
      <dgm:spPr/>
      <dgm:t>
        <a:bodyPr/>
        <a:lstStyle/>
        <a:p>
          <a:r>
            <a:rPr lang="en-CA" sz="2000" dirty="0"/>
            <a:t>Acute </a:t>
          </a:r>
        </a:p>
        <a:p>
          <a:r>
            <a:rPr lang="en-CA" sz="2000" dirty="0"/>
            <a:t>Cutaneous lupus</a:t>
          </a:r>
          <a:endParaRPr lang="en-US" sz="2000" dirty="0"/>
        </a:p>
      </dgm:t>
    </dgm:pt>
    <dgm:pt modelId="{F9ECE88A-58E6-4D33-A006-B182C4F92B6B}" type="parTrans" cxnId="{4A070075-3CD8-4FF5-B449-058106628E7E}">
      <dgm:prSet/>
      <dgm:spPr/>
      <dgm:t>
        <a:bodyPr/>
        <a:lstStyle/>
        <a:p>
          <a:endParaRPr lang="en-US"/>
        </a:p>
      </dgm:t>
    </dgm:pt>
    <dgm:pt modelId="{1D4EFF4B-9102-4EA3-AB95-020ACB8C381D}" type="sibTrans" cxnId="{4A070075-3CD8-4FF5-B449-058106628E7E}">
      <dgm:prSet/>
      <dgm:spPr/>
      <dgm:t>
        <a:bodyPr/>
        <a:lstStyle/>
        <a:p>
          <a:endParaRPr lang="en-US"/>
        </a:p>
      </dgm:t>
    </dgm:pt>
    <dgm:pt modelId="{D74F2105-B2C4-4593-9AE2-F33D328785B1}">
      <dgm:prSet custT="1"/>
      <dgm:spPr/>
      <dgm:t>
        <a:bodyPr/>
        <a:lstStyle/>
        <a:p>
          <a:pPr marL="0" algn="ctr">
            <a:buNone/>
          </a:pPr>
          <a:r>
            <a:rPr lang="en-CA" sz="2400" dirty="0"/>
            <a:t>Malar “butterfly” rash</a:t>
          </a:r>
          <a:endParaRPr lang="en-US" sz="2400" dirty="0"/>
        </a:p>
      </dgm:t>
    </dgm:pt>
    <dgm:pt modelId="{D6399B21-789F-4997-9AEC-FE35039FF364}" type="parTrans" cxnId="{B1D6C64D-EA23-4D7A-8226-2E5CD17EAF3B}">
      <dgm:prSet/>
      <dgm:spPr/>
      <dgm:t>
        <a:bodyPr/>
        <a:lstStyle/>
        <a:p>
          <a:endParaRPr lang="en-US"/>
        </a:p>
      </dgm:t>
    </dgm:pt>
    <dgm:pt modelId="{A62A25D0-E33A-41E7-8864-C85B2F547863}" type="sibTrans" cxnId="{B1D6C64D-EA23-4D7A-8226-2E5CD17EAF3B}">
      <dgm:prSet/>
      <dgm:spPr/>
      <dgm:t>
        <a:bodyPr/>
        <a:lstStyle/>
        <a:p>
          <a:endParaRPr lang="en-US"/>
        </a:p>
      </dgm:t>
    </dgm:pt>
    <dgm:pt modelId="{ED91DB2E-F232-4856-AE27-C8BAC12B37C8}">
      <dgm:prSet/>
      <dgm:spPr/>
      <dgm:t>
        <a:bodyPr/>
        <a:lstStyle/>
        <a:p>
          <a:r>
            <a:rPr lang="en-CA" dirty="0"/>
            <a:t>Discoid lupus</a:t>
          </a:r>
          <a:endParaRPr lang="en-US" dirty="0"/>
        </a:p>
      </dgm:t>
    </dgm:pt>
    <dgm:pt modelId="{9F98BAA8-3FC1-45CA-A4AF-22ECA68625B6}" type="parTrans" cxnId="{DE86A0B1-76CF-47CE-BD62-B0BFFF85B5EC}">
      <dgm:prSet/>
      <dgm:spPr/>
      <dgm:t>
        <a:bodyPr/>
        <a:lstStyle/>
        <a:p>
          <a:endParaRPr lang="en-US"/>
        </a:p>
      </dgm:t>
    </dgm:pt>
    <dgm:pt modelId="{FEA6EED3-29F2-4CEB-B1F2-F8C3236A74E6}" type="sibTrans" cxnId="{DE86A0B1-76CF-47CE-BD62-B0BFFF85B5EC}">
      <dgm:prSet/>
      <dgm:spPr/>
      <dgm:t>
        <a:bodyPr/>
        <a:lstStyle/>
        <a:p>
          <a:endParaRPr lang="en-US"/>
        </a:p>
      </dgm:t>
    </dgm:pt>
    <dgm:pt modelId="{E946580E-A3BE-4A7F-8C3E-A9B7B13E8324}">
      <dgm:prSet custT="1"/>
      <dgm:spPr/>
      <dgm:t>
        <a:bodyPr/>
        <a:lstStyle/>
        <a:p>
          <a:pPr marL="0" algn="ctr">
            <a:buNone/>
          </a:pPr>
          <a:r>
            <a:rPr lang="en-CA" sz="2400" dirty="0"/>
            <a:t>Round, crusted, erythematous plaques, scarring and hypopigmentation, hair loss </a:t>
          </a:r>
          <a:endParaRPr lang="en-US" sz="2400" dirty="0"/>
        </a:p>
      </dgm:t>
    </dgm:pt>
    <dgm:pt modelId="{CBED343D-ABE3-468A-8EEA-23EF6EC9FA7C}" type="parTrans" cxnId="{5B15DEAC-B26F-4806-B32F-12C595349040}">
      <dgm:prSet/>
      <dgm:spPr/>
      <dgm:t>
        <a:bodyPr/>
        <a:lstStyle/>
        <a:p>
          <a:endParaRPr lang="en-US"/>
        </a:p>
      </dgm:t>
    </dgm:pt>
    <dgm:pt modelId="{81D7D414-9340-4BD8-9886-1059E84C453F}" type="sibTrans" cxnId="{5B15DEAC-B26F-4806-B32F-12C595349040}">
      <dgm:prSet/>
      <dgm:spPr/>
      <dgm:t>
        <a:bodyPr/>
        <a:lstStyle/>
        <a:p>
          <a:endParaRPr lang="en-US"/>
        </a:p>
      </dgm:t>
    </dgm:pt>
    <dgm:pt modelId="{3717DE9C-B663-4328-8D35-0F61DB52BA07}">
      <dgm:prSet/>
      <dgm:spPr/>
      <dgm:t>
        <a:bodyPr/>
        <a:lstStyle/>
        <a:p>
          <a:r>
            <a:rPr lang="en-CA"/>
            <a:t>Diabetes</a:t>
          </a:r>
          <a:endParaRPr lang="en-US"/>
        </a:p>
      </dgm:t>
    </dgm:pt>
    <dgm:pt modelId="{18766A85-F0AE-44C9-81BD-8EDEDD664D9C}" type="parTrans" cxnId="{0ECCF4FF-F478-4DC8-8028-198F48E8DC0C}">
      <dgm:prSet/>
      <dgm:spPr/>
      <dgm:t>
        <a:bodyPr/>
        <a:lstStyle/>
        <a:p>
          <a:endParaRPr lang="en-US"/>
        </a:p>
      </dgm:t>
    </dgm:pt>
    <dgm:pt modelId="{41D257C0-D7AF-42E9-A253-18B00F48C508}" type="sibTrans" cxnId="{0ECCF4FF-F478-4DC8-8028-198F48E8DC0C}">
      <dgm:prSet/>
      <dgm:spPr/>
      <dgm:t>
        <a:bodyPr/>
        <a:lstStyle/>
        <a:p>
          <a:endParaRPr lang="en-US"/>
        </a:p>
      </dgm:t>
    </dgm:pt>
    <dgm:pt modelId="{4CCE8696-E087-4BD8-996B-7975C1FEC808}">
      <dgm:prSet/>
      <dgm:spPr/>
      <dgm:t>
        <a:bodyPr/>
        <a:lstStyle/>
        <a:p>
          <a:pPr marL="0" algn="ctr">
            <a:buNone/>
          </a:pPr>
          <a:r>
            <a:rPr lang="en-CA" dirty="0"/>
            <a:t>Acanthosis nigricans, infections, dermopathy, poor wound healing</a:t>
          </a:r>
          <a:endParaRPr lang="en-US" dirty="0"/>
        </a:p>
      </dgm:t>
    </dgm:pt>
    <dgm:pt modelId="{B47174AB-FFA5-4624-8942-9200B504BBB5}" type="parTrans" cxnId="{D20B01DB-59E2-49F9-83A6-F9B0767E2A8A}">
      <dgm:prSet/>
      <dgm:spPr/>
      <dgm:t>
        <a:bodyPr/>
        <a:lstStyle/>
        <a:p>
          <a:endParaRPr lang="en-US"/>
        </a:p>
      </dgm:t>
    </dgm:pt>
    <dgm:pt modelId="{B2F3640B-3959-4670-B7B3-DAFCF3E16826}" type="sibTrans" cxnId="{D20B01DB-59E2-49F9-83A6-F9B0767E2A8A}">
      <dgm:prSet/>
      <dgm:spPr/>
      <dgm:t>
        <a:bodyPr/>
        <a:lstStyle/>
        <a:p>
          <a:endParaRPr lang="en-US"/>
        </a:p>
      </dgm:t>
    </dgm:pt>
    <dgm:pt modelId="{E04D1711-95B6-401C-B5DE-510EBF91CD4B}">
      <dgm:prSet/>
      <dgm:spPr/>
      <dgm:t>
        <a:bodyPr/>
        <a:lstStyle/>
        <a:p>
          <a:r>
            <a:rPr lang="en-CA"/>
            <a:t>Paget’s Disease:</a:t>
          </a:r>
          <a:endParaRPr lang="en-US"/>
        </a:p>
      </dgm:t>
    </dgm:pt>
    <dgm:pt modelId="{B3F02564-5043-4110-9210-30F2198F95E2}" type="parTrans" cxnId="{8E36A7B1-19B3-404C-850C-4B3C4082AACB}">
      <dgm:prSet/>
      <dgm:spPr/>
      <dgm:t>
        <a:bodyPr/>
        <a:lstStyle/>
        <a:p>
          <a:endParaRPr lang="en-US"/>
        </a:p>
      </dgm:t>
    </dgm:pt>
    <dgm:pt modelId="{354A5698-8DBC-4D92-AF84-EB84CEAD3964}" type="sibTrans" cxnId="{8E36A7B1-19B3-404C-850C-4B3C4082AACB}">
      <dgm:prSet/>
      <dgm:spPr/>
      <dgm:t>
        <a:bodyPr/>
        <a:lstStyle/>
        <a:p>
          <a:endParaRPr lang="en-US"/>
        </a:p>
      </dgm:t>
    </dgm:pt>
    <dgm:pt modelId="{234D7906-6B14-42CD-BADE-796793501BCE}">
      <dgm:prSet/>
      <dgm:spPr/>
      <dgm:t>
        <a:bodyPr/>
        <a:lstStyle/>
        <a:p>
          <a:pPr marL="0" algn="ctr">
            <a:buNone/>
          </a:pPr>
          <a:r>
            <a:rPr lang="en-CA" dirty="0"/>
            <a:t>Persistent, non healing erythematous, scaly, eczematous plaques not responding to topical treatment </a:t>
          </a:r>
          <a:endParaRPr lang="en-US" dirty="0"/>
        </a:p>
      </dgm:t>
    </dgm:pt>
    <dgm:pt modelId="{E1527FED-3F2D-4D41-A7A6-BBC706BAA421}" type="parTrans" cxnId="{4D256CD2-63DE-4548-9C08-A2843378D001}">
      <dgm:prSet/>
      <dgm:spPr/>
      <dgm:t>
        <a:bodyPr/>
        <a:lstStyle/>
        <a:p>
          <a:endParaRPr lang="en-US"/>
        </a:p>
      </dgm:t>
    </dgm:pt>
    <dgm:pt modelId="{91A64CAB-0D23-4813-9ABC-BE396DFA8779}" type="sibTrans" cxnId="{4D256CD2-63DE-4548-9C08-A2843378D001}">
      <dgm:prSet/>
      <dgm:spPr/>
      <dgm:t>
        <a:bodyPr/>
        <a:lstStyle/>
        <a:p>
          <a:endParaRPr lang="en-US"/>
        </a:p>
      </dgm:t>
    </dgm:pt>
    <dgm:pt modelId="{47713065-46CD-4435-AEE8-2CF291D127A4}">
      <dgm:prSet/>
      <dgm:spPr/>
      <dgm:t>
        <a:bodyPr/>
        <a:lstStyle/>
        <a:p>
          <a:r>
            <a:rPr lang="en-CA"/>
            <a:t>Scleroderma: </a:t>
          </a:r>
          <a:endParaRPr lang="en-US"/>
        </a:p>
      </dgm:t>
    </dgm:pt>
    <dgm:pt modelId="{0E1D6398-31DA-4DC2-A409-9CA72C25EC8F}" type="parTrans" cxnId="{0288830E-54C5-49EF-B641-59E1E53B1F04}">
      <dgm:prSet/>
      <dgm:spPr/>
      <dgm:t>
        <a:bodyPr/>
        <a:lstStyle/>
        <a:p>
          <a:endParaRPr lang="en-US"/>
        </a:p>
      </dgm:t>
    </dgm:pt>
    <dgm:pt modelId="{15C2249A-3F52-4153-A793-4E2A917FF8D1}" type="sibTrans" cxnId="{0288830E-54C5-49EF-B641-59E1E53B1F04}">
      <dgm:prSet/>
      <dgm:spPr/>
      <dgm:t>
        <a:bodyPr/>
        <a:lstStyle/>
        <a:p>
          <a:endParaRPr lang="en-US"/>
        </a:p>
      </dgm:t>
    </dgm:pt>
    <dgm:pt modelId="{4AB4ED9E-E02E-447C-B074-F7099762345B}">
      <dgm:prSet/>
      <dgm:spPr/>
      <dgm:t>
        <a:bodyPr/>
        <a:lstStyle/>
        <a:p>
          <a:pPr algn="ctr">
            <a:buFontTx/>
            <a:buNone/>
          </a:pPr>
          <a:r>
            <a:rPr lang="en-CA" dirty="0"/>
            <a:t>Skin thickening and induration (begins in fingers/hands), Raynaud’s, digital ulcers and pitting scars, mask-like facies, telangiectasias, hyper- or hypo-pigmentation</a:t>
          </a:r>
          <a:endParaRPr lang="en-US" dirty="0"/>
        </a:p>
      </dgm:t>
    </dgm:pt>
    <dgm:pt modelId="{39C9DC93-AEA8-4E1B-8CD0-846EC4AE540D}" type="parTrans" cxnId="{02991473-36C3-44CF-BB9A-EAF96E74A2B5}">
      <dgm:prSet/>
      <dgm:spPr/>
      <dgm:t>
        <a:bodyPr/>
        <a:lstStyle/>
        <a:p>
          <a:endParaRPr lang="en-US"/>
        </a:p>
      </dgm:t>
    </dgm:pt>
    <dgm:pt modelId="{10DA17CE-4C13-4BF5-B8F3-3ABDC49DA6F9}" type="sibTrans" cxnId="{02991473-36C3-44CF-BB9A-EAF96E74A2B5}">
      <dgm:prSet/>
      <dgm:spPr/>
      <dgm:t>
        <a:bodyPr/>
        <a:lstStyle/>
        <a:p>
          <a:endParaRPr lang="en-US"/>
        </a:p>
      </dgm:t>
    </dgm:pt>
    <dgm:pt modelId="{B3D42484-CE39-4D84-A3CB-510EA0A5E163}" type="pres">
      <dgm:prSet presAssocID="{16F690CA-0AFF-4759-9225-84855BF43D60}" presName="Name0" presStyleCnt="0">
        <dgm:presLayoutVars>
          <dgm:dir/>
          <dgm:animLvl val="lvl"/>
          <dgm:resizeHandles val="exact"/>
        </dgm:presLayoutVars>
      </dgm:prSet>
      <dgm:spPr/>
    </dgm:pt>
    <dgm:pt modelId="{B4B74DC9-F497-452F-A6CE-5DFA53EDB722}" type="pres">
      <dgm:prSet presAssocID="{0D3E8AFC-8E2B-4D50-B98B-C8C2A9A246A2}" presName="composite" presStyleCnt="0"/>
      <dgm:spPr/>
    </dgm:pt>
    <dgm:pt modelId="{3C7E23EF-3ED9-41A5-86DC-EBFADF9B7C22}" type="pres">
      <dgm:prSet presAssocID="{0D3E8AFC-8E2B-4D50-B98B-C8C2A9A246A2}" presName="parTx" presStyleLbl="alignNode1" presStyleIdx="0" presStyleCnt="5">
        <dgm:presLayoutVars>
          <dgm:chMax val="0"/>
          <dgm:chPref val="0"/>
          <dgm:bulletEnabled val="1"/>
        </dgm:presLayoutVars>
      </dgm:prSet>
      <dgm:spPr/>
    </dgm:pt>
    <dgm:pt modelId="{E8592599-676A-48AC-B4B8-F52FF0F8344F}" type="pres">
      <dgm:prSet presAssocID="{0D3E8AFC-8E2B-4D50-B98B-C8C2A9A246A2}" presName="desTx" presStyleLbl="alignAccFollowNode1" presStyleIdx="0" presStyleCnt="5">
        <dgm:presLayoutVars>
          <dgm:bulletEnabled val="1"/>
        </dgm:presLayoutVars>
      </dgm:prSet>
      <dgm:spPr/>
    </dgm:pt>
    <dgm:pt modelId="{4C5674BF-6E84-498E-A6B3-0707CA30C234}" type="pres">
      <dgm:prSet presAssocID="{1D4EFF4B-9102-4EA3-AB95-020ACB8C381D}" presName="space" presStyleCnt="0"/>
      <dgm:spPr/>
    </dgm:pt>
    <dgm:pt modelId="{CF6FF458-3463-4C1E-81BC-3ECF121D20EA}" type="pres">
      <dgm:prSet presAssocID="{ED91DB2E-F232-4856-AE27-C8BAC12B37C8}" presName="composite" presStyleCnt="0"/>
      <dgm:spPr/>
    </dgm:pt>
    <dgm:pt modelId="{434DE5A1-7A0A-47C9-BCEE-63EA6F809132}" type="pres">
      <dgm:prSet presAssocID="{ED91DB2E-F232-4856-AE27-C8BAC12B37C8}" presName="parTx" presStyleLbl="alignNode1" presStyleIdx="1" presStyleCnt="5">
        <dgm:presLayoutVars>
          <dgm:chMax val="0"/>
          <dgm:chPref val="0"/>
          <dgm:bulletEnabled val="1"/>
        </dgm:presLayoutVars>
      </dgm:prSet>
      <dgm:spPr/>
    </dgm:pt>
    <dgm:pt modelId="{1FC5CAA1-3219-4F36-BA7D-26B918352C02}" type="pres">
      <dgm:prSet presAssocID="{ED91DB2E-F232-4856-AE27-C8BAC12B37C8}" presName="desTx" presStyleLbl="alignAccFollowNode1" presStyleIdx="1" presStyleCnt="5">
        <dgm:presLayoutVars>
          <dgm:bulletEnabled val="1"/>
        </dgm:presLayoutVars>
      </dgm:prSet>
      <dgm:spPr/>
    </dgm:pt>
    <dgm:pt modelId="{CC89FF4E-F21E-4A03-81EF-92FC40C0BF62}" type="pres">
      <dgm:prSet presAssocID="{FEA6EED3-29F2-4CEB-B1F2-F8C3236A74E6}" presName="space" presStyleCnt="0"/>
      <dgm:spPr/>
    </dgm:pt>
    <dgm:pt modelId="{4D4CEE4C-6E8D-4917-9B4C-3FF29E2FF70A}" type="pres">
      <dgm:prSet presAssocID="{3717DE9C-B663-4328-8D35-0F61DB52BA07}" presName="composite" presStyleCnt="0"/>
      <dgm:spPr/>
    </dgm:pt>
    <dgm:pt modelId="{FF237112-A56B-4A91-B542-CB775DC15824}" type="pres">
      <dgm:prSet presAssocID="{3717DE9C-B663-4328-8D35-0F61DB52BA07}" presName="parTx" presStyleLbl="alignNode1" presStyleIdx="2" presStyleCnt="5">
        <dgm:presLayoutVars>
          <dgm:chMax val="0"/>
          <dgm:chPref val="0"/>
          <dgm:bulletEnabled val="1"/>
        </dgm:presLayoutVars>
      </dgm:prSet>
      <dgm:spPr/>
    </dgm:pt>
    <dgm:pt modelId="{9DF2EB9E-5928-4B7E-B321-E7D27254F79E}" type="pres">
      <dgm:prSet presAssocID="{3717DE9C-B663-4328-8D35-0F61DB52BA07}" presName="desTx" presStyleLbl="alignAccFollowNode1" presStyleIdx="2" presStyleCnt="5">
        <dgm:presLayoutVars>
          <dgm:bulletEnabled val="1"/>
        </dgm:presLayoutVars>
      </dgm:prSet>
      <dgm:spPr/>
    </dgm:pt>
    <dgm:pt modelId="{43960C59-672A-448C-8D48-EE621ACFC000}" type="pres">
      <dgm:prSet presAssocID="{41D257C0-D7AF-42E9-A253-18B00F48C508}" presName="space" presStyleCnt="0"/>
      <dgm:spPr/>
    </dgm:pt>
    <dgm:pt modelId="{5FAE6085-0500-4FA2-9F5E-BF346CB2AA05}" type="pres">
      <dgm:prSet presAssocID="{E04D1711-95B6-401C-B5DE-510EBF91CD4B}" presName="composite" presStyleCnt="0"/>
      <dgm:spPr/>
    </dgm:pt>
    <dgm:pt modelId="{9F3F7BAB-2CAA-44E0-9B90-A73BFD1CBE11}" type="pres">
      <dgm:prSet presAssocID="{E04D1711-95B6-401C-B5DE-510EBF91CD4B}" presName="parTx" presStyleLbl="alignNode1" presStyleIdx="3" presStyleCnt="5">
        <dgm:presLayoutVars>
          <dgm:chMax val="0"/>
          <dgm:chPref val="0"/>
          <dgm:bulletEnabled val="1"/>
        </dgm:presLayoutVars>
      </dgm:prSet>
      <dgm:spPr/>
    </dgm:pt>
    <dgm:pt modelId="{93271202-D3C1-421D-ABF4-09E2149F70D7}" type="pres">
      <dgm:prSet presAssocID="{E04D1711-95B6-401C-B5DE-510EBF91CD4B}" presName="desTx" presStyleLbl="alignAccFollowNode1" presStyleIdx="3" presStyleCnt="5">
        <dgm:presLayoutVars>
          <dgm:bulletEnabled val="1"/>
        </dgm:presLayoutVars>
      </dgm:prSet>
      <dgm:spPr/>
    </dgm:pt>
    <dgm:pt modelId="{723899D3-272C-43EF-A6C6-BFDAB8D1C728}" type="pres">
      <dgm:prSet presAssocID="{354A5698-8DBC-4D92-AF84-EB84CEAD3964}" presName="space" presStyleCnt="0"/>
      <dgm:spPr/>
    </dgm:pt>
    <dgm:pt modelId="{F65A6AC9-1178-49F7-8C6D-468B5399E828}" type="pres">
      <dgm:prSet presAssocID="{47713065-46CD-4435-AEE8-2CF291D127A4}" presName="composite" presStyleCnt="0"/>
      <dgm:spPr/>
    </dgm:pt>
    <dgm:pt modelId="{7E27E292-E2D5-4E18-A1C3-90232BA5B900}" type="pres">
      <dgm:prSet presAssocID="{47713065-46CD-4435-AEE8-2CF291D127A4}" presName="parTx" presStyleLbl="alignNode1" presStyleIdx="4" presStyleCnt="5">
        <dgm:presLayoutVars>
          <dgm:chMax val="0"/>
          <dgm:chPref val="0"/>
          <dgm:bulletEnabled val="1"/>
        </dgm:presLayoutVars>
      </dgm:prSet>
      <dgm:spPr/>
    </dgm:pt>
    <dgm:pt modelId="{AE698C28-B300-43D3-B12F-58B56528FE7B}" type="pres">
      <dgm:prSet presAssocID="{47713065-46CD-4435-AEE8-2CF291D127A4}" presName="desTx" presStyleLbl="alignAccFollowNode1" presStyleIdx="4" presStyleCnt="5">
        <dgm:presLayoutVars>
          <dgm:bulletEnabled val="1"/>
        </dgm:presLayoutVars>
      </dgm:prSet>
      <dgm:spPr/>
    </dgm:pt>
  </dgm:ptLst>
  <dgm:cxnLst>
    <dgm:cxn modelId="{0288830E-54C5-49EF-B641-59E1E53B1F04}" srcId="{16F690CA-0AFF-4759-9225-84855BF43D60}" destId="{47713065-46CD-4435-AEE8-2CF291D127A4}" srcOrd="4" destOrd="0" parTransId="{0E1D6398-31DA-4DC2-A409-9CA72C25EC8F}" sibTransId="{15C2249A-3F52-4153-A793-4E2A917FF8D1}"/>
    <dgm:cxn modelId="{3092BF1A-316C-4D0E-8FA5-329C4936F211}" type="presOf" srcId="{E04D1711-95B6-401C-B5DE-510EBF91CD4B}" destId="{9F3F7BAB-2CAA-44E0-9B90-A73BFD1CBE11}" srcOrd="0" destOrd="0" presId="urn:microsoft.com/office/officeart/2005/8/layout/hList1"/>
    <dgm:cxn modelId="{A7BE1C1F-A3E8-4BF4-93E0-472D9C8D3EF1}" type="presOf" srcId="{4AB4ED9E-E02E-447C-B074-F7099762345B}" destId="{AE698C28-B300-43D3-B12F-58B56528FE7B}" srcOrd="0" destOrd="0" presId="urn:microsoft.com/office/officeart/2005/8/layout/hList1"/>
    <dgm:cxn modelId="{C969A844-634F-4424-B95F-397FC25900D1}" type="presOf" srcId="{4CCE8696-E087-4BD8-996B-7975C1FEC808}" destId="{9DF2EB9E-5928-4B7E-B321-E7D27254F79E}" srcOrd="0" destOrd="0" presId="urn:microsoft.com/office/officeart/2005/8/layout/hList1"/>
    <dgm:cxn modelId="{B1D6C64D-EA23-4D7A-8226-2E5CD17EAF3B}" srcId="{0D3E8AFC-8E2B-4D50-B98B-C8C2A9A246A2}" destId="{D74F2105-B2C4-4593-9AE2-F33D328785B1}" srcOrd="0" destOrd="0" parTransId="{D6399B21-789F-4997-9AEC-FE35039FF364}" sibTransId="{A62A25D0-E33A-41E7-8864-C85B2F547863}"/>
    <dgm:cxn modelId="{A54E774E-322D-497D-B933-A3FD32BFF4B9}" type="presOf" srcId="{234D7906-6B14-42CD-BADE-796793501BCE}" destId="{93271202-D3C1-421D-ABF4-09E2149F70D7}" srcOrd="0" destOrd="0" presId="urn:microsoft.com/office/officeart/2005/8/layout/hList1"/>
    <dgm:cxn modelId="{02991473-36C3-44CF-BB9A-EAF96E74A2B5}" srcId="{47713065-46CD-4435-AEE8-2CF291D127A4}" destId="{4AB4ED9E-E02E-447C-B074-F7099762345B}" srcOrd="0" destOrd="0" parTransId="{39C9DC93-AEA8-4E1B-8CD0-846EC4AE540D}" sibTransId="{10DA17CE-4C13-4BF5-B8F3-3ABDC49DA6F9}"/>
    <dgm:cxn modelId="{4A070075-3CD8-4FF5-B449-058106628E7E}" srcId="{16F690CA-0AFF-4759-9225-84855BF43D60}" destId="{0D3E8AFC-8E2B-4D50-B98B-C8C2A9A246A2}" srcOrd="0" destOrd="0" parTransId="{F9ECE88A-58E6-4D33-A006-B182C4F92B6B}" sibTransId="{1D4EFF4B-9102-4EA3-AB95-020ACB8C381D}"/>
    <dgm:cxn modelId="{67205E7E-5953-4E2F-B016-3563B6105AF6}" type="presOf" srcId="{0D3E8AFC-8E2B-4D50-B98B-C8C2A9A246A2}" destId="{3C7E23EF-3ED9-41A5-86DC-EBFADF9B7C22}" srcOrd="0" destOrd="0" presId="urn:microsoft.com/office/officeart/2005/8/layout/hList1"/>
    <dgm:cxn modelId="{65094188-EEE0-46A2-9D92-63EA18D53CE9}" type="presOf" srcId="{D74F2105-B2C4-4593-9AE2-F33D328785B1}" destId="{E8592599-676A-48AC-B4B8-F52FF0F8344F}" srcOrd="0" destOrd="0" presId="urn:microsoft.com/office/officeart/2005/8/layout/hList1"/>
    <dgm:cxn modelId="{E122AE8D-F782-4CCD-9853-222DAFA24806}" type="presOf" srcId="{47713065-46CD-4435-AEE8-2CF291D127A4}" destId="{7E27E292-E2D5-4E18-A1C3-90232BA5B900}" srcOrd="0" destOrd="0" presId="urn:microsoft.com/office/officeart/2005/8/layout/hList1"/>
    <dgm:cxn modelId="{5B15DEAC-B26F-4806-B32F-12C595349040}" srcId="{ED91DB2E-F232-4856-AE27-C8BAC12B37C8}" destId="{E946580E-A3BE-4A7F-8C3E-A9B7B13E8324}" srcOrd="0" destOrd="0" parTransId="{CBED343D-ABE3-468A-8EEA-23EF6EC9FA7C}" sibTransId="{81D7D414-9340-4BD8-9886-1059E84C453F}"/>
    <dgm:cxn modelId="{DE86A0B1-76CF-47CE-BD62-B0BFFF85B5EC}" srcId="{16F690CA-0AFF-4759-9225-84855BF43D60}" destId="{ED91DB2E-F232-4856-AE27-C8BAC12B37C8}" srcOrd="1" destOrd="0" parTransId="{9F98BAA8-3FC1-45CA-A4AF-22ECA68625B6}" sibTransId="{FEA6EED3-29F2-4CEB-B1F2-F8C3236A74E6}"/>
    <dgm:cxn modelId="{8E36A7B1-19B3-404C-850C-4B3C4082AACB}" srcId="{16F690CA-0AFF-4759-9225-84855BF43D60}" destId="{E04D1711-95B6-401C-B5DE-510EBF91CD4B}" srcOrd="3" destOrd="0" parTransId="{B3F02564-5043-4110-9210-30F2198F95E2}" sibTransId="{354A5698-8DBC-4D92-AF84-EB84CEAD3964}"/>
    <dgm:cxn modelId="{4D256CD2-63DE-4548-9C08-A2843378D001}" srcId="{E04D1711-95B6-401C-B5DE-510EBF91CD4B}" destId="{234D7906-6B14-42CD-BADE-796793501BCE}" srcOrd="0" destOrd="0" parTransId="{E1527FED-3F2D-4D41-A7A6-BBC706BAA421}" sibTransId="{91A64CAB-0D23-4813-9ABC-BE396DFA8779}"/>
    <dgm:cxn modelId="{B4402BD5-CE96-4CD4-9AE8-09FCEB9B22B2}" type="presOf" srcId="{3717DE9C-B663-4328-8D35-0F61DB52BA07}" destId="{FF237112-A56B-4A91-B542-CB775DC15824}" srcOrd="0" destOrd="0" presId="urn:microsoft.com/office/officeart/2005/8/layout/hList1"/>
    <dgm:cxn modelId="{D20B01DB-59E2-49F9-83A6-F9B0767E2A8A}" srcId="{3717DE9C-B663-4328-8D35-0F61DB52BA07}" destId="{4CCE8696-E087-4BD8-996B-7975C1FEC808}" srcOrd="0" destOrd="0" parTransId="{B47174AB-FFA5-4624-8942-9200B504BBB5}" sibTransId="{B2F3640B-3959-4670-B7B3-DAFCF3E16826}"/>
    <dgm:cxn modelId="{FEEF82E0-A982-4185-BC59-4BECC52665E0}" type="presOf" srcId="{ED91DB2E-F232-4856-AE27-C8BAC12B37C8}" destId="{434DE5A1-7A0A-47C9-BCEE-63EA6F809132}" srcOrd="0" destOrd="0" presId="urn:microsoft.com/office/officeart/2005/8/layout/hList1"/>
    <dgm:cxn modelId="{8BBAC2EF-9A51-4B74-9F64-B1DA45358430}" type="presOf" srcId="{16F690CA-0AFF-4759-9225-84855BF43D60}" destId="{B3D42484-CE39-4D84-A3CB-510EA0A5E163}" srcOrd="0" destOrd="0" presId="urn:microsoft.com/office/officeart/2005/8/layout/hList1"/>
    <dgm:cxn modelId="{F89BB2F9-77CE-450A-9C22-6AB9BDBE0967}" type="presOf" srcId="{E946580E-A3BE-4A7F-8C3E-A9B7B13E8324}" destId="{1FC5CAA1-3219-4F36-BA7D-26B918352C02}" srcOrd="0" destOrd="0" presId="urn:microsoft.com/office/officeart/2005/8/layout/hList1"/>
    <dgm:cxn modelId="{0ECCF4FF-F478-4DC8-8028-198F48E8DC0C}" srcId="{16F690CA-0AFF-4759-9225-84855BF43D60}" destId="{3717DE9C-B663-4328-8D35-0F61DB52BA07}" srcOrd="2" destOrd="0" parTransId="{18766A85-F0AE-44C9-81BD-8EDEDD664D9C}" sibTransId="{41D257C0-D7AF-42E9-A253-18B00F48C508}"/>
    <dgm:cxn modelId="{F867CFF0-540A-4DAC-8E35-8B7280D95666}" type="presParOf" srcId="{B3D42484-CE39-4D84-A3CB-510EA0A5E163}" destId="{B4B74DC9-F497-452F-A6CE-5DFA53EDB722}" srcOrd="0" destOrd="0" presId="urn:microsoft.com/office/officeart/2005/8/layout/hList1"/>
    <dgm:cxn modelId="{07DEE239-0C5A-4968-9775-A4552A52460C}" type="presParOf" srcId="{B4B74DC9-F497-452F-A6CE-5DFA53EDB722}" destId="{3C7E23EF-3ED9-41A5-86DC-EBFADF9B7C22}" srcOrd="0" destOrd="0" presId="urn:microsoft.com/office/officeart/2005/8/layout/hList1"/>
    <dgm:cxn modelId="{E084012E-D278-4AD2-BC17-FEB46D1F3D32}" type="presParOf" srcId="{B4B74DC9-F497-452F-A6CE-5DFA53EDB722}" destId="{E8592599-676A-48AC-B4B8-F52FF0F8344F}" srcOrd="1" destOrd="0" presId="urn:microsoft.com/office/officeart/2005/8/layout/hList1"/>
    <dgm:cxn modelId="{748F078E-BA54-4E2F-B55B-2D17197AE5B4}" type="presParOf" srcId="{B3D42484-CE39-4D84-A3CB-510EA0A5E163}" destId="{4C5674BF-6E84-498E-A6B3-0707CA30C234}" srcOrd="1" destOrd="0" presId="urn:microsoft.com/office/officeart/2005/8/layout/hList1"/>
    <dgm:cxn modelId="{31028A4A-110E-4B58-8572-0AF0468D26C9}" type="presParOf" srcId="{B3D42484-CE39-4D84-A3CB-510EA0A5E163}" destId="{CF6FF458-3463-4C1E-81BC-3ECF121D20EA}" srcOrd="2" destOrd="0" presId="urn:microsoft.com/office/officeart/2005/8/layout/hList1"/>
    <dgm:cxn modelId="{0AF4AC93-D1E8-4399-91C4-38B82E7269E2}" type="presParOf" srcId="{CF6FF458-3463-4C1E-81BC-3ECF121D20EA}" destId="{434DE5A1-7A0A-47C9-BCEE-63EA6F809132}" srcOrd="0" destOrd="0" presId="urn:microsoft.com/office/officeart/2005/8/layout/hList1"/>
    <dgm:cxn modelId="{09ED04F5-612A-45F6-9E90-25009A303491}" type="presParOf" srcId="{CF6FF458-3463-4C1E-81BC-3ECF121D20EA}" destId="{1FC5CAA1-3219-4F36-BA7D-26B918352C02}" srcOrd="1" destOrd="0" presId="urn:microsoft.com/office/officeart/2005/8/layout/hList1"/>
    <dgm:cxn modelId="{92BB424A-DA5E-4A20-9889-28758E481B62}" type="presParOf" srcId="{B3D42484-CE39-4D84-A3CB-510EA0A5E163}" destId="{CC89FF4E-F21E-4A03-81EF-92FC40C0BF62}" srcOrd="3" destOrd="0" presId="urn:microsoft.com/office/officeart/2005/8/layout/hList1"/>
    <dgm:cxn modelId="{9BF54297-F47C-41BA-B1A9-63768EEF237F}" type="presParOf" srcId="{B3D42484-CE39-4D84-A3CB-510EA0A5E163}" destId="{4D4CEE4C-6E8D-4917-9B4C-3FF29E2FF70A}" srcOrd="4" destOrd="0" presId="urn:microsoft.com/office/officeart/2005/8/layout/hList1"/>
    <dgm:cxn modelId="{5880C303-0482-4401-A621-39127600242C}" type="presParOf" srcId="{4D4CEE4C-6E8D-4917-9B4C-3FF29E2FF70A}" destId="{FF237112-A56B-4A91-B542-CB775DC15824}" srcOrd="0" destOrd="0" presId="urn:microsoft.com/office/officeart/2005/8/layout/hList1"/>
    <dgm:cxn modelId="{E5CD0274-E86B-4EC9-B4F1-E42B5B91767B}" type="presParOf" srcId="{4D4CEE4C-6E8D-4917-9B4C-3FF29E2FF70A}" destId="{9DF2EB9E-5928-4B7E-B321-E7D27254F79E}" srcOrd="1" destOrd="0" presId="urn:microsoft.com/office/officeart/2005/8/layout/hList1"/>
    <dgm:cxn modelId="{95EF2CC1-EE1C-4B0C-8B6D-97A3A5502952}" type="presParOf" srcId="{B3D42484-CE39-4D84-A3CB-510EA0A5E163}" destId="{43960C59-672A-448C-8D48-EE621ACFC000}" srcOrd="5" destOrd="0" presId="urn:microsoft.com/office/officeart/2005/8/layout/hList1"/>
    <dgm:cxn modelId="{67AEF86B-46B3-4D69-89DC-E160803D3AC3}" type="presParOf" srcId="{B3D42484-CE39-4D84-A3CB-510EA0A5E163}" destId="{5FAE6085-0500-4FA2-9F5E-BF346CB2AA05}" srcOrd="6" destOrd="0" presId="urn:microsoft.com/office/officeart/2005/8/layout/hList1"/>
    <dgm:cxn modelId="{8421ADCF-9309-4BC8-9803-B175A4018A53}" type="presParOf" srcId="{5FAE6085-0500-4FA2-9F5E-BF346CB2AA05}" destId="{9F3F7BAB-2CAA-44E0-9B90-A73BFD1CBE11}" srcOrd="0" destOrd="0" presId="urn:microsoft.com/office/officeart/2005/8/layout/hList1"/>
    <dgm:cxn modelId="{1349ECFD-BFA4-43E0-B586-5BF5819E8ADB}" type="presParOf" srcId="{5FAE6085-0500-4FA2-9F5E-BF346CB2AA05}" destId="{93271202-D3C1-421D-ABF4-09E2149F70D7}" srcOrd="1" destOrd="0" presId="urn:microsoft.com/office/officeart/2005/8/layout/hList1"/>
    <dgm:cxn modelId="{31AC2937-008C-4115-81DB-A0CB166362C3}" type="presParOf" srcId="{B3D42484-CE39-4D84-A3CB-510EA0A5E163}" destId="{723899D3-272C-43EF-A6C6-BFDAB8D1C728}" srcOrd="7" destOrd="0" presId="urn:microsoft.com/office/officeart/2005/8/layout/hList1"/>
    <dgm:cxn modelId="{1446FEF1-61A1-4A87-9988-C9FEDF4F876C}" type="presParOf" srcId="{B3D42484-CE39-4D84-A3CB-510EA0A5E163}" destId="{F65A6AC9-1178-49F7-8C6D-468B5399E828}" srcOrd="8" destOrd="0" presId="urn:microsoft.com/office/officeart/2005/8/layout/hList1"/>
    <dgm:cxn modelId="{9A0569A1-64D2-43B4-903F-E2F46B8B7FB7}" type="presParOf" srcId="{F65A6AC9-1178-49F7-8C6D-468B5399E828}" destId="{7E27E292-E2D5-4E18-A1C3-90232BA5B900}" srcOrd="0" destOrd="0" presId="urn:microsoft.com/office/officeart/2005/8/layout/hList1"/>
    <dgm:cxn modelId="{7A73B1EE-BC49-40BE-91FE-F72E271D5B2C}" type="presParOf" srcId="{F65A6AC9-1178-49F7-8C6D-468B5399E828}" destId="{AE698C28-B300-43D3-B12F-58B56528FE7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0ADA-CE4E-41FE-BC26-6E8DA3C5B7F7}">
      <dsp:nvSpPr>
        <dsp:cNvPr id="0" name=""/>
        <dsp:cNvSpPr/>
      </dsp:nvSpPr>
      <dsp:spPr>
        <a:xfrm rot="5400000">
          <a:off x="4280432" y="-1713610"/>
          <a:ext cx="766015" cy="4389120"/>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t>Ie. Fever, SOB, angioedema, difficulty swallowing, tender rash with mucous membrane involvement</a:t>
          </a:r>
          <a:endParaRPr lang="en-US" sz="1600" kern="1200" dirty="0"/>
        </a:p>
      </dsp:txBody>
      <dsp:txXfrm rot="-5400000">
        <a:off x="2468880" y="135336"/>
        <a:ext cx="4351726" cy="691227"/>
      </dsp:txXfrm>
    </dsp:sp>
    <dsp:sp modelId="{E9A6BF22-A2EB-4B0E-8DCE-D611E5D2E651}">
      <dsp:nvSpPr>
        <dsp:cNvPr id="0" name=""/>
        <dsp:cNvSpPr/>
      </dsp:nvSpPr>
      <dsp:spPr>
        <a:xfrm>
          <a:off x="0" y="2190"/>
          <a:ext cx="2468880" cy="957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CA" sz="2000" kern="1200" dirty="0"/>
            <a:t>Red flags?</a:t>
          </a:r>
          <a:endParaRPr lang="en-US" sz="2000" kern="1200" dirty="0"/>
        </a:p>
      </dsp:txBody>
      <dsp:txXfrm>
        <a:off x="46742" y="48932"/>
        <a:ext cx="2375396" cy="864035"/>
      </dsp:txXfrm>
    </dsp:sp>
    <dsp:sp modelId="{02E56BEA-36D9-4ED9-9EC7-E1C67E2E28F8}">
      <dsp:nvSpPr>
        <dsp:cNvPr id="0" name=""/>
        <dsp:cNvSpPr/>
      </dsp:nvSpPr>
      <dsp:spPr>
        <a:xfrm rot="5400000">
          <a:off x="4280432" y="-708215"/>
          <a:ext cx="766015" cy="4389120"/>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CA" sz="1600" kern="1200"/>
            <a:t>Fever, joint pain, malaise, weakness, edema</a:t>
          </a:r>
          <a:endParaRPr lang="en-US" sz="1600" kern="1200"/>
        </a:p>
      </dsp:txBody>
      <dsp:txXfrm rot="-5400000">
        <a:off x="2468880" y="1140731"/>
        <a:ext cx="4351726" cy="691227"/>
      </dsp:txXfrm>
    </dsp:sp>
    <dsp:sp modelId="{9C0D6776-339F-4C10-A191-218924598122}">
      <dsp:nvSpPr>
        <dsp:cNvPr id="0" name=""/>
        <dsp:cNvSpPr/>
      </dsp:nvSpPr>
      <dsp:spPr>
        <a:xfrm>
          <a:off x="0" y="1007585"/>
          <a:ext cx="2468880" cy="957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CA" sz="2000" kern="1200"/>
            <a:t>Systemic signs?</a:t>
          </a:r>
          <a:endParaRPr lang="en-US" sz="2000" kern="1200"/>
        </a:p>
      </dsp:txBody>
      <dsp:txXfrm>
        <a:off x="46742" y="1054327"/>
        <a:ext cx="2375396" cy="864035"/>
      </dsp:txXfrm>
    </dsp:sp>
    <dsp:sp modelId="{68DD454A-86EF-4F9C-95F3-063101C02297}">
      <dsp:nvSpPr>
        <dsp:cNvPr id="0" name=""/>
        <dsp:cNvSpPr/>
      </dsp:nvSpPr>
      <dsp:spPr>
        <a:xfrm rot="5400000">
          <a:off x="4280432" y="297179"/>
          <a:ext cx="766015" cy="4389120"/>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t>Skin disorders, autoimmune disease, cancer </a:t>
          </a:r>
          <a:endParaRPr lang="en-US" sz="1600" kern="1200" dirty="0"/>
        </a:p>
      </dsp:txBody>
      <dsp:txXfrm rot="-5400000">
        <a:off x="2468880" y="2146125"/>
        <a:ext cx="4351726" cy="691227"/>
      </dsp:txXfrm>
    </dsp:sp>
    <dsp:sp modelId="{83451237-F8C4-4A21-9FDD-1E0B424FA125}">
      <dsp:nvSpPr>
        <dsp:cNvPr id="0" name=""/>
        <dsp:cNvSpPr/>
      </dsp:nvSpPr>
      <dsp:spPr>
        <a:xfrm>
          <a:off x="0" y="2012980"/>
          <a:ext cx="2468880" cy="957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CA" sz="2000" kern="1200"/>
            <a:t>Personal and family history?</a:t>
          </a:r>
          <a:endParaRPr lang="en-US" sz="2000" kern="1200"/>
        </a:p>
      </dsp:txBody>
      <dsp:txXfrm>
        <a:off x="46742" y="2059722"/>
        <a:ext cx="2375396" cy="864035"/>
      </dsp:txXfrm>
    </dsp:sp>
    <dsp:sp modelId="{3A33ABD7-FEE7-47CA-B8C8-A1799D8D4C26}">
      <dsp:nvSpPr>
        <dsp:cNvPr id="0" name=""/>
        <dsp:cNvSpPr/>
      </dsp:nvSpPr>
      <dsp:spPr>
        <a:xfrm rot="5400000">
          <a:off x="4280432" y="1302575"/>
          <a:ext cx="766015" cy="4389120"/>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t>Fever, night sweats, chills, fatigue, unexplained weight loss</a:t>
          </a:r>
          <a:endParaRPr lang="en-US" sz="1600" kern="1200" dirty="0"/>
        </a:p>
      </dsp:txBody>
      <dsp:txXfrm rot="-5400000">
        <a:off x="2468880" y="3151521"/>
        <a:ext cx="4351726" cy="691227"/>
      </dsp:txXfrm>
    </dsp:sp>
    <dsp:sp modelId="{8AA161A1-3481-472F-92B1-55675E9D30FB}">
      <dsp:nvSpPr>
        <dsp:cNvPr id="0" name=""/>
        <dsp:cNvSpPr/>
      </dsp:nvSpPr>
      <dsp:spPr>
        <a:xfrm>
          <a:off x="0" y="3018375"/>
          <a:ext cx="2468880" cy="957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CA" sz="2000" kern="1200"/>
            <a:t>Constitutional signs? </a:t>
          </a:r>
          <a:endParaRPr lang="en-US" sz="2000" kern="1200"/>
        </a:p>
      </dsp:txBody>
      <dsp:txXfrm>
        <a:off x="46742" y="3065117"/>
        <a:ext cx="2375396" cy="864035"/>
      </dsp:txXfrm>
    </dsp:sp>
    <dsp:sp modelId="{FCCD6323-8D02-419C-A1E1-279FEDD0B1E8}">
      <dsp:nvSpPr>
        <dsp:cNvPr id="0" name=""/>
        <dsp:cNvSpPr/>
      </dsp:nvSpPr>
      <dsp:spPr>
        <a:xfrm rot="5400000">
          <a:off x="4280432" y="2307970"/>
          <a:ext cx="766015" cy="4389120"/>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CA" sz="1600" kern="1200"/>
            <a:t>May include MSK, CV, Resp, GI, renal, neuro, etc. </a:t>
          </a:r>
          <a:endParaRPr lang="en-US" sz="1600" kern="1200"/>
        </a:p>
      </dsp:txBody>
      <dsp:txXfrm rot="-5400000">
        <a:off x="2468880" y="4156916"/>
        <a:ext cx="4351726" cy="691227"/>
      </dsp:txXfrm>
    </dsp:sp>
    <dsp:sp modelId="{5AFF8747-E2AE-40D3-8113-BC1CE7FC8EDA}">
      <dsp:nvSpPr>
        <dsp:cNvPr id="0" name=""/>
        <dsp:cNvSpPr/>
      </dsp:nvSpPr>
      <dsp:spPr>
        <a:xfrm>
          <a:off x="0" y="4023770"/>
          <a:ext cx="2468880" cy="957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CA" sz="2000" kern="1200"/>
            <a:t>Review of Systems (depending on OPQRST)</a:t>
          </a:r>
          <a:endParaRPr lang="en-US" sz="2000" kern="1200"/>
        </a:p>
      </dsp:txBody>
      <dsp:txXfrm>
        <a:off x="46742" y="4070512"/>
        <a:ext cx="2375396" cy="864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D491F-4F5D-4344-A092-39775E47A656}">
      <dsp:nvSpPr>
        <dsp:cNvPr id="0" name=""/>
        <dsp:cNvSpPr/>
      </dsp:nvSpPr>
      <dsp:spPr>
        <a:xfrm>
          <a:off x="0" y="40364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DBBAE3-62AF-4A2A-B155-A1564AE62D38}">
      <dsp:nvSpPr>
        <dsp:cNvPr id="0" name=""/>
        <dsp:cNvSpPr/>
      </dsp:nvSpPr>
      <dsp:spPr>
        <a:xfrm>
          <a:off x="349304" y="13796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Primary Lesions</a:t>
          </a:r>
        </a:p>
      </dsp:txBody>
      <dsp:txXfrm>
        <a:off x="375243" y="163903"/>
        <a:ext cx="4838390" cy="479482"/>
      </dsp:txXfrm>
    </dsp:sp>
    <dsp:sp modelId="{FB6CF298-4F4E-493B-8680-9AF81514949F}">
      <dsp:nvSpPr>
        <dsp:cNvPr id="0" name=""/>
        <dsp:cNvSpPr/>
      </dsp:nvSpPr>
      <dsp:spPr>
        <a:xfrm>
          <a:off x="0" y="122012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3CED20-B1BC-4B66-9692-224F58CC9A09}">
      <dsp:nvSpPr>
        <dsp:cNvPr id="0" name=""/>
        <dsp:cNvSpPr/>
      </dsp:nvSpPr>
      <dsp:spPr>
        <a:xfrm>
          <a:off x="349304" y="95444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Secondary Lesions</a:t>
          </a:r>
        </a:p>
      </dsp:txBody>
      <dsp:txXfrm>
        <a:off x="375243" y="980383"/>
        <a:ext cx="4838390" cy="479482"/>
      </dsp:txXfrm>
    </dsp:sp>
    <dsp:sp modelId="{15D71910-6D08-4BA7-A518-DF401A457826}">
      <dsp:nvSpPr>
        <dsp:cNvPr id="0" name=""/>
        <dsp:cNvSpPr/>
      </dsp:nvSpPr>
      <dsp:spPr>
        <a:xfrm>
          <a:off x="0" y="203660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D268F1-2E19-40DB-8157-6F6CD897C928}">
      <dsp:nvSpPr>
        <dsp:cNvPr id="0" name=""/>
        <dsp:cNvSpPr/>
      </dsp:nvSpPr>
      <dsp:spPr>
        <a:xfrm>
          <a:off x="349304" y="177092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Distribution of Lesions</a:t>
          </a:r>
        </a:p>
      </dsp:txBody>
      <dsp:txXfrm>
        <a:off x="375243" y="1796863"/>
        <a:ext cx="4838390" cy="479482"/>
      </dsp:txXfrm>
    </dsp:sp>
    <dsp:sp modelId="{8D9EA325-A0A8-4675-8B49-C95BCD438D4A}">
      <dsp:nvSpPr>
        <dsp:cNvPr id="0" name=""/>
        <dsp:cNvSpPr/>
      </dsp:nvSpPr>
      <dsp:spPr>
        <a:xfrm>
          <a:off x="0" y="285308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97F4EE-4A23-4E3D-BB29-9F54A759C050}">
      <dsp:nvSpPr>
        <dsp:cNvPr id="0" name=""/>
        <dsp:cNvSpPr/>
      </dsp:nvSpPr>
      <dsp:spPr>
        <a:xfrm>
          <a:off x="349304" y="258740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Shape and Arrangement</a:t>
          </a:r>
        </a:p>
      </dsp:txBody>
      <dsp:txXfrm>
        <a:off x="375243" y="2613343"/>
        <a:ext cx="4838390" cy="479482"/>
      </dsp:txXfrm>
    </dsp:sp>
    <dsp:sp modelId="{D6F07C85-4681-49FD-9828-E92EAEE39073}">
      <dsp:nvSpPr>
        <dsp:cNvPr id="0" name=""/>
        <dsp:cNvSpPr/>
      </dsp:nvSpPr>
      <dsp:spPr>
        <a:xfrm>
          <a:off x="0" y="366956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555371-9902-4F83-B497-AD3EC39B49BA}">
      <dsp:nvSpPr>
        <dsp:cNvPr id="0" name=""/>
        <dsp:cNvSpPr/>
      </dsp:nvSpPr>
      <dsp:spPr>
        <a:xfrm>
          <a:off x="349304" y="340388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Border or Margin</a:t>
          </a:r>
        </a:p>
      </dsp:txBody>
      <dsp:txXfrm>
        <a:off x="375243" y="3429823"/>
        <a:ext cx="4838390" cy="479482"/>
      </dsp:txXfrm>
    </dsp:sp>
    <dsp:sp modelId="{96BB7012-8BDC-421B-8B56-E4A8E4042661}">
      <dsp:nvSpPr>
        <dsp:cNvPr id="0" name=""/>
        <dsp:cNvSpPr/>
      </dsp:nvSpPr>
      <dsp:spPr>
        <a:xfrm>
          <a:off x="0" y="448604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5C6079-9650-4904-9074-AD6330ADE0E8}">
      <dsp:nvSpPr>
        <dsp:cNvPr id="0" name=""/>
        <dsp:cNvSpPr/>
      </dsp:nvSpPr>
      <dsp:spPr>
        <a:xfrm>
          <a:off x="349304" y="422036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Associated Changes within Lesion</a:t>
          </a:r>
        </a:p>
      </dsp:txBody>
      <dsp:txXfrm>
        <a:off x="375243" y="4246303"/>
        <a:ext cx="4838390" cy="479482"/>
      </dsp:txXfrm>
    </dsp:sp>
    <dsp:sp modelId="{A84533B6-E822-47DD-AF7C-6477CF74E7B8}">
      <dsp:nvSpPr>
        <dsp:cNvPr id="0" name=""/>
        <dsp:cNvSpPr/>
      </dsp:nvSpPr>
      <dsp:spPr>
        <a:xfrm>
          <a:off x="0" y="5302524"/>
          <a:ext cx="6986098"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FA1DCA-0D7D-4CEE-B7BD-699204CB2A99}">
      <dsp:nvSpPr>
        <dsp:cNvPr id="0" name=""/>
        <dsp:cNvSpPr/>
      </dsp:nvSpPr>
      <dsp:spPr>
        <a:xfrm>
          <a:off x="349304" y="5036844"/>
          <a:ext cx="4890268"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841" tIns="0" rIns="184841" bIns="0" numCol="1" spcCol="1270" anchor="ctr" anchorCtr="0">
          <a:noAutofit/>
        </a:bodyPr>
        <a:lstStyle/>
        <a:p>
          <a:pPr marL="0" lvl="0" indent="0" algn="l" defTabSz="889000">
            <a:lnSpc>
              <a:spcPct val="90000"/>
            </a:lnSpc>
            <a:spcBef>
              <a:spcPct val="0"/>
            </a:spcBef>
            <a:spcAft>
              <a:spcPct val="35000"/>
            </a:spcAft>
            <a:buNone/>
          </a:pPr>
          <a:r>
            <a:rPr lang="en-US" sz="2000" kern="1200" dirty="0"/>
            <a:t>Pigmentation</a:t>
          </a:r>
        </a:p>
      </dsp:txBody>
      <dsp:txXfrm>
        <a:off x="375243" y="5062783"/>
        <a:ext cx="4838390" cy="4794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7E23EF-3ED9-41A5-86DC-EBFADF9B7C22}">
      <dsp:nvSpPr>
        <dsp:cNvPr id="0" name=""/>
        <dsp:cNvSpPr/>
      </dsp:nvSpPr>
      <dsp:spPr>
        <a:xfrm>
          <a:off x="5378" y="333351"/>
          <a:ext cx="2061843" cy="82473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kern="1200" dirty="0"/>
            <a:t>Acute </a:t>
          </a:r>
        </a:p>
        <a:p>
          <a:pPr marL="0" lvl="0" indent="0" algn="ctr" defTabSz="889000">
            <a:lnSpc>
              <a:spcPct val="90000"/>
            </a:lnSpc>
            <a:spcBef>
              <a:spcPct val="0"/>
            </a:spcBef>
            <a:spcAft>
              <a:spcPct val="35000"/>
            </a:spcAft>
            <a:buNone/>
          </a:pPr>
          <a:r>
            <a:rPr lang="en-CA" sz="2000" kern="1200" dirty="0"/>
            <a:t>Cutaneous lupus</a:t>
          </a:r>
          <a:endParaRPr lang="en-US" sz="2000" kern="1200" dirty="0"/>
        </a:p>
      </dsp:txBody>
      <dsp:txXfrm>
        <a:off x="5378" y="333351"/>
        <a:ext cx="2061843" cy="824737"/>
      </dsp:txXfrm>
    </dsp:sp>
    <dsp:sp modelId="{E8592599-676A-48AC-B4B8-F52FF0F8344F}">
      <dsp:nvSpPr>
        <dsp:cNvPr id="0" name=""/>
        <dsp:cNvSpPr/>
      </dsp:nvSpPr>
      <dsp:spPr>
        <a:xfrm>
          <a:off x="5378" y="1158089"/>
          <a:ext cx="2061843" cy="3596378"/>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0" lvl="1" indent="-228600" algn="ctr" defTabSz="1066800">
            <a:lnSpc>
              <a:spcPct val="90000"/>
            </a:lnSpc>
            <a:spcBef>
              <a:spcPct val="0"/>
            </a:spcBef>
            <a:spcAft>
              <a:spcPct val="15000"/>
            </a:spcAft>
            <a:buNone/>
          </a:pPr>
          <a:r>
            <a:rPr lang="en-CA" sz="2400" kern="1200" dirty="0"/>
            <a:t>Malar “butterfly” rash</a:t>
          </a:r>
          <a:endParaRPr lang="en-US" sz="2400" kern="1200" dirty="0"/>
        </a:p>
      </dsp:txBody>
      <dsp:txXfrm>
        <a:off x="5378" y="1158089"/>
        <a:ext cx="2061843" cy="3596378"/>
      </dsp:txXfrm>
    </dsp:sp>
    <dsp:sp modelId="{434DE5A1-7A0A-47C9-BCEE-63EA6F809132}">
      <dsp:nvSpPr>
        <dsp:cNvPr id="0" name=""/>
        <dsp:cNvSpPr/>
      </dsp:nvSpPr>
      <dsp:spPr>
        <a:xfrm>
          <a:off x="2355879" y="333351"/>
          <a:ext cx="2061843" cy="824737"/>
        </a:xfrm>
        <a:prstGeom prst="rect">
          <a:avLst/>
        </a:prstGeom>
        <a:gradFill rotWithShape="0">
          <a:gsLst>
            <a:gs pos="0">
              <a:schemeClr val="accent2">
                <a:hueOff val="-449977"/>
                <a:satOff val="-2085"/>
                <a:lumOff val="-1863"/>
                <a:alphaOff val="0"/>
                <a:satMod val="103000"/>
                <a:lumMod val="102000"/>
                <a:tint val="94000"/>
              </a:schemeClr>
            </a:gs>
            <a:gs pos="50000">
              <a:schemeClr val="accent2">
                <a:hueOff val="-449977"/>
                <a:satOff val="-2085"/>
                <a:lumOff val="-1863"/>
                <a:alphaOff val="0"/>
                <a:satMod val="110000"/>
                <a:lumMod val="100000"/>
                <a:shade val="100000"/>
              </a:schemeClr>
            </a:gs>
            <a:gs pos="100000">
              <a:schemeClr val="accent2">
                <a:hueOff val="-449977"/>
                <a:satOff val="-2085"/>
                <a:lumOff val="-1863"/>
                <a:alphaOff val="0"/>
                <a:lumMod val="99000"/>
                <a:satMod val="120000"/>
                <a:shade val="78000"/>
              </a:schemeClr>
            </a:gs>
          </a:gsLst>
          <a:lin ang="5400000" scaled="0"/>
        </a:gradFill>
        <a:ln w="6350" cap="flat" cmpd="sng" algn="ctr">
          <a:solidFill>
            <a:schemeClr val="accent2">
              <a:hueOff val="-449977"/>
              <a:satOff val="-2085"/>
              <a:lumOff val="-186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kern="1200" dirty="0"/>
            <a:t>Discoid lupus</a:t>
          </a:r>
          <a:endParaRPr lang="en-US" sz="2000" kern="1200" dirty="0"/>
        </a:p>
      </dsp:txBody>
      <dsp:txXfrm>
        <a:off x="2355879" y="333351"/>
        <a:ext cx="2061843" cy="824737"/>
      </dsp:txXfrm>
    </dsp:sp>
    <dsp:sp modelId="{1FC5CAA1-3219-4F36-BA7D-26B918352C02}">
      <dsp:nvSpPr>
        <dsp:cNvPr id="0" name=""/>
        <dsp:cNvSpPr/>
      </dsp:nvSpPr>
      <dsp:spPr>
        <a:xfrm>
          <a:off x="2355879" y="1158089"/>
          <a:ext cx="2061843" cy="3596378"/>
        </a:xfrm>
        <a:prstGeom prst="rect">
          <a:avLst/>
        </a:prstGeom>
        <a:solidFill>
          <a:schemeClr val="accent2">
            <a:tint val="40000"/>
            <a:alpha val="90000"/>
            <a:hueOff val="-459080"/>
            <a:satOff val="-1845"/>
            <a:lumOff val="-441"/>
            <a:alphaOff val="0"/>
          </a:schemeClr>
        </a:solidFill>
        <a:ln w="6350" cap="flat" cmpd="sng" algn="ctr">
          <a:solidFill>
            <a:schemeClr val="accent2">
              <a:tint val="40000"/>
              <a:alpha val="90000"/>
              <a:hueOff val="-459080"/>
              <a:satOff val="-1845"/>
              <a:lumOff val="-44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0" lvl="1" indent="-228600" algn="ctr" defTabSz="1066800">
            <a:lnSpc>
              <a:spcPct val="90000"/>
            </a:lnSpc>
            <a:spcBef>
              <a:spcPct val="0"/>
            </a:spcBef>
            <a:spcAft>
              <a:spcPct val="15000"/>
            </a:spcAft>
            <a:buNone/>
          </a:pPr>
          <a:r>
            <a:rPr lang="en-CA" sz="2400" kern="1200" dirty="0"/>
            <a:t>Round, crusted, erythematous plaques, scarring and hypopigmentation, hair loss </a:t>
          </a:r>
          <a:endParaRPr lang="en-US" sz="2400" kern="1200" dirty="0"/>
        </a:p>
      </dsp:txBody>
      <dsp:txXfrm>
        <a:off x="2355879" y="1158089"/>
        <a:ext cx="2061843" cy="3596378"/>
      </dsp:txXfrm>
    </dsp:sp>
    <dsp:sp modelId="{FF237112-A56B-4A91-B542-CB775DC15824}">
      <dsp:nvSpPr>
        <dsp:cNvPr id="0" name=""/>
        <dsp:cNvSpPr/>
      </dsp:nvSpPr>
      <dsp:spPr>
        <a:xfrm>
          <a:off x="4706380" y="333351"/>
          <a:ext cx="2061843" cy="824737"/>
        </a:xfrm>
        <a:prstGeom prst="rect">
          <a:avLst/>
        </a:prstGeom>
        <a:gradFill rotWithShape="0">
          <a:gsLst>
            <a:gs pos="0">
              <a:schemeClr val="accent2">
                <a:hueOff val="-899955"/>
                <a:satOff val="-4170"/>
                <a:lumOff val="-3726"/>
                <a:alphaOff val="0"/>
                <a:satMod val="103000"/>
                <a:lumMod val="102000"/>
                <a:tint val="94000"/>
              </a:schemeClr>
            </a:gs>
            <a:gs pos="50000">
              <a:schemeClr val="accent2">
                <a:hueOff val="-899955"/>
                <a:satOff val="-4170"/>
                <a:lumOff val="-3726"/>
                <a:alphaOff val="0"/>
                <a:satMod val="110000"/>
                <a:lumMod val="100000"/>
                <a:shade val="100000"/>
              </a:schemeClr>
            </a:gs>
            <a:gs pos="100000">
              <a:schemeClr val="accent2">
                <a:hueOff val="-899955"/>
                <a:satOff val="-4170"/>
                <a:lumOff val="-3726"/>
                <a:alphaOff val="0"/>
                <a:lumMod val="99000"/>
                <a:satMod val="120000"/>
                <a:shade val="78000"/>
              </a:schemeClr>
            </a:gs>
          </a:gsLst>
          <a:lin ang="5400000" scaled="0"/>
        </a:gradFill>
        <a:ln w="6350" cap="flat" cmpd="sng" algn="ctr">
          <a:solidFill>
            <a:schemeClr val="accent2">
              <a:hueOff val="-899955"/>
              <a:satOff val="-4170"/>
              <a:lumOff val="-372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kern="1200"/>
            <a:t>Diabetes</a:t>
          </a:r>
          <a:endParaRPr lang="en-US" sz="2000" kern="1200"/>
        </a:p>
      </dsp:txBody>
      <dsp:txXfrm>
        <a:off x="4706380" y="333351"/>
        <a:ext cx="2061843" cy="824737"/>
      </dsp:txXfrm>
    </dsp:sp>
    <dsp:sp modelId="{9DF2EB9E-5928-4B7E-B321-E7D27254F79E}">
      <dsp:nvSpPr>
        <dsp:cNvPr id="0" name=""/>
        <dsp:cNvSpPr/>
      </dsp:nvSpPr>
      <dsp:spPr>
        <a:xfrm>
          <a:off x="4706380" y="1158089"/>
          <a:ext cx="2061843" cy="3596378"/>
        </a:xfrm>
        <a:prstGeom prst="rect">
          <a:avLst/>
        </a:prstGeom>
        <a:solidFill>
          <a:schemeClr val="accent2">
            <a:tint val="40000"/>
            <a:alpha val="90000"/>
            <a:hueOff val="-918161"/>
            <a:satOff val="-3690"/>
            <a:lumOff val="-882"/>
            <a:alphaOff val="0"/>
          </a:schemeClr>
        </a:solidFill>
        <a:ln w="6350" cap="flat" cmpd="sng" algn="ctr">
          <a:solidFill>
            <a:schemeClr val="accent2">
              <a:tint val="40000"/>
              <a:alpha val="90000"/>
              <a:hueOff val="-918161"/>
              <a:satOff val="-3690"/>
              <a:lumOff val="-88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0" lvl="1" indent="-228600" algn="ctr" defTabSz="889000">
            <a:lnSpc>
              <a:spcPct val="90000"/>
            </a:lnSpc>
            <a:spcBef>
              <a:spcPct val="0"/>
            </a:spcBef>
            <a:spcAft>
              <a:spcPct val="15000"/>
            </a:spcAft>
            <a:buNone/>
          </a:pPr>
          <a:r>
            <a:rPr lang="en-CA" sz="2000" kern="1200" dirty="0"/>
            <a:t>Acanthosis nigricans, infections, dermopathy, poor wound healing</a:t>
          </a:r>
          <a:endParaRPr lang="en-US" sz="2000" kern="1200" dirty="0"/>
        </a:p>
      </dsp:txBody>
      <dsp:txXfrm>
        <a:off x="4706380" y="1158089"/>
        <a:ext cx="2061843" cy="3596378"/>
      </dsp:txXfrm>
    </dsp:sp>
    <dsp:sp modelId="{9F3F7BAB-2CAA-44E0-9B90-A73BFD1CBE11}">
      <dsp:nvSpPr>
        <dsp:cNvPr id="0" name=""/>
        <dsp:cNvSpPr/>
      </dsp:nvSpPr>
      <dsp:spPr>
        <a:xfrm>
          <a:off x="7056882" y="333351"/>
          <a:ext cx="2061843" cy="824737"/>
        </a:xfrm>
        <a:prstGeom prst="rect">
          <a:avLst/>
        </a:prstGeom>
        <a:gradFill rotWithShape="0">
          <a:gsLst>
            <a:gs pos="0">
              <a:schemeClr val="accent2">
                <a:hueOff val="-1349932"/>
                <a:satOff val="-6256"/>
                <a:lumOff val="-5589"/>
                <a:alphaOff val="0"/>
                <a:satMod val="103000"/>
                <a:lumMod val="102000"/>
                <a:tint val="94000"/>
              </a:schemeClr>
            </a:gs>
            <a:gs pos="50000">
              <a:schemeClr val="accent2">
                <a:hueOff val="-1349932"/>
                <a:satOff val="-6256"/>
                <a:lumOff val="-5589"/>
                <a:alphaOff val="0"/>
                <a:satMod val="110000"/>
                <a:lumMod val="100000"/>
                <a:shade val="100000"/>
              </a:schemeClr>
            </a:gs>
            <a:gs pos="100000">
              <a:schemeClr val="accent2">
                <a:hueOff val="-1349932"/>
                <a:satOff val="-6256"/>
                <a:lumOff val="-5589"/>
                <a:alphaOff val="0"/>
                <a:lumMod val="99000"/>
                <a:satMod val="120000"/>
                <a:shade val="78000"/>
              </a:schemeClr>
            </a:gs>
          </a:gsLst>
          <a:lin ang="5400000" scaled="0"/>
        </a:gradFill>
        <a:ln w="6350" cap="flat" cmpd="sng" algn="ctr">
          <a:solidFill>
            <a:schemeClr val="accent2">
              <a:hueOff val="-1349932"/>
              <a:satOff val="-6256"/>
              <a:lumOff val="-558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kern="1200"/>
            <a:t>Paget’s Disease:</a:t>
          </a:r>
          <a:endParaRPr lang="en-US" sz="2000" kern="1200"/>
        </a:p>
      </dsp:txBody>
      <dsp:txXfrm>
        <a:off x="7056882" y="333351"/>
        <a:ext cx="2061843" cy="824737"/>
      </dsp:txXfrm>
    </dsp:sp>
    <dsp:sp modelId="{93271202-D3C1-421D-ABF4-09E2149F70D7}">
      <dsp:nvSpPr>
        <dsp:cNvPr id="0" name=""/>
        <dsp:cNvSpPr/>
      </dsp:nvSpPr>
      <dsp:spPr>
        <a:xfrm>
          <a:off x="7056882" y="1158089"/>
          <a:ext cx="2061843" cy="3596378"/>
        </a:xfrm>
        <a:prstGeom prst="rect">
          <a:avLst/>
        </a:prstGeom>
        <a:solidFill>
          <a:schemeClr val="accent2">
            <a:tint val="40000"/>
            <a:alpha val="90000"/>
            <a:hueOff val="-1377241"/>
            <a:satOff val="-5536"/>
            <a:lumOff val="-1322"/>
            <a:alphaOff val="0"/>
          </a:schemeClr>
        </a:solidFill>
        <a:ln w="6350" cap="flat" cmpd="sng" algn="ctr">
          <a:solidFill>
            <a:schemeClr val="accent2">
              <a:tint val="40000"/>
              <a:alpha val="90000"/>
              <a:hueOff val="-1377241"/>
              <a:satOff val="-5536"/>
              <a:lumOff val="-132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0" lvl="1" indent="-228600" algn="ctr" defTabSz="889000">
            <a:lnSpc>
              <a:spcPct val="90000"/>
            </a:lnSpc>
            <a:spcBef>
              <a:spcPct val="0"/>
            </a:spcBef>
            <a:spcAft>
              <a:spcPct val="15000"/>
            </a:spcAft>
            <a:buNone/>
          </a:pPr>
          <a:r>
            <a:rPr lang="en-CA" sz="2000" kern="1200" dirty="0"/>
            <a:t>Persistent, non healing erythematous, scaly, eczematous plaques not responding to topical treatment </a:t>
          </a:r>
          <a:endParaRPr lang="en-US" sz="2000" kern="1200" dirty="0"/>
        </a:p>
      </dsp:txBody>
      <dsp:txXfrm>
        <a:off x="7056882" y="1158089"/>
        <a:ext cx="2061843" cy="3596378"/>
      </dsp:txXfrm>
    </dsp:sp>
    <dsp:sp modelId="{7E27E292-E2D5-4E18-A1C3-90232BA5B900}">
      <dsp:nvSpPr>
        <dsp:cNvPr id="0" name=""/>
        <dsp:cNvSpPr/>
      </dsp:nvSpPr>
      <dsp:spPr>
        <a:xfrm>
          <a:off x="9407383" y="333351"/>
          <a:ext cx="2061843" cy="824737"/>
        </a:xfrm>
        <a:prstGeom prst="rect">
          <a:avLst/>
        </a:prstGeom>
        <a:gradFill rotWithShape="0">
          <a:gsLst>
            <a:gs pos="0">
              <a:schemeClr val="accent2">
                <a:hueOff val="-1799910"/>
                <a:satOff val="-8341"/>
                <a:lumOff val="-7452"/>
                <a:alphaOff val="0"/>
                <a:satMod val="103000"/>
                <a:lumMod val="102000"/>
                <a:tint val="94000"/>
              </a:schemeClr>
            </a:gs>
            <a:gs pos="50000">
              <a:schemeClr val="accent2">
                <a:hueOff val="-1799910"/>
                <a:satOff val="-8341"/>
                <a:lumOff val="-7452"/>
                <a:alphaOff val="0"/>
                <a:satMod val="110000"/>
                <a:lumMod val="100000"/>
                <a:shade val="100000"/>
              </a:schemeClr>
            </a:gs>
            <a:gs pos="100000">
              <a:schemeClr val="accent2">
                <a:hueOff val="-1799910"/>
                <a:satOff val="-8341"/>
                <a:lumOff val="-7452"/>
                <a:alphaOff val="0"/>
                <a:lumMod val="99000"/>
                <a:satMod val="120000"/>
                <a:shade val="78000"/>
              </a:schemeClr>
            </a:gs>
          </a:gsLst>
          <a:lin ang="5400000" scaled="0"/>
        </a:gradFill>
        <a:ln w="6350" cap="flat" cmpd="sng" algn="ctr">
          <a:solidFill>
            <a:schemeClr val="accent2">
              <a:hueOff val="-1799910"/>
              <a:satOff val="-8341"/>
              <a:lumOff val="-745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kern="1200"/>
            <a:t>Scleroderma: </a:t>
          </a:r>
          <a:endParaRPr lang="en-US" sz="2000" kern="1200"/>
        </a:p>
      </dsp:txBody>
      <dsp:txXfrm>
        <a:off x="9407383" y="333351"/>
        <a:ext cx="2061843" cy="824737"/>
      </dsp:txXfrm>
    </dsp:sp>
    <dsp:sp modelId="{AE698C28-B300-43D3-B12F-58B56528FE7B}">
      <dsp:nvSpPr>
        <dsp:cNvPr id="0" name=""/>
        <dsp:cNvSpPr/>
      </dsp:nvSpPr>
      <dsp:spPr>
        <a:xfrm>
          <a:off x="9407383" y="1158089"/>
          <a:ext cx="2061843" cy="3596378"/>
        </a:xfrm>
        <a:prstGeom prst="rect">
          <a:avLst/>
        </a:prstGeom>
        <a:solidFill>
          <a:schemeClr val="accent2">
            <a:tint val="40000"/>
            <a:alpha val="90000"/>
            <a:hueOff val="-1836321"/>
            <a:satOff val="-7381"/>
            <a:lumOff val="-1763"/>
            <a:alphaOff val="0"/>
          </a:schemeClr>
        </a:solidFill>
        <a:ln w="6350" cap="flat" cmpd="sng" algn="ctr">
          <a:solidFill>
            <a:schemeClr val="accent2">
              <a:tint val="40000"/>
              <a:alpha val="90000"/>
              <a:hueOff val="-1836321"/>
              <a:satOff val="-7381"/>
              <a:lumOff val="-1763"/>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ctr" defTabSz="889000">
            <a:lnSpc>
              <a:spcPct val="90000"/>
            </a:lnSpc>
            <a:spcBef>
              <a:spcPct val="0"/>
            </a:spcBef>
            <a:spcAft>
              <a:spcPct val="15000"/>
            </a:spcAft>
            <a:buFontTx/>
            <a:buNone/>
          </a:pPr>
          <a:r>
            <a:rPr lang="en-CA" sz="2000" kern="1200" dirty="0"/>
            <a:t>Skin thickening and induration (begins in fingers/hands), Raynaud’s, digital ulcers and pitting scars, mask-like facies, telangiectasias, hyper- or hypo-pigmentation</a:t>
          </a:r>
          <a:endParaRPr lang="en-US" sz="2000" kern="1200" dirty="0"/>
        </a:p>
      </dsp:txBody>
      <dsp:txXfrm>
        <a:off x="9407383" y="1158089"/>
        <a:ext cx="2061843" cy="359637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4">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2AA7C-4799-46F6-8745-9A0AEB5DD2CB}" type="datetimeFigureOut">
              <a:rPr lang="en-CA" smtClean="0"/>
              <a:t>2026-09-27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16730-EC61-4F74-B958-89A6B44126CC}" type="slidenum">
              <a:rPr lang="en-CA" smtClean="0"/>
              <a:t>‹#›</a:t>
            </a:fld>
            <a:endParaRPr lang="en-CA"/>
          </a:p>
        </p:txBody>
      </p:sp>
    </p:spTree>
    <p:extLst>
      <p:ext uri="{BB962C8B-B14F-4D97-AF65-F5344CB8AC3E}">
        <p14:creationId xmlns:p14="http://schemas.microsoft.com/office/powerpoint/2010/main" val="2584445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10-20% of all in person visits to primary care practitioners are skin/dermatology related. </a:t>
            </a:r>
          </a:p>
          <a:p>
            <a:r>
              <a:rPr lang="en-CA" dirty="0"/>
              <a:t>Knowing what is normal is key. Things grow on our skin as we age. You need to know when to reassure and when to refer. </a:t>
            </a:r>
          </a:p>
        </p:txBody>
      </p:sp>
      <p:sp>
        <p:nvSpPr>
          <p:cNvPr id="4" name="Slide Number Placeholder 3"/>
          <p:cNvSpPr>
            <a:spLocks noGrp="1"/>
          </p:cNvSpPr>
          <p:nvPr>
            <p:ph type="sldNum" sz="quarter" idx="5"/>
          </p:nvPr>
        </p:nvSpPr>
        <p:spPr/>
        <p:txBody>
          <a:bodyPr/>
          <a:lstStyle/>
          <a:p>
            <a:fld id="{2BD16730-EC61-4F74-B958-89A6B44126CC}" type="slidenum">
              <a:rPr lang="en-CA" smtClean="0"/>
              <a:t>1</a:t>
            </a:fld>
            <a:endParaRPr lang="en-CA"/>
          </a:p>
        </p:txBody>
      </p:sp>
    </p:spTree>
    <p:extLst>
      <p:ext uri="{BB962C8B-B14F-4D97-AF65-F5344CB8AC3E}">
        <p14:creationId xmlns:p14="http://schemas.microsoft.com/office/powerpoint/2010/main" val="2034186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6</a:t>
            </a:fld>
            <a:endParaRPr lang="en-CA"/>
          </a:p>
        </p:txBody>
      </p:sp>
    </p:spTree>
    <p:extLst>
      <p:ext uri="{BB962C8B-B14F-4D97-AF65-F5344CB8AC3E}">
        <p14:creationId xmlns:p14="http://schemas.microsoft.com/office/powerpoint/2010/main" val="3112409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7</a:t>
            </a:fld>
            <a:endParaRPr lang="en-CA"/>
          </a:p>
        </p:txBody>
      </p:sp>
    </p:spTree>
    <p:extLst>
      <p:ext uri="{BB962C8B-B14F-4D97-AF65-F5344CB8AC3E}">
        <p14:creationId xmlns:p14="http://schemas.microsoft.com/office/powerpoint/2010/main" val="4121302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8</a:t>
            </a:fld>
            <a:endParaRPr lang="en-CA"/>
          </a:p>
        </p:txBody>
      </p:sp>
    </p:spTree>
    <p:extLst>
      <p:ext uri="{BB962C8B-B14F-4D97-AF65-F5344CB8AC3E}">
        <p14:creationId xmlns:p14="http://schemas.microsoft.com/office/powerpoint/2010/main" val="3480394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9</a:t>
            </a:fld>
            <a:endParaRPr lang="en-CA"/>
          </a:p>
        </p:txBody>
      </p:sp>
    </p:spTree>
    <p:extLst>
      <p:ext uri="{BB962C8B-B14F-4D97-AF65-F5344CB8AC3E}">
        <p14:creationId xmlns:p14="http://schemas.microsoft.com/office/powerpoint/2010/main" val="331848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10</a:t>
            </a:fld>
            <a:endParaRPr lang="en-CA"/>
          </a:p>
        </p:txBody>
      </p:sp>
    </p:spTree>
    <p:extLst>
      <p:ext uri="{BB962C8B-B14F-4D97-AF65-F5344CB8AC3E}">
        <p14:creationId xmlns:p14="http://schemas.microsoft.com/office/powerpoint/2010/main" val="1340825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11</a:t>
            </a:fld>
            <a:endParaRPr lang="en-CA"/>
          </a:p>
        </p:txBody>
      </p:sp>
    </p:spTree>
    <p:extLst>
      <p:ext uri="{BB962C8B-B14F-4D97-AF65-F5344CB8AC3E}">
        <p14:creationId xmlns:p14="http://schemas.microsoft.com/office/powerpoint/2010/main" val="1381931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12</a:t>
            </a:fld>
            <a:endParaRPr lang="en-CA"/>
          </a:p>
        </p:txBody>
      </p:sp>
    </p:spTree>
    <p:extLst>
      <p:ext uri="{BB962C8B-B14F-4D97-AF65-F5344CB8AC3E}">
        <p14:creationId xmlns:p14="http://schemas.microsoft.com/office/powerpoint/2010/main" val="1733302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13</a:t>
            </a:fld>
            <a:endParaRPr lang="en-CA"/>
          </a:p>
        </p:txBody>
      </p:sp>
    </p:spTree>
    <p:extLst>
      <p:ext uri="{BB962C8B-B14F-4D97-AF65-F5344CB8AC3E}">
        <p14:creationId xmlns:p14="http://schemas.microsoft.com/office/powerpoint/2010/main" val="3763709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14</a:t>
            </a:fld>
            <a:endParaRPr lang="en-CA"/>
          </a:p>
        </p:txBody>
      </p:sp>
    </p:spTree>
    <p:extLst>
      <p:ext uri="{BB962C8B-B14F-4D97-AF65-F5344CB8AC3E}">
        <p14:creationId xmlns:p14="http://schemas.microsoft.com/office/powerpoint/2010/main" val="3515318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16</a:t>
            </a:fld>
            <a:endParaRPr lang="en-CA"/>
          </a:p>
        </p:txBody>
      </p:sp>
    </p:spTree>
    <p:extLst>
      <p:ext uri="{BB962C8B-B14F-4D97-AF65-F5344CB8AC3E}">
        <p14:creationId xmlns:p14="http://schemas.microsoft.com/office/powerpoint/2010/main" val="4062047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17</a:t>
            </a:fld>
            <a:endParaRPr lang="en-CA"/>
          </a:p>
        </p:txBody>
      </p:sp>
    </p:spTree>
    <p:extLst>
      <p:ext uri="{BB962C8B-B14F-4D97-AF65-F5344CB8AC3E}">
        <p14:creationId xmlns:p14="http://schemas.microsoft.com/office/powerpoint/2010/main" val="3903398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18</a:t>
            </a:fld>
            <a:endParaRPr lang="en-CA"/>
          </a:p>
        </p:txBody>
      </p:sp>
    </p:spTree>
    <p:extLst>
      <p:ext uri="{BB962C8B-B14F-4D97-AF65-F5344CB8AC3E}">
        <p14:creationId xmlns:p14="http://schemas.microsoft.com/office/powerpoint/2010/main" val="2808472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21</a:t>
            </a:fld>
            <a:endParaRPr lang="en-CA"/>
          </a:p>
        </p:txBody>
      </p:sp>
    </p:spTree>
    <p:extLst>
      <p:ext uri="{BB962C8B-B14F-4D97-AF65-F5344CB8AC3E}">
        <p14:creationId xmlns:p14="http://schemas.microsoft.com/office/powerpoint/2010/main" val="1060837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22</a:t>
            </a:fld>
            <a:endParaRPr lang="en-CA"/>
          </a:p>
        </p:txBody>
      </p:sp>
    </p:spTree>
    <p:extLst>
      <p:ext uri="{BB962C8B-B14F-4D97-AF65-F5344CB8AC3E}">
        <p14:creationId xmlns:p14="http://schemas.microsoft.com/office/powerpoint/2010/main" val="614927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23</a:t>
            </a:fld>
            <a:endParaRPr lang="en-CA"/>
          </a:p>
        </p:txBody>
      </p:sp>
    </p:spTree>
    <p:extLst>
      <p:ext uri="{BB962C8B-B14F-4D97-AF65-F5344CB8AC3E}">
        <p14:creationId xmlns:p14="http://schemas.microsoft.com/office/powerpoint/2010/main" val="1946572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24</a:t>
            </a:fld>
            <a:endParaRPr lang="en-CA"/>
          </a:p>
        </p:txBody>
      </p:sp>
    </p:spTree>
    <p:extLst>
      <p:ext uri="{BB962C8B-B14F-4D97-AF65-F5344CB8AC3E}">
        <p14:creationId xmlns:p14="http://schemas.microsoft.com/office/powerpoint/2010/main" val="1457842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25</a:t>
            </a:fld>
            <a:endParaRPr lang="en-CA"/>
          </a:p>
        </p:txBody>
      </p:sp>
    </p:spTree>
    <p:extLst>
      <p:ext uri="{BB962C8B-B14F-4D97-AF65-F5344CB8AC3E}">
        <p14:creationId xmlns:p14="http://schemas.microsoft.com/office/powerpoint/2010/main" val="3129870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26</a:t>
            </a:fld>
            <a:endParaRPr lang="en-CA"/>
          </a:p>
        </p:txBody>
      </p:sp>
    </p:spTree>
    <p:extLst>
      <p:ext uri="{BB962C8B-B14F-4D97-AF65-F5344CB8AC3E}">
        <p14:creationId xmlns:p14="http://schemas.microsoft.com/office/powerpoint/2010/main" val="476725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27</a:t>
            </a:fld>
            <a:endParaRPr lang="en-CA"/>
          </a:p>
        </p:txBody>
      </p:sp>
    </p:spTree>
    <p:extLst>
      <p:ext uri="{BB962C8B-B14F-4D97-AF65-F5344CB8AC3E}">
        <p14:creationId xmlns:p14="http://schemas.microsoft.com/office/powerpoint/2010/main" val="2348454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2EC9-F536-6DE0-93D8-BD0CECBEA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171D5-5F4A-D169-5B0E-AB3E37F49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AB888-A4F3-2874-B3EB-5D356737CD2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F2188DD-51B4-8C4C-398F-FD2844D8BC6E}"/>
              </a:ext>
            </a:extLst>
          </p:cNvPr>
          <p:cNvSpPr>
            <a:spLocks noGrp="1"/>
          </p:cNvSpPr>
          <p:nvPr>
            <p:ph type="sldNum" sz="quarter" idx="5"/>
          </p:nvPr>
        </p:nvSpPr>
        <p:spPr/>
        <p:txBody>
          <a:bodyPr/>
          <a:lstStyle/>
          <a:p>
            <a:fld id="{2BD16730-EC61-4F74-B958-89A6B44126CC}" type="slidenum">
              <a:rPr lang="en-CA" smtClean="0"/>
              <a:t>28</a:t>
            </a:fld>
            <a:endParaRPr lang="en-CA"/>
          </a:p>
        </p:txBody>
      </p:sp>
    </p:spTree>
    <p:extLst>
      <p:ext uri="{BB962C8B-B14F-4D97-AF65-F5344CB8AC3E}">
        <p14:creationId xmlns:p14="http://schemas.microsoft.com/office/powerpoint/2010/main" val="749497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29</a:t>
            </a:fld>
            <a:endParaRPr lang="en-CA"/>
          </a:p>
        </p:txBody>
      </p:sp>
    </p:spTree>
    <p:extLst>
      <p:ext uri="{BB962C8B-B14F-4D97-AF65-F5344CB8AC3E}">
        <p14:creationId xmlns:p14="http://schemas.microsoft.com/office/powerpoint/2010/main" val="3366186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FA202-BB7A-A1C2-F10D-0D275C1ED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2CBB5-A677-F38A-7FD7-D1E478835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00853-97D6-4BDF-F60A-D0682BEC057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440A22F-8841-8559-F6E7-71097FB70832}"/>
              </a:ext>
            </a:extLst>
          </p:cNvPr>
          <p:cNvSpPr>
            <a:spLocks noGrp="1"/>
          </p:cNvSpPr>
          <p:nvPr>
            <p:ph type="sldNum" sz="quarter" idx="5"/>
          </p:nvPr>
        </p:nvSpPr>
        <p:spPr/>
        <p:txBody>
          <a:bodyPr/>
          <a:lstStyle/>
          <a:p>
            <a:fld id="{2BD16730-EC61-4F74-B958-89A6B44126CC}" type="slidenum">
              <a:rPr lang="en-CA" smtClean="0"/>
              <a:t>30</a:t>
            </a:fld>
            <a:endParaRPr lang="en-CA"/>
          </a:p>
        </p:txBody>
      </p:sp>
    </p:spTree>
    <p:extLst>
      <p:ext uri="{BB962C8B-B14F-4D97-AF65-F5344CB8AC3E}">
        <p14:creationId xmlns:p14="http://schemas.microsoft.com/office/powerpoint/2010/main" val="3503551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D3FB-B304-2E6C-408B-0D7E17EFF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2CB1C-F48E-E05B-941D-A6D20B424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86DD9-FA25-7C37-EB33-D5B1AD2465AE}"/>
              </a:ext>
            </a:extLst>
          </p:cNvPr>
          <p:cNvSpPr>
            <a:spLocks noGrp="1"/>
          </p:cNvSpPr>
          <p:nvPr>
            <p:ph type="body" idx="1"/>
          </p:nvPr>
        </p:nvSpPr>
        <p:spPr/>
        <p:txBody>
          <a:bodyPr/>
          <a:lstStyle/>
          <a:p>
            <a:pPr marL="228600" indent="-228600">
              <a:buAutoNum type="arabicPeriod"/>
            </a:pPr>
            <a:endParaRPr lang="en-CA" dirty="0"/>
          </a:p>
        </p:txBody>
      </p:sp>
      <p:sp>
        <p:nvSpPr>
          <p:cNvPr id="4" name="Slide Number Placeholder 3">
            <a:extLst>
              <a:ext uri="{FF2B5EF4-FFF2-40B4-BE49-F238E27FC236}">
                <a16:creationId xmlns:a16="http://schemas.microsoft.com/office/drawing/2014/main" id="{EACD26AC-9A9B-A32D-99E2-8FBCD5A39B42}"/>
              </a:ext>
            </a:extLst>
          </p:cNvPr>
          <p:cNvSpPr>
            <a:spLocks noGrp="1"/>
          </p:cNvSpPr>
          <p:nvPr>
            <p:ph type="sldNum" sz="quarter" idx="5"/>
          </p:nvPr>
        </p:nvSpPr>
        <p:spPr/>
        <p:txBody>
          <a:bodyPr/>
          <a:lstStyle/>
          <a:p>
            <a:fld id="{2BD16730-EC61-4F74-B958-89A6B44126CC}" type="slidenum">
              <a:rPr lang="en-CA" smtClean="0"/>
              <a:t>31</a:t>
            </a:fld>
            <a:endParaRPr lang="en-CA"/>
          </a:p>
        </p:txBody>
      </p:sp>
    </p:spTree>
    <p:extLst>
      <p:ext uri="{BB962C8B-B14F-4D97-AF65-F5344CB8AC3E}">
        <p14:creationId xmlns:p14="http://schemas.microsoft.com/office/powerpoint/2010/main" val="3348906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32</a:t>
            </a:fld>
            <a:endParaRPr lang="en-US"/>
          </a:p>
        </p:txBody>
      </p:sp>
    </p:spTree>
    <p:extLst>
      <p:ext uri="{BB962C8B-B14F-4D97-AF65-F5344CB8AC3E}">
        <p14:creationId xmlns:p14="http://schemas.microsoft.com/office/powerpoint/2010/main" val="9625072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33</a:t>
            </a:fld>
            <a:endParaRPr lang="en-CA"/>
          </a:p>
        </p:txBody>
      </p:sp>
    </p:spTree>
    <p:extLst>
      <p:ext uri="{BB962C8B-B14F-4D97-AF65-F5344CB8AC3E}">
        <p14:creationId xmlns:p14="http://schemas.microsoft.com/office/powerpoint/2010/main" val="22517651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34</a:t>
            </a:fld>
            <a:endParaRPr lang="en-CA"/>
          </a:p>
        </p:txBody>
      </p:sp>
    </p:spTree>
    <p:extLst>
      <p:ext uri="{BB962C8B-B14F-4D97-AF65-F5344CB8AC3E}">
        <p14:creationId xmlns:p14="http://schemas.microsoft.com/office/powerpoint/2010/main" val="27660813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35</a:t>
            </a:fld>
            <a:endParaRPr lang="en-CA"/>
          </a:p>
        </p:txBody>
      </p:sp>
    </p:spTree>
    <p:extLst>
      <p:ext uri="{BB962C8B-B14F-4D97-AF65-F5344CB8AC3E}">
        <p14:creationId xmlns:p14="http://schemas.microsoft.com/office/powerpoint/2010/main" val="9717308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36</a:t>
            </a:fld>
            <a:endParaRPr lang="en-US"/>
          </a:p>
        </p:txBody>
      </p:sp>
    </p:spTree>
    <p:extLst>
      <p:ext uri="{BB962C8B-B14F-4D97-AF65-F5344CB8AC3E}">
        <p14:creationId xmlns:p14="http://schemas.microsoft.com/office/powerpoint/2010/main" val="883840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37</a:t>
            </a:fld>
            <a:endParaRPr lang="en-CA"/>
          </a:p>
        </p:txBody>
      </p:sp>
    </p:spTree>
    <p:extLst>
      <p:ext uri="{BB962C8B-B14F-4D97-AF65-F5344CB8AC3E}">
        <p14:creationId xmlns:p14="http://schemas.microsoft.com/office/powerpoint/2010/main" val="18986114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38</a:t>
            </a:fld>
            <a:endParaRPr lang="en-CA"/>
          </a:p>
        </p:txBody>
      </p:sp>
    </p:spTree>
    <p:extLst>
      <p:ext uri="{BB962C8B-B14F-4D97-AF65-F5344CB8AC3E}">
        <p14:creationId xmlns:p14="http://schemas.microsoft.com/office/powerpoint/2010/main" val="1380294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39</a:t>
            </a:fld>
            <a:endParaRPr lang="en-CA"/>
          </a:p>
        </p:txBody>
      </p:sp>
    </p:spTree>
    <p:extLst>
      <p:ext uri="{BB962C8B-B14F-4D97-AF65-F5344CB8AC3E}">
        <p14:creationId xmlns:p14="http://schemas.microsoft.com/office/powerpoint/2010/main" val="1698155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A1EE2-EA69-B524-8809-8979CEADD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42EB5-2E72-1D66-412A-970691B3C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E7599-9CCD-D351-C2EF-896FE633F39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6AC3AD5-988F-393F-BF9F-C9BC6E7AAE01}"/>
              </a:ext>
            </a:extLst>
          </p:cNvPr>
          <p:cNvSpPr>
            <a:spLocks noGrp="1"/>
          </p:cNvSpPr>
          <p:nvPr>
            <p:ph type="sldNum" sz="quarter" idx="5"/>
          </p:nvPr>
        </p:nvSpPr>
        <p:spPr/>
        <p:txBody>
          <a:bodyPr/>
          <a:lstStyle/>
          <a:p>
            <a:fld id="{2BD16730-EC61-4F74-B958-89A6B44126CC}" type="slidenum">
              <a:rPr lang="en-CA" smtClean="0"/>
              <a:t>40</a:t>
            </a:fld>
            <a:endParaRPr lang="en-CA"/>
          </a:p>
        </p:txBody>
      </p:sp>
    </p:spTree>
    <p:extLst>
      <p:ext uri="{BB962C8B-B14F-4D97-AF65-F5344CB8AC3E}">
        <p14:creationId xmlns:p14="http://schemas.microsoft.com/office/powerpoint/2010/main" val="16584206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42</a:t>
            </a:fld>
            <a:endParaRPr lang="en-CA"/>
          </a:p>
        </p:txBody>
      </p:sp>
    </p:spTree>
    <p:extLst>
      <p:ext uri="{BB962C8B-B14F-4D97-AF65-F5344CB8AC3E}">
        <p14:creationId xmlns:p14="http://schemas.microsoft.com/office/powerpoint/2010/main" val="40795989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43</a:t>
            </a:fld>
            <a:endParaRPr lang="en-CA"/>
          </a:p>
        </p:txBody>
      </p:sp>
    </p:spTree>
    <p:extLst>
      <p:ext uri="{BB962C8B-B14F-4D97-AF65-F5344CB8AC3E}">
        <p14:creationId xmlns:p14="http://schemas.microsoft.com/office/powerpoint/2010/main" val="2845925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44</a:t>
            </a:fld>
            <a:endParaRPr lang="en-CA"/>
          </a:p>
        </p:txBody>
      </p:sp>
    </p:spTree>
    <p:extLst>
      <p:ext uri="{BB962C8B-B14F-4D97-AF65-F5344CB8AC3E}">
        <p14:creationId xmlns:p14="http://schemas.microsoft.com/office/powerpoint/2010/main" val="320224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45</a:t>
            </a:fld>
            <a:endParaRPr lang="en-CA"/>
          </a:p>
        </p:txBody>
      </p:sp>
    </p:spTree>
    <p:extLst>
      <p:ext uri="{BB962C8B-B14F-4D97-AF65-F5344CB8AC3E}">
        <p14:creationId xmlns:p14="http://schemas.microsoft.com/office/powerpoint/2010/main" val="384175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D16730-EC61-4F74-B958-89A6B44126CC}" type="slidenum">
              <a:rPr lang="en-CA" smtClean="0"/>
              <a:t>46</a:t>
            </a:fld>
            <a:endParaRPr lang="en-CA"/>
          </a:p>
        </p:txBody>
      </p:sp>
    </p:spTree>
    <p:extLst>
      <p:ext uri="{BB962C8B-B14F-4D97-AF65-F5344CB8AC3E}">
        <p14:creationId xmlns:p14="http://schemas.microsoft.com/office/powerpoint/2010/main" val="340188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47</a:t>
            </a:fld>
            <a:endParaRPr lang="en-US"/>
          </a:p>
        </p:txBody>
      </p:sp>
    </p:spTree>
    <p:extLst>
      <p:ext uri="{BB962C8B-B14F-4D97-AF65-F5344CB8AC3E}">
        <p14:creationId xmlns:p14="http://schemas.microsoft.com/office/powerpoint/2010/main" val="6379835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b="0" i="0" u="none" strike="noStrike" dirty="0">
              <a:solidFill>
                <a:srgbClr val="232323"/>
              </a:solidFill>
              <a:effectLst/>
              <a:latin typeface="Noto Sans" panose="020B0502040504020204" pitchFamily="34" charset="0"/>
            </a:endParaRPr>
          </a:p>
        </p:txBody>
      </p:sp>
      <p:sp>
        <p:nvSpPr>
          <p:cNvPr id="4" name="Slide Number Placeholder 3"/>
          <p:cNvSpPr>
            <a:spLocks noGrp="1"/>
          </p:cNvSpPr>
          <p:nvPr>
            <p:ph type="sldNum" sz="quarter" idx="5"/>
          </p:nvPr>
        </p:nvSpPr>
        <p:spPr/>
        <p:txBody>
          <a:bodyPr/>
          <a:lstStyle/>
          <a:p>
            <a:fld id="{20919A0A-328E-CA4D-B884-87567B2800DC}" type="slidenum">
              <a:rPr lang="en-US" smtClean="0"/>
              <a:t>48</a:t>
            </a:fld>
            <a:endParaRPr lang="en-US"/>
          </a:p>
        </p:txBody>
      </p:sp>
    </p:spTree>
    <p:extLst>
      <p:ext uri="{BB962C8B-B14F-4D97-AF65-F5344CB8AC3E}">
        <p14:creationId xmlns:p14="http://schemas.microsoft.com/office/powerpoint/2010/main" val="16686243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49</a:t>
            </a:fld>
            <a:endParaRPr lang="en-US"/>
          </a:p>
        </p:txBody>
      </p:sp>
    </p:spTree>
    <p:extLst>
      <p:ext uri="{BB962C8B-B14F-4D97-AF65-F5344CB8AC3E}">
        <p14:creationId xmlns:p14="http://schemas.microsoft.com/office/powerpoint/2010/main" val="35595296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50</a:t>
            </a:fld>
            <a:endParaRPr lang="en-US"/>
          </a:p>
        </p:txBody>
      </p:sp>
    </p:spTree>
    <p:extLst>
      <p:ext uri="{BB962C8B-B14F-4D97-AF65-F5344CB8AC3E}">
        <p14:creationId xmlns:p14="http://schemas.microsoft.com/office/powerpoint/2010/main" val="12312146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51</a:t>
            </a:fld>
            <a:endParaRPr lang="en-CA"/>
          </a:p>
        </p:txBody>
      </p:sp>
    </p:spTree>
    <p:extLst>
      <p:ext uri="{BB962C8B-B14F-4D97-AF65-F5344CB8AC3E}">
        <p14:creationId xmlns:p14="http://schemas.microsoft.com/office/powerpoint/2010/main" val="1477952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b="0" i="0" u="none" strike="noStrike" dirty="0">
              <a:solidFill>
                <a:srgbClr val="232323"/>
              </a:solidFill>
              <a:effectLst/>
              <a:latin typeface="Noto Sans" panose="020B0502040504020204" pitchFamily="34" charset="0"/>
            </a:endParaRPr>
          </a:p>
        </p:txBody>
      </p:sp>
      <p:sp>
        <p:nvSpPr>
          <p:cNvPr id="4" name="Slide Number Placeholder 3"/>
          <p:cNvSpPr>
            <a:spLocks noGrp="1"/>
          </p:cNvSpPr>
          <p:nvPr>
            <p:ph type="sldNum" sz="quarter" idx="5"/>
          </p:nvPr>
        </p:nvSpPr>
        <p:spPr/>
        <p:txBody>
          <a:bodyPr/>
          <a:lstStyle/>
          <a:p>
            <a:fld id="{20919A0A-328E-CA4D-B884-87567B2800DC}" type="slidenum">
              <a:rPr lang="en-US" smtClean="0"/>
              <a:t>52</a:t>
            </a:fld>
            <a:endParaRPr lang="en-US"/>
          </a:p>
        </p:txBody>
      </p:sp>
    </p:spTree>
    <p:extLst>
      <p:ext uri="{BB962C8B-B14F-4D97-AF65-F5344CB8AC3E}">
        <p14:creationId xmlns:p14="http://schemas.microsoft.com/office/powerpoint/2010/main" val="30138960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19A0A-328E-CA4D-B884-87567B2800DC}" type="slidenum">
              <a:rPr lang="en-US" smtClean="0"/>
              <a:t>53</a:t>
            </a:fld>
            <a:endParaRPr lang="en-US"/>
          </a:p>
        </p:txBody>
      </p:sp>
    </p:spTree>
    <p:extLst>
      <p:ext uri="{BB962C8B-B14F-4D97-AF65-F5344CB8AC3E}">
        <p14:creationId xmlns:p14="http://schemas.microsoft.com/office/powerpoint/2010/main" val="30138960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0984E-4C6F-4B97-064C-0FE15B8E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575C9-DBCF-201E-31D3-52C613CC69C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671FE71-F7D6-019C-E900-6328DE847B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F17E21-E5AD-0299-8158-8D2CD46E72D3}"/>
              </a:ext>
            </a:extLst>
          </p:cNvPr>
          <p:cNvSpPr>
            <a:spLocks noGrp="1"/>
          </p:cNvSpPr>
          <p:nvPr>
            <p:ph type="sldNum" sz="quarter" idx="5"/>
          </p:nvPr>
        </p:nvSpPr>
        <p:spPr/>
        <p:txBody>
          <a:bodyPr/>
          <a:lstStyle/>
          <a:p>
            <a:fld id="{20919A0A-328E-CA4D-B884-87567B2800DC}" type="slidenum">
              <a:rPr lang="en-US" smtClean="0"/>
              <a:t>54</a:t>
            </a:fld>
            <a:endParaRPr lang="en-US"/>
          </a:p>
        </p:txBody>
      </p:sp>
    </p:spTree>
    <p:extLst>
      <p:ext uri="{BB962C8B-B14F-4D97-AF65-F5344CB8AC3E}">
        <p14:creationId xmlns:p14="http://schemas.microsoft.com/office/powerpoint/2010/main" val="42678900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55</a:t>
            </a:fld>
            <a:endParaRPr lang="en-CA"/>
          </a:p>
        </p:txBody>
      </p:sp>
    </p:spTree>
    <p:extLst>
      <p:ext uri="{BB962C8B-B14F-4D97-AF65-F5344CB8AC3E}">
        <p14:creationId xmlns:p14="http://schemas.microsoft.com/office/powerpoint/2010/main" val="42819307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56</a:t>
            </a:fld>
            <a:endParaRPr lang="en-CA"/>
          </a:p>
        </p:txBody>
      </p:sp>
    </p:spTree>
    <p:extLst>
      <p:ext uri="{BB962C8B-B14F-4D97-AF65-F5344CB8AC3E}">
        <p14:creationId xmlns:p14="http://schemas.microsoft.com/office/powerpoint/2010/main" val="24518742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Rosacea – persistent erythema of the central face for 3+ months (30-60 y/o)</a:t>
            </a:r>
          </a:p>
          <a:p>
            <a:r>
              <a:rPr lang="en-CA" dirty="0"/>
              <a:t>Celtic origin, fair skin </a:t>
            </a:r>
          </a:p>
          <a:p>
            <a:r>
              <a:rPr lang="en-CA" dirty="0"/>
              <a:t>No </a:t>
            </a:r>
            <a:r>
              <a:rPr lang="en-CA" dirty="0" err="1"/>
              <a:t>comedones</a:t>
            </a:r>
            <a:r>
              <a:rPr lang="en-CA" dirty="0"/>
              <a:t>, no blackheads and whiteheads</a:t>
            </a:r>
          </a:p>
          <a:p>
            <a:r>
              <a:rPr lang="en-CA" dirty="0"/>
              <a:t>50% will have ocular symptoms, chalazion </a:t>
            </a:r>
          </a:p>
          <a:p>
            <a:endParaRPr lang="en-CA" dirty="0"/>
          </a:p>
          <a:p>
            <a:r>
              <a:rPr lang="en-CA" dirty="0"/>
              <a:t>4 different types  </a:t>
            </a:r>
          </a:p>
          <a:p>
            <a:r>
              <a:rPr lang="en-CA" dirty="0"/>
              <a:t>ETR</a:t>
            </a:r>
          </a:p>
          <a:p>
            <a:r>
              <a:rPr lang="en-CA" dirty="0" err="1"/>
              <a:t>Phymatous</a:t>
            </a:r>
            <a:r>
              <a:rPr lang="en-CA" dirty="0"/>
              <a:t> –skin thickening, </a:t>
            </a:r>
            <a:r>
              <a:rPr lang="en-CA" dirty="0" err="1"/>
              <a:t>nodulatiries</a:t>
            </a:r>
            <a:r>
              <a:rPr lang="en-CA" dirty="0"/>
              <a:t> nose, chin, ears, lids</a:t>
            </a:r>
          </a:p>
          <a:p>
            <a:r>
              <a:rPr lang="en-CA" dirty="0"/>
              <a:t>Ocular rosacea – blepharitis, conjunctivitis with skin findings </a:t>
            </a:r>
          </a:p>
          <a:p>
            <a:r>
              <a:rPr lang="en-CA" dirty="0"/>
              <a:t>DDx: acne, SD, POD, steroid induced rosacea, lupus, carcinoid syndrome </a:t>
            </a:r>
          </a:p>
          <a:p>
            <a:endParaRPr lang="en-CA" dirty="0"/>
          </a:p>
          <a:p>
            <a:r>
              <a:rPr lang="en-CA" dirty="0"/>
              <a:t>Rx: </a:t>
            </a:r>
            <a:r>
              <a:rPr lang="en-CA" dirty="0" err="1"/>
              <a:t>Cerave</a:t>
            </a:r>
            <a:r>
              <a:rPr lang="en-CA" dirty="0"/>
              <a:t> hydrating, Cetaphil gentle skin cleanser</a:t>
            </a:r>
          </a:p>
          <a:p>
            <a:r>
              <a:rPr lang="en-CA" dirty="0"/>
              <a:t>Common triggers: hot, cold, exercise, spicy foods, alcohol, emotions, some meds </a:t>
            </a:r>
          </a:p>
          <a:p>
            <a:r>
              <a:rPr lang="en-CA" dirty="0"/>
              <a:t>Use sunscreens with SPF  30+ UVA and UVB, titanium dioxide and zinc oxide </a:t>
            </a:r>
          </a:p>
          <a:p>
            <a:r>
              <a:rPr lang="en-CA" dirty="0"/>
              <a:t>Avoid </a:t>
            </a:r>
            <a:r>
              <a:rPr lang="en-CA" dirty="0" err="1"/>
              <a:t>producs</a:t>
            </a:r>
            <a:r>
              <a:rPr lang="en-CA" dirty="0"/>
              <a:t> with sodium laurel sulfate (SLS)</a:t>
            </a:r>
          </a:p>
          <a:p>
            <a:endParaRPr lang="en-CA" dirty="0"/>
          </a:p>
          <a:p>
            <a:r>
              <a:rPr lang="en-CA" dirty="0"/>
              <a:t>Intense pulsed light, Azelaic acid (</a:t>
            </a:r>
            <a:r>
              <a:rPr lang="en-CA" dirty="0" err="1"/>
              <a:t>finacea</a:t>
            </a:r>
            <a:r>
              <a:rPr lang="en-CA" dirty="0"/>
              <a:t> gel) </a:t>
            </a:r>
          </a:p>
          <a:p>
            <a:r>
              <a:rPr lang="en-CA" dirty="0" err="1"/>
              <a:t>Rosiver</a:t>
            </a:r>
            <a:r>
              <a:rPr lang="en-CA" dirty="0"/>
              <a:t> 1% cream – most efficacious. Topical ivermectin. Lasts 4-6 months </a:t>
            </a:r>
          </a:p>
          <a:p>
            <a:r>
              <a:rPr lang="en-CA" dirty="0"/>
              <a:t>Doxycycline 100mg po daily, </a:t>
            </a:r>
            <a:r>
              <a:rPr lang="en-CA" dirty="0" err="1"/>
              <a:t>Apprilon</a:t>
            </a:r>
            <a:r>
              <a:rPr lang="en-CA" dirty="0"/>
              <a:t> hasn’t had as much of effect. </a:t>
            </a:r>
          </a:p>
        </p:txBody>
      </p:sp>
      <p:sp>
        <p:nvSpPr>
          <p:cNvPr id="4" name="Slide Number Placeholder 3"/>
          <p:cNvSpPr>
            <a:spLocks noGrp="1"/>
          </p:cNvSpPr>
          <p:nvPr>
            <p:ph type="sldNum" sz="quarter" idx="5"/>
          </p:nvPr>
        </p:nvSpPr>
        <p:spPr/>
        <p:txBody>
          <a:bodyPr/>
          <a:lstStyle/>
          <a:p>
            <a:fld id="{2BD16730-EC61-4F74-B958-89A6B44126CC}" type="slidenum">
              <a:rPr lang="en-CA" smtClean="0"/>
              <a:t>57</a:t>
            </a:fld>
            <a:endParaRPr lang="en-CA"/>
          </a:p>
        </p:txBody>
      </p:sp>
    </p:spTree>
    <p:extLst>
      <p:ext uri="{BB962C8B-B14F-4D97-AF65-F5344CB8AC3E}">
        <p14:creationId xmlns:p14="http://schemas.microsoft.com/office/powerpoint/2010/main" val="30382622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2BD16730-EC61-4F74-B958-89A6B44126CC}" type="slidenum">
              <a:rPr lang="en-CA" smtClean="0"/>
              <a:t>58</a:t>
            </a:fld>
            <a:endParaRPr lang="en-CA"/>
          </a:p>
        </p:txBody>
      </p:sp>
    </p:spTree>
    <p:extLst>
      <p:ext uri="{BB962C8B-B14F-4D97-AF65-F5344CB8AC3E}">
        <p14:creationId xmlns:p14="http://schemas.microsoft.com/office/powerpoint/2010/main" val="26229054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59</a:t>
            </a:fld>
            <a:endParaRPr lang="en-CA"/>
          </a:p>
        </p:txBody>
      </p:sp>
    </p:spTree>
    <p:extLst>
      <p:ext uri="{BB962C8B-B14F-4D97-AF65-F5344CB8AC3E}">
        <p14:creationId xmlns:p14="http://schemas.microsoft.com/office/powerpoint/2010/main" val="25717675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60</a:t>
            </a:fld>
            <a:endParaRPr lang="en-CA"/>
          </a:p>
        </p:txBody>
      </p:sp>
    </p:spTree>
    <p:extLst>
      <p:ext uri="{BB962C8B-B14F-4D97-AF65-F5344CB8AC3E}">
        <p14:creationId xmlns:p14="http://schemas.microsoft.com/office/powerpoint/2010/main" val="26684398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61</a:t>
            </a:fld>
            <a:endParaRPr lang="en-CA"/>
          </a:p>
        </p:txBody>
      </p:sp>
    </p:spTree>
    <p:extLst>
      <p:ext uri="{BB962C8B-B14F-4D97-AF65-F5344CB8AC3E}">
        <p14:creationId xmlns:p14="http://schemas.microsoft.com/office/powerpoint/2010/main" val="13210432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D16730-EC61-4F74-B958-89A6B44126CC}" type="slidenum">
              <a:rPr lang="en-CA" smtClean="0"/>
              <a:t>64</a:t>
            </a:fld>
            <a:endParaRPr lang="en-CA"/>
          </a:p>
        </p:txBody>
      </p:sp>
    </p:spTree>
    <p:extLst>
      <p:ext uri="{BB962C8B-B14F-4D97-AF65-F5344CB8AC3E}">
        <p14:creationId xmlns:p14="http://schemas.microsoft.com/office/powerpoint/2010/main" val="40595148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CA"/>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E22371A6-B76C-4965-B848-7151A589C94F}" type="datetimeFigureOut">
              <a:rPr lang="en-CA" smtClean="0"/>
              <a:t>2026-09-27</a:t>
            </a:fld>
            <a:endParaRPr lang="en-CA"/>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42673554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CA"/>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4247376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CA"/>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E22371A6-B76C-4965-B848-7151A589C94F}" type="datetimeFigureOut">
              <a:rPr lang="en-CA" smtClean="0"/>
              <a:t>2026-09-27</a:t>
            </a:fld>
            <a:endParaRPr lang="en-CA"/>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10876956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CA"/>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27591329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CA"/>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255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CA"/>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3575002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CA"/>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12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CA"/>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372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CA"/>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756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CA"/>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B622F226-9F94-4249-8B7A-A455EFB0156C}" type="slidenum">
              <a:rPr lang="en-CA" smtClean="0"/>
              <a:t>‹#›</a:t>
            </a:fld>
            <a:endParaRPr lang="en-CA"/>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782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E22371A6-B76C-4965-B848-7151A589C94F}" type="datetimeFigureOut">
              <a:rPr lang="en-CA" smtClean="0"/>
              <a:t>2026-09-27</a:t>
            </a:fld>
            <a:endParaRPr lang="en-CA"/>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CA"/>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3903192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E22371A6-B76C-4965-B848-7151A589C94F}" type="datetimeFigureOut">
              <a:rPr lang="en-CA" smtClean="0"/>
              <a:t>2026-09-27</a:t>
            </a:fld>
            <a:endParaRPr lang="en-CA"/>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CA"/>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977896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E22371A6-B76C-4965-B848-7151A589C94F}" type="datetimeFigureOut">
              <a:rPr lang="en-CA" smtClean="0"/>
              <a:t>2026-09-27</a:t>
            </a:fld>
            <a:endParaRPr lang="en-CA"/>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CA"/>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1023791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E22371A6-B76C-4965-B848-7151A589C94F}" type="datetimeFigureOut">
              <a:rPr lang="en-CA" smtClean="0"/>
              <a:t>2026-09-27</a:t>
            </a:fld>
            <a:endParaRPr lang="en-CA"/>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CA"/>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3029461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E22371A6-B76C-4965-B848-7151A589C94F}" type="datetimeFigureOut">
              <a:rPr lang="en-CA" smtClean="0"/>
              <a:t>2026-09-27</a:t>
            </a:fld>
            <a:endParaRPr lang="en-CA"/>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CA"/>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1269606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CA"/>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3439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CA"/>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19543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CA"/>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E22371A6-B76C-4965-B848-7151A589C94F}" type="datetimeFigureOut">
              <a:rPr lang="en-CA" smtClean="0"/>
              <a:t>2026-09-27</a:t>
            </a:fld>
            <a:endParaRPr lang="en-CA"/>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B622F226-9F94-4249-8B7A-A455EFB0156C}" type="slidenum">
              <a:rPr lang="en-CA" smtClean="0"/>
              <a:t>‹#›</a:t>
            </a:fld>
            <a:endParaRPr lang="en-CA"/>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968802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CA"/>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3638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CA"/>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783487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CA"/>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26223450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CA"/>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16608873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CA"/>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2317065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CA"/>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40492992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CA"/>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20770703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CA"/>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1678946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CA"/>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22F226-9F94-4249-8B7A-A455EFB0156C}" type="slidenum">
              <a:rPr lang="en-CA" smtClean="0"/>
              <a:t>‹#›</a:t>
            </a:fld>
            <a:endParaRPr lang="en-CA"/>
          </a:p>
        </p:txBody>
      </p:sp>
    </p:spTree>
    <p:extLst>
      <p:ext uri="{BB962C8B-B14F-4D97-AF65-F5344CB8AC3E}">
        <p14:creationId xmlns:p14="http://schemas.microsoft.com/office/powerpoint/2010/main" val="33612667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2517-3E2B-D79E-7AE6-A6A6E7BFA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04985F22-3615-D2D1-F6A9-58C961ABAD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944E098-7695-1BD1-ADD3-C8774584736C}"/>
              </a:ext>
            </a:extLst>
          </p:cNvPr>
          <p:cNvSpPr>
            <a:spLocks noGrp="1"/>
          </p:cNvSpPr>
          <p:nvPr>
            <p:ph type="dt" sz="half" idx="10"/>
          </p:nvPr>
        </p:nvSpPr>
        <p:spPr/>
        <p:txBody>
          <a:bodyPr/>
          <a:lstStyle/>
          <a:p>
            <a:fld id="{E22371A6-B76C-4965-B848-7151A589C94F}" type="datetimeFigureOut">
              <a:rPr lang="en-CA" smtClean="0"/>
              <a:t>2026-09-27</a:t>
            </a:fld>
            <a:endParaRPr lang="en-CA"/>
          </a:p>
        </p:txBody>
      </p:sp>
      <p:sp>
        <p:nvSpPr>
          <p:cNvPr id="5" name="Footer Placeholder 4">
            <a:extLst>
              <a:ext uri="{FF2B5EF4-FFF2-40B4-BE49-F238E27FC236}">
                <a16:creationId xmlns:a16="http://schemas.microsoft.com/office/drawing/2014/main" id="{36722322-858A-4154-1031-794E3A296B2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9458D27-E8F4-BE5D-E650-3791C2B4F983}"/>
              </a:ext>
            </a:extLst>
          </p:cNvPr>
          <p:cNvSpPr>
            <a:spLocks noGrp="1"/>
          </p:cNvSpPr>
          <p:nvPr>
            <p:ph type="sldNum" sz="quarter" idx="12"/>
          </p:nvPr>
        </p:nvSpPr>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3614724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81114-7695-327C-B902-E47B1D784A7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FB70829-E927-DBB9-D5BE-F557660542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04DAB4-17A7-6435-8198-85F62B743732}"/>
              </a:ext>
            </a:extLst>
          </p:cNvPr>
          <p:cNvSpPr>
            <a:spLocks noGrp="1"/>
          </p:cNvSpPr>
          <p:nvPr>
            <p:ph type="dt" sz="half" idx="10"/>
          </p:nvPr>
        </p:nvSpPr>
        <p:spPr/>
        <p:txBody>
          <a:bodyPr/>
          <a:lstStyle/>
          <a:p>
            <a:fld id="{E22371A6-B76C-4965-B848-7151A589C94F}" type="datetimeFigureOut">
              <a:rPr lang="en-CA" smtClean="0"/>
              <a:t>2026-09-27</a:t>
            </a:fld>
            <a:endParaRPr lang="en-CA"/>
          </a:p>
        </p:txBody>
      </p:sp>
      <p:sp>
        <p:nvSpPr>
          <p:cNvPr id="5" name="Footer Placeholder 4">
            <a:extLst>
              <a:ext uri="{FF2B5EF4-FFF2-40B4-BE49-F238E27FC236}">
                <a16:creationId xmlns:a16="http://schemas.microsoft.com/office/drawing/2014/main" id="{6E2050AB-F5BE-5EA5-55EC-CFCAC5D94A1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EF02F0B-4DFC-4DDF-7344-78F4D2A739B1}"/>
              </a:ext>
            </a:extLst>
          </p:cNvPr>
          <p:cNvSpPr>
            <a:spLocks noGrp="1"/>
          </p:cNvSpPr>
          <p:nvPr>
            <p:ph type="sldNum" sz="quarter" idx="12"/>
          </p:nvPr>
        </p:nvSpPr>
        <p:spPr/>
        <p:txBody>
          <a:bodyPr/>
          <a:lstStyle/>
          <a:p>
            <a:fld id="{B622F226-9F94-4249-8B7A-A455EFB0156C}" type="slidenum">
              <a:rPr lang="en-CA" smtClean="0"/>
              <a:t>‹#›</a:t>
            </a:fld>
            <a:endParaRPr lang="en-CA"/>
          </a:p>
        </p:txBody>
      </p:sp>
    </p:spTree>
    <p:extLst>
      <p:ext uri="{BB962C8B-B14F-4D97-AF65-F5344CB8AC3E}">
        <p14:creationId xmlns:p14="http://schemas.microsoft.com/office/powerpoint/2010/main" val="3504116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CA"/>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E22371A6-B76C-4965-B848-7151A589C94F}" type="datetimeFigureOut">
              <a:rPr lang="en-CA" smtClean="0"/>
              <a:t>2026-09-27</a:t>
            </a:fld>
            <a:endParaRPr lang="en-CA"/>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B622F226-9F94-4249-8B7A-A455EFB0156C}" type="slidenum">
              <a:rPr lang="en-CA" smtClean="0"/>
              <a:t>‹#›</a:t>
            </a:fld>
            <a:endParaRPr lang="en-CA"/>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0947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hyperlink" Target="https://www.wikidoc.org/index.php/Tubular_glan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hyperlink" Target="Dermnetnz.org/topics/benign-skin-lesions" TargetMode="Externa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hyperlink" Target="https://www.rawpixel.com/image/380195/closeup-doctor-checking-patient-daily-report-checklist" TargetMode="Externa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hyperlink" Target="https://pixabay.com/nl/liniaal-meetkunde-wiskunde-stellen-1023727/"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hyperlink" Target="https://creativecommons.org/licenses/by-nc-sa/3.0/" TargetMode="External"/><Relationship Id="rId4" Type="http://schemas.openxmlformats.org/officeDocument/2006/relationships/hyperlink" Target="https://skincancer909.com/home/premalignant-lesion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clinicalconnection.hopkinsmedicine.org/videos/skin-punch-biopsy-procedure-johns-hopkins-cutaneous-nerve-laboratory" TargetMode="External"/><Relationship Id="rId7"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www.youtube.com/watch?v=3Wra5h_2nIk"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9.xml"/><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9.xml"/><Relationship Id="rId5" Type="http://schemas.openxmlformats.org/officeDocument/2006/relationships/image" Target="../media/image25.sv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9.xml"/><Relationship Id="rId6" Type="http://schemas.openxmlformats.org/officeDocument/2006/relationships/image" Target="../media/image25.svg"/><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9.xml"/><Relationship Id="rId5" Type="http://schemas.openxmlformats.org/officeDocument/2006/relationships/image" Target="../media/image34.jpe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29.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image" Target="../media/image37.jpe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9.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hyperlink" Target="https://docs.google.com/presentation/d/1uPQDRpgzUXrrNhGIOnUZVeuIA84RaJNUrpSOiQXH7jE/edit?usp=sharing" TargetMode="External"/><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7.xml"/><Relationship Id="rId1" Type="http://schemas.openxmlformats.org/officeDocument/2006/relationships/slideLayout" Target="../slideLayouts/slideLayout29.xml"/><Relationship Id="rId4" Type="http://schemas.openxmlformats.org/officeDocument/2006/relationships/image" Target="../media/image48.jpeg"/></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29.xml"/><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9.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29.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29.xml"/><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43.xml"/><Relationship Id="rId1" Type="http://schemas.openxmlformats.org/officeDocument/2006/relationships/slideLayout" Target="../slideLayouts/slideLayout29.xml"/><Relationship Id="rId4" Type="http://schemas.openxmlformats.org/officeDocument/2006/relationships/image" Target="../media/image59.jpg"/></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29.xml"/><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5.xml"/><Relationship Id="rId1" Type="http://schemas.openxmlformats.org/officeDocument/2006/relationships/slideLayout" Target="../slideLayouts/slideLayout29.xml"/><Relationship Id="rId4" Type="http://schemas.openxmlformats.org/officeDocument/2006/relationships/image" Target="../media/image63.jpeg"/></Relationships>
</file>

<file path=ppt/slides/_rels/slide5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6.xml"/><Relationship Id="rId1" Type="http://schemas.openxmlformats.org/officeDocument/2006/relationships/slideLayout" Target="../slideLayouts/slideLayout29.xml"/><Relationship Id="rId4" Type="http://schemas.openxmlformats.org/officeDocument/2006/relationships/image" Target="../media/image65.jpeg"/></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29.xml"/><Relationship Id="rId5" Type="http://schemas.openxmlformats.org/officeDocument/2006/relationships/image" Target="../media/image68.jpeg"/><Relationship Id="rId4" Type="http://schemas.openxmlformats.org/officeDocument/2006/relationships/image" Target="../media/image67.jpeg"/></Relationships>
</file>

<file path=ppt/slides/_rels/slide5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48.xml"/><Relationship Id="rId1" Type="http://schemas.openxmlformats.org/officeDocument/2006/relationships/slideLayout" Target="../slideLayouts/slideLayout29.xml"/><Relationship Id="rId4" Type="http://schemas.openxmlformats.org/officeDocument/2006/relationships/image" Target="../media/image70.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0.xml"/><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2.jpeg"/><Relationship Id="rId7" Type="http://schemas.openxmlformats.org/officeDocument/2006/relationships/diagramColors" Target="../diagrams/colors3.xml"/><Relationship Id="rId2" Type="http://schemas.openxmlformats.org/officeDocument/2006/relationships/notesSlide" Target="../notesSlides/notesSlide51.xml"/><Relationship Id="rId1" Type="http://schemas.openxmlformats.org/officeDocument/2006/relationships/slideLayout" Target="../slideLayouts/slideLayout29.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3.xml"/><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2883C-D2AB-BA29-91E1-BC75096DAF0C}"/>
              </a:ext>
            </a:extLst>
          </p:cNvPr>
          <p:cNvSpPr>
            <a:spLocks noGrp="1"/>
          </p:cNvSpPr>
          <p:nvPr>
            <p:ph type="ctrTitle"/>
          </p:nvPr>
        </p:nvSpPr>
        <p:spPr>
          <a:xfrm>
            <a:off x="130055" y="661706"/>
            <a:ext cx="5660571" cy="930138"/>
          </a:xfrm>
        </p:spPr>
        <p:txBody>
          <a:bodyPr anchor="b">
            <a:normAutofit fontScale="90000"/>
          </a:bodyPr>
          <a:lstStyle/>
          <a:p>
            <a:r>
              <a:rPr lang="en-CA" sz="4000" dirty="0">
                <a:solidFill>
                  <a:srgbClr val="595959"/>
                </a:solidFill>
              </a:rPr>
              <a:t>Module 3: Integumentary I</a:t>
            </a:r>
          </a:p>
        </p:txBody>
      </p:sp>
      <p:sp>
        <p:nvSpPr>
          <p:cNvPr id="3" name="Subtitle 2">
            <a:extLst>
              <a:ext uri="{FF2B5EF4-FFF2-40B4-BE49-F238E27FC236}">
                <a16:creationId xmlns:a16="http://schemas.microsoft.com/office/drawing/2014/main" id="{2CAD84D6-6DF8-77D1-48A4-EFD1A74AF32F}"/>
              </a:ext>
            </a:extLst>
          </p:cNvPr>
          <p:cNvSpPr>
            <a:spLocks noGrp="1"/>
          </p:cNvSpPr>
          <p:nvPr>
            <p:ph type="subTitle" idx="1"/>
          </p:nvPr>
        </p:nvSpPr>
        <p:spPr>
          <a:xfrm>
            <a:off x="510238" y="3271765"/>
            <a:ext cx="4900203" cy="2100492"/>
          </a:xfrm>
        </p:spPr>
        <p:txBody>
          <a:bodyPr anchor="t">
            <a:normAutofit/>
          </a:bodyPr>
          <a:lstStyle/>
          <a:p>
            <a:pPr>
              <a:spcBef>
                <a:spcPts val="0"/>
              </a:spcBef>
            </a:pPr>
            <a:r>
              <a:rPr lang="en-CA" dirty="0">
                <a:solidFill>
                  <a:srgbClr val="595959"/>
                </a:solidFill>
              </a:rPr>
              <a:t>Gabrielle Heil, MN, NP</a:t>
            </a:r>
          </a:p>
          <a:p>
            <a:pPr>
              <a:spcBef>
                <a:spcPts val="0"/>
              </a:spcBef>
            </a:pPr>
            <a:r>
              <a:rPr lang="en-CA" dirty="0">
                <a:solidFill>
                  <a:srgbClr val="595959"/>
                </a:solidFill>
              </a:rPr>
              <a:t>September 24, 2026</a:t>
            </a:r>
          </a:p>
        </p:txBody>
      </p:sp>
      <p:pic>
        <p:nvPicPr>
          <p:cNvPr id="5" name="Picture 4" descr="A diagram of a human body&#10;&#10;AI-generated content may be incorrect.">
            <a:extLst>
              <a:ext uri="{FF2B5EF4-FFF2-40B4-BE49-F238E27FC236}">
                <a16:creationId xmlns:a16="http://schemas.microsoft.com/office/drawing/2014/main" id="{3DFE8C72-520C-40BA-C33C-30149053736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790626" y="-194179"/>
            <a:ext cx="6401374" cy="7246357"/>
          </a:xfrm>
          <a:prstGeom prst="rect">
            <a:avLst/>
          </a:prstGeom>
        </p:spPr>
      </p:pic>
    </p:spTree>
    <p:extLst>
      <p:ext uri="{BB962C8B-B14F-4D97-AF65-F5344CB8AC3E}">
        <p14:creationId xmlns:p14="http://schemas.microsoft.com/office/powerpoint/2010/main" val="4266298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8649-FECF-E977-74F9-E7C506D729F4}"/>
              </a:ext>
            </a:extLst>
          </p:cNvPr>
          <p:cNvSpPr>
            <a:spLocks noGrp="1"/>
          </p:cNvSpPr>
          <p:nvPr>
            <p:ph type="ctrTitle"/>
          </p:nvPr>
        </p:nvSpPr>
        <p:spPr>
          <a:xfrm>
            <a:off x="1323278" y="301082"/>
            <a:ext cx="9144000" cy="1023241"/>
          </a:xfrm>
        </p:spPr>
        <p:txBody>
          <a:bodyPr>
            <a:normAutofit/>
          </a:bodyPr>
          <a:lstStyle/>
          <a:p>
            <a:r>
              <a:rPr lang="en-CA" sz="4000" dirty="0">
                <a:solidFill>
                  <a:srgbClr val="595959"/>
                </a:solidFill>
              </a:rPr>
              <a:t>Reminders</a:t>
            </a:r>
          </a:p>
        </p:txBody>
      </p:sp>
      <p:sp>
        <p:nvSpPr>
          <p:cNvPr id="3" name="Subtitle 2">
            <a:extLst>
              <a:ext uri="{FF2B5EF4-FFF2-40B4-BE49-F238E27FC236}">
                <a16:creationId xmlns:a16="http://schemas.microsoft.com/office/drawing/2014/main" id="{4707BE79-7327-7573-F2FE-C2DFE8AE4950}"/>
              </a:ext>
            </a:extLst>
          </p:cNvPr>
          <p:cNvSpPr>
            <a:spLocks noGrp="1"/>
          </p:cNvSpPr>
          <p:nvPr>
            <p:ph type="subTitle" idx="1"/>
          </p:nvPr>
        </p:nvSpPr>
        <p:spPr>
          <a:xfrm>
            <a:off x="386574" y="2063170"/>
            <a:ext cx="11500625" cy="4493748"/>
          </a:xfrm>
        </p:spPr>
        <p:txBody>
          <a:bodyPr/>
          <a:lstStyle/>
          <a:p>
            <a:pPr marL="457200" indent="-457200" algn="l">
              <a:buFont typeface="+mj-lt"/>
              <a:buAutoNum type="arabicPeriod"/>
            </a:pPr>
            <a:r>
              <a:rPr lang="en-CA" b="1" dirty="0"/>
              <a:t>Learning Plan </a:t>
            </a:r>
            <a:r>
              <a:rPr lang="en-CA" dirty="0"/>
              <a:t>due September 25 (tomorrow)</a:t>
            </a:r>
          </a:p>
          <a:p>
            <a:pPr marL="457200" indent="-457200" algn="l">
              <a:buFont typeface="+mj-lt"/>
              <a:buAutoNum type="arabicPeriod"/>
            </a:pPr>
            <a:r>
              <a:rPr lang="en-CA" b="1" dirty="0"/>
              <a:t>Clinical Hours </a:t>
            </a:r>
            <a:r>
              <a:rPr lang="en-CA" dirty="0"/>
              <a:t>– you are responsible for tracking these and notifying me if there are concerns with your ability to meet the minimum</a:t>
            </a:r>
          </a:p>
          <a:p>
            <a:pPr marL="457200" indent="-457200" algn="l">
              <a:buFont typeface="+mj-lt"/>
              <a:buAutoNum type="arabicPeriod"/>
            </a:pPr>
            <a:r>
              <a:rPr lang="en-CA" b="1" dirty="0"/>
              <a:t>Clinical Logs </a:t>
            </a:r>
            <a:r>
              <a:rPr lang="en-CA" dirty="0"/>
              <a:t>– these are meant to be done at least weekly; I recommend doing them daily so the info is fresh in your mind. </a:t>
            </a:r>
          </a:p>
          <a:p>
            <a:pPr marL="1371600" lvl="2" indent="-457200" algn="l">
              <a:buFont typeface="Arial" panose="020B0604020202020204" pitchFamily="34" charset="0"/>
              <a:buChar char="•"/>
            </a:pPr>
            <a:r>
              <a:rPr lang="en-CA" dirty="0"/>
              <a:t>The duration for each appointment can be left blank, and instead just put the total duration of your shift on the last encounter of the day. </a:t>
            </a:r>
          </a:p>
          <a:p>
            <a:pPr marL="457200" indent="-457200" algn="l">
              <a:buFont typeface="+mj-lt"/>
              <a:buAutoNum type="arabicPeriod"/>
            </a:pPr>
            <a:r>
              <a:rPr lang="en-CA" b="1" dirty="0"/>
              <a:t>Critique of an Assessment Tool </a:t>
            </a:r>
            <a:r>
              <a:rPr lang="en-CA" dirty="0"/>
              <a:t>– reminder to email me with your chosen tool. </a:t>
            </a:r>
          </a:p>
          <a:p>
            <a:pPr marL="1371600" lvl="2" indent="-457200" algn="l">
              <a:buFont typeface="Arial" panose="020B0604020202020204" pitchFamily="34" charset="0"/>
              <a:buChar char="•"/>
            </a:pPr>
            <a:r>
              <a:rPr lang="en-CA" dirty="0"/>
              <a:t>I must approve the tool to ensure it meets the intended outcomes</a:t>
            </a:r>
          </a:p>
          <a:p>
            <a:pPr marL="1371600" lvl="2" indent="-457200" algn="l">
              <a:buFont typeface="Arial" panose="020B0604020202020204" pitchFamily="34" charset="0"/>
              <a:buChar char="•"/>
            </a:pPr>
            <a:r>
              <a:rPr lang="en-CA" dirty="0"/>
              <a:t>Nobody in this section can do the same tool, as part of the intention is knowledge sharing </a:t>
            </a:r>
          </a:p>
          <a:p>
            <a:pPr marL="1371600" lvl="2" indent="-457200" algn="l">
              <a:buFont typeface="Arial" panose="020B0604020202020204" pitchFamily="34" charset="0"/>
              <a:buChar char="•"/>
            </a:pPr>
            <a:endParaRPr lang="en-CA" dirty="0"/>
          </a:p>
          <a:p>
            <a:pPr marL="457200" indent="-457200" algn="l">
              <a:buFont typeface="Arial" panose="020B0604020202020204" pitchFamily="34" charset="0"/>
              <a:buChar char="•"/>
            </a:pPr>
            <a:endParaRPr lang="en-CA" dirty="0"/>
          </a:p>
          <a:p>
            <a:pPr marL="457200" indent="-457200" algn="l">
              <a:buFont typeface="+mj-lt"/>
              <a:buAutoNum type="arabicPeriod"/>
            </a:pPr>
            <a:endParaRPr lang="en-CA" dirty="0"/>
          </a:p>
        </p:txBody>
      </p:sp>
    </p:spTree>
    <p:extLst>
      <p:ext uri="{BB962C8B-B14F-4D97-AF65-F5344CB8AC3E}">
        <p14:creationId xmlns:p14="http://schemas.microsoft.com/office/powerpoint/2010/main" val="3853959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C8E09-B603-969F-16C8-7E05D4ADA27A}"/>
              </a:ext>
            </a:extLst>
          </p:cNvPr>
          <p:cNvSpPr>
            <a:spLocks noGrp="1"/>
          </p:cNvSpPr>
          <p:nvPr>
            <p:ph type="title"/>
          </p:nvPr>
        </p:nvSpPr>
        <p:spPr>
          <a:xfrm>
            <a:off x="1616053" y="546041"/>
            <a:ext cx="8959893" cy="1004836"/>
          </a:xfrm>
        </p:spPr>
        <p:txBody>
          <a:bodyPr anchor="ctr">
            <a:normAutofit/>
          </a:bodyPr>
          <a:lstStyle/>
          <a:p>
            <a:pPr algn="ctr"/>
            <a:r>
              <a:rPr lang="en-CA" sz="4000" dirty="0">
                <a:solidFill>
                  <a:srgbClr val="595959"/>
                </a:solidFill>
              </a:rPr>
              <a:t>Learning Outcomes</a:t>
            </a:r>
          </a:p>
        </p:txBody>
      </p:sp>
      <p:sp>
        <p:nvSpPr>
          <p:cNvPr id="3" name="Content Placeholder 2">
            <a:extLst>
              <a:ext uri="{FF2B5EF4-FFF2-40B4-BE49-F238E27FC236}">
                <a16:creationId xmlns:a16="http://schemas.microsoft.com/office/drawing/2014/main" id="{164438F9-C19D-12B6-D174-828E15D3C9DD}"/>
              </a:ext>
            </a:extLst>
          </p:cNvPr>
          <p:cNvSpPr>
            <a:spLocks noGrp="1"/>
          </p:cNvSpPr>
          <p:nvPr>
            <p:ph idx="1"/>
          </p:nvPr>
        </p:nvSpPr>
        <p:spPr>
          <a:xfrm>
            <a:off x="948690" y="2612571"/>
            <a:ext cx="10557509" cy="3374572"/>
          </a:xfrm>
        </p:spPr>
        <p:txBody>
          <a:bodyPr anchor="t">
            <a:normAutofit/>
          </a:bodyPr>
          <a:lstStyle/>
          <a:p>
            <a:pPr marL="0" indent="0">
              <a:buNone/>
            </a:pPr>
            <a:r>
              <a:rPr lang="en-US" sz="2400" dirty="0">
                <a:solidFill>
                  <a:schemeClr val="tx1">
                    <a:lumMod val="65000"/>
                    <a:lumOff val="35000"/>
                  </a:schemeClr>
                </a:solidFill>
              </a:rPr>
              <a:t>1. Use the </a:t>
            </a:r>
            <a:r>
              <a:rPr lang="en-US" sz="2400" i="1" dirty="0">
                <a:solidFill>
                  <a:schemeClr val="tx1">
                    <a:lumMod val="65000"/>
                    <a:lumOff val="35000"/>
                  </a:schemeClr>
                </a:solidFill>
              </a:rPr>
              <a:t>Diagnostic Reasoning Framework </a:t>
            </a:r>
            <a:r>
              <a:rPr lang="en-US" sz="2400" dirty="0">
                <a:solidFill>
                  <a:schemeClr val="tx1">
                    <a:lumMod val="65000"/>
                    <a:lumOff val="35000"/>
                  </a:schemeClr>
                </a:solidFill>
              </a:rPr>
              <a:t>to complete a thorough health assessment, determine appropriate screening or diagnostic investigations.</a:t>
            </a:r>
          </a:p>
          <a:p>
            <a:pPr marL="0" indent="0">
              <a:buNone/>
            </a:pPr>
            <a:r>
              <a:rPr lang="en-US" sz="2400" dirty="0">
                <a:solidFill>
                  <a:schemeClr val="tx1">
                    <a:lumMod val="65000"/>
                    <a:lumOff val="35000"/>
                  </a:schemeClr>
                </a:solidFill>
              </a:rPr>
              <a:t>2.  Distinguish the key features of selected conditions.</a:t>
            </a:r>
          </a:p>
          <a:p>
            <a:pPr marL="0" indent="0">
              <a:buNone/>
            </a:pPr>
            <a:r>
              <a:rPr lang="en-US" sz="2400" dirty="0">
                <a:solidFill>
                  <a:schemeClr val="tx1">
                    <a:lumMod val="65000"/>
                    <a:lumOff val="35000"/>
                  </a:schemeClr>
                </a:solidFill>
              </a:rPr>
              <a:t>3.  Assess and describe skin lesions.</a:t>
            </a:r>
          </a:p>
          <a:p>
            <a:pPr marL="0" indent="0">
              <a:buNone/>
            </a:pPr>
            <a:r>
              <a:rPr lang="en-US" sz="2400" dirty="0">
                <a:solidFill>
                  <a:schemeClr val="tx1">
                    <a:lumMod val="65000"/>
                    <a:lumOff val="35000"/>
                  </a:schemeClr>
                </a:solidFill>
              </a:rPr>
              <a:t>4.  Associate systemic diseases with selected manifestations.</a:t>
            </a:r>
          </a:p>
          <a:p>
            <a:pPr marL="0" indent="0">
              <a:buNone/>
            </a:pPr>
            <a:r>
              <a:rPr lang="en-US" sz="2400" dirty="0">
                <a:solidFill>
                  <a:schemeClr val="tx1">
                    <a:lumMod val="65000"/>
                    <a:lumOff val="35000"/>
                  </a:schemeClr>
                </a:solidFill>
              </a:rPr>
              <a:t>5.  Synthesize client data to determine a diagnosis for specific conditions</a:t>
            </a:r>
            <a:endParaRPr lang="en-CA" sz="2000" dirty="0">
              <a:solidFill>
                <a:schemeClr val="tx1">
                  <a:lumMod val="65000"/>
                  <a:lumOff val="35000"/>
                </a:schemeClr>
              </a:solidFill>
            </a:endParaRPr>
          </a:p>
        </p:txBody>
      </p:sp>
    </p:spTree>
    <p:extLst>
      <p:ext uri="{BB962C8B-B14F-4D97-AF65-F5344CB8AC3E}">
        <p14:creationId xmlns:p14="http://schemas.microsoft.com/office/powerpoint/2010/main" val="132456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D7A1E-2966-E777-BFAC-A08472B6E10A}"/>
              </a:ext>
            </a:extLst>
          </p:cNvPr>
          <p:cNvSpPr>
            <a:spLocks noGrp="1"/>
          </p:cNvSpPr>
          <p:nvPr>
            <p:ph type="title"/>
          </p:nvPr>
        </p:nvSpPr>
        <p:spPr>
          <a:xfrm>
            <a:off x="1616053" y="685800"/>
            <a:ext cx="8959893" cy="888360"/>
          </a:xfrm>
        </p:spPr>
        <p:txBody>
          <a:bodyPr anchor="b">
            <a:normAutofit/>
          </a:bodyPr>
          <a:lstStyle/>
          <a:p>
            <a:pPr algn="ctr"/>
            <a:r>
              <a:rPr lang="en-CA" sz="3800" dirty="0">
                <a:solidFill>
                  <a:schemeClr val="tx1">
                    <a:lumMod val="65000"/>
                    <a:lumOff val="35000"/>
                  </a:schemeClr>
                </a:solidFill>
              </a:rPr>
              <a:t>Agenda</a:t>
            </a:r>
          </a:p>
        </p:txBody>
      </p:sp>
      <p:sp>
        <p:nvSpPr>
          <p:cNvPr id="3" name="Content Placeholder 2">
            <a:extLst>
              <a:ext uri="{FF2B5EF4-FFF2-40B4-BE49-F238E27FC236}">
                <a16:creationId xmlns:a16="http://schemas.microsoft.com/office/drawing/2014/main" id="{968D527B-1AC7-C726-1CD1-F0AB466ADEFF}"/>
              </a:ext>
            </a:extLst>
          </p:cNvPr>
          <p:cNvSpPr>
            <a:spLocks noGrp="1"/>
          </p:cNvSpPr>
          <p:nvPr>
            <p:ph idx="1"/>
          </p:nvPr>
        </p:nvSpPr>
        <p:spPr>
          <a:xfrm>
            <a:off x="1051281" y="2410336"/>
            <a:ext cx="10334114" cy="4034790"/>
          </a:xfrm>
        </p:spPr>
        <p:txBody>
          <a:bodyPr anchor="t">
            <a:normAutofit lnSpcReduction="10000"/>
          </a:bodyPr>
          <a:lstStyle/>
          <a:p>
            <a:pPr marL="514350" indent="-514350">
              <a:buFont typeface="+mj-lt"/>
              <a:buAutoNum type="arabicPeriod"/>
            </a:pPr>
            <a:r>
              <a:rPr lang="en-US" sz="2600" dirty="0">
                <a:solidFill>
                  <a:schemeClr val="tx1">
                    <a:lumMod val="65000"/>
                    <a:lumOff val="35000"/>
                  </a:schemeClr>
                </a:solidFill>
              </a:rPr>
              <a:t>Any exciting stories from clinical? (15 minutes max)</a:t>
            </a:r>
          </a:p>
          <a:p>
            <a:pPr marL="514350" indent="-514350">
              <a:buFont typeface="+mj-lt"/>
              <a:buAutoNum type="arabicPeriod"/>
            </a:pPr>
            <a:r>
              <a:rPr lang="en-US" sz="2600" dirty="0">
                <a:solidFill>
                  <a:schemeClr val="tx1">
                    <a:lumMod val="65000"/>
                    <a:lumOff val="35000"/>
                  </a:schemeClr>
                </a:solidFill>
              </a:rPr>
              <a:t>Review the importance of health history</a:t>
            </a:r>
          </a:p>
          <a:p>
            <a:pPr marL="514350" indent="-514350">
              <a:buFont typeface="+mj-lt"/>
              <a:buAutoNum type="arabicPeriod"/>
            </a:pPr>
            <a:r>
              <a:rPr lang="en-US" sz="2600" dirty="0">
                <a:solidFill>
                  <a:schemeClr val="tx1">
                    <a:lumMod val="65000"/>
                    <a:lumOff val="35000"/>
                  </a:schemeClr>
                </a:solidFill>
              </a:rPr>
              <a:t>Discuss red flags </a:t>
            </a:r>
          </a:p>
          <a:p>
            <a:pPr marL="514350" indent="-514350">
              <a:buFont typeface="+mj-lt"/>
              <a:buAutoNum type="arabicPeriod"/>
            </a:pPr>
            <a:r>
              <a:rPr lang="en-US" sz="2600" dirty="0">
                <a:solidFill>
                  <a:schemeClr val="tx1">
                    <a:lumMod val="65000"/>
                    <a:lumOff val="35000"/>
                  </a:schemeClr>
                </a:solidFill>
              </a:rPr>
              <a:t>Review diagnostic investigations for skin</a:t>
            </a:r>
          </a:p>
          <a:p>
            <a:pPr marL="514350" indent="-514350">
              <a:buFont typeface="+mj-lt"/>
              <a:buAutoNum type="arabicPeriod"/>
            </a:pPr>
            <a:r>
              <a:rPr lang="en-US" sz="2600" dirty="0">
                <a:solidFill>
                  <a:schemeClr val="tx1">
                    <a:lumMod val="65000"/>
                    <a:lumOff val="35000"/>
                  </a:schemeClr>
                </a:solidFill>
              </a:rPr>
              <a:t>Group work &amp; mini-presentation about skin conditions</a:t>
            </a:r>
          </a:p>
          <a:p>
            <a:pPr marL="514350" indent="-514350">
              <a:buFont typeface="+mj-lt"/>
              <a:buAutoNum type="arabicPeriod"/>
            </a:pPr>
            <a:r>
              <a:rPr lang="en-US" sz="2600" dirty="0">
                <a:solidFill>
                  <a:schemeClr val="tx1">
                    <a:lumMod val="65000"/>
                    <a:lumOff val="35000"/>
                  </a:schemeClr>
                </a:solidFill>
              </a:rPr>
              <a:t>Discuss dermatological manifestations of systemic diseases (lupus, diabetes, Paget’s disease, scleroderma).</a:t>
            </a:r>
            <a:br>
              <a:rPr lang="en-US" sz="2600" dirty="0">
                <a:solidFill>
                  <a:schemeClr val="tx1">
                    <a:lumMod val="65000"/>
                    <a:lumOff val="35000"/>
                  </a:schemeClr>
                </a:solidFill>
              </a:rPr>
            </a:br>
            <a:endParaRPr lang="en-US" sz="2600" dirty="0">
              <a:solidFill>
                <a:schemeClr val="tx1">
                  <a:lumMod val="65000"/>
                  <a:lumOff val="35000"/>
                </a:schemeClr>
              </a:solidFill>
            </a:endParaRPr>
          </a:p>
          <a:p>
            <a:endParaRPr lang="en-CA" sz="1700" dirty="0">
              <a:solidFill>
                <a:schemeClr val="tx1">
                  <a:lumMod val="65000"/>
                  <a:lumOff val="35000"/>
                </a:schemeClr>
              </a:solidFill>
            </a:endParaRPr>
          </a:p>
        </p:txBody>
      </p:sp>
    </p:spTree>
    <p:extLst>
      <p:ext uri="{BB962C8B-B14F-4D97-AF65-F5344CB8AC3E}">
        <p14:creationId xmlns:p14="http://schemas.microsoft.com/office/powerpoint/2010/main" val="68351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2F472-F1D6-18D8-591E-0AB0E88D17C8}"/>
              </a:ext>
            </a:extLst>
          </p:cNvPr>
          <p:cNvSpPr>
            <a:spLocks noGrp="1"/>
          </p:cNvSpPr>
          <p:nvPr>
            <p:ph type="title"/>
          </p:nvPr>
        </p:nvSpPr>
        <p:spPr/>
        <p:txBody>
          <a:bodyPr/>
          <a:lstStyle/>
          <a:p>
            <a:r>
              <a:rPr lang="en-CA" dirty="0">
                <a:solidFill>
                  <a:srgbClr val="595959"/>
                </a:solidFill>
              </a:rPr>
              <a:t>Resource</a:t>
            </a:r>
          </a:p>
        </p:txBody>
      </p:sp>
      <p:sp>
        <p:nvSpPr>
          <p:cNvPr id="3" name="Content Placeholder 2">
            <a:extLst>
              <a:ext uri="{FF2B5EF4-FFF2-40B4-BE49-F238E27FC236}">
                <a16:creationId xmlns:a16="http://schemas.microsoft.com/office/drawing/2014/main" id="{ADD48B57-8BDC-8C50-2931-CDE8AC7619DB}"/>
              </a:ext>
            </a:extLst>
          </p:cNvPr>
          <p:cNvSpPr>
            <a:spLocks noGrp="1"/>
          </p:cNvSpPr>
          <p:nvPr>
            <p:ph idx="1"/>
          </p:nvPr>
        </p:nvSpPr>
        <p:spPr/>
        <p:txBody>
          <a:bodyPr>
            <a:normAutofit fontScale="77500" lnSpcReduction="20000"/>
          </a:bodyPr>
          <a:lstStyle/>
          <a:p>
            <a:r>
              <a:rPr lang="en-CA" sz="3200" dirty="0">
                <a:hlinkClick r:id="rId2" action="ppaction://hlinkfile"/>
              </a:rPr>
              <a:t>Dermnetnz.org/topics/benign-skin-lesions </a:t>
            </a:r>
            <a:endParaRPr lang="en-CA" sz="3200" dirty="0"/>
          </a:p>
          <a:p>
            <a:r>
              <a:rPr lang="en-CA" sz="2400" dirty="0"/>
              <a:t>Outlines many benign conditions</a:t>
            </a:r>
          </a:p>
          <a:p>
            <a:pPr lvl="1"/>
            <a:r>
              <a:rPr lang="en-CA" sz="2400" dirty="0"/>
              <a:t>Normal nevi</a:t>
            </a:r>
          </a:p>
          <a:p>
            <a:pPr lvl="1"/>
            <a:r>
              <a:rPr lang="en-CA" sz="2400" dirty="0"/>
              <a:t>Freckles</a:t>
            </a:r>
          </a:p>
          <a:p>
            <a:pPr lvl="1"/>
            <a:r>
              <a:rPr lang="en-CA" sz="2400" dirty="0"/>
              <a:t>Lentigo simplex</a:t>
            </a:r>
          </a:p>
          <a:p>
            <a:pPr lvl="1"/>
            <a:r>
              <a:rPr lang="en-CA" sz="2400" dirty="0"/>
              <a:t>Solar lentigo</a:t>
            </a:r>
          </a:p>
          <a:p>
            <a:pPr lvl="1"/>
            <a:r>
              <a:rPr lang="en-CA" sz="2400" dirty="0"/>
              <a:t>Seborrheic keratoses</a:t>
            </a:r>
          </a:p>
          <a:p>
            <a:pPr lvl="1"/>
            <a:r>
              <a:rPr lang="en-CA" sz="2400" dirty="0"/>
              <a:t>Stucco keratoses</a:t>
            </a:r>
          </a:p>
          <a:p>
            <a:pPr lvl="1"/>
            <a:r>
              <a:rPr lang="en-CA" sz="2400" dirty="0"/>
              <a:t>Cysts</a:t>
            </a:r>
          </a:p>
          <a:p>
            <a:pPr lvl="1"/>
            <a:r>
              <a:rPr lang="en-CA" sz="2400" dirty="0"/>
              <a:t>Corns</a:t>
            </a:r>
          </a:p>
          <a:p>
            <a:pPr lvl="1"/>
            <a:r>
              <a:rPr lang="en-CA" sz="2400" dirty="0"/>
              <a:t>Angiomas</a:t>
            </a:r>
          </a:p>
          <a:p>
            <a:pPr lvl="1"/>
            <a:r>
              <a:rPr lang="en-CA" sz="2400" dirty="0"/>
              <a:t>Dermatofibroma…</a:t>
            </a:r>
          </a:p>
        </p:txBody>
      </p:sp>
    </p:spTree>
    <p:extLst>
      <p:ext uri="{BB962C8B-B14F-4D97-AF65-F5344CB8AC3E}">
        <p14:creationId xmlns:p14="http://schemas.microsoft.com/office/powerpoint/2010/main" val="2790754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5210-F51B-64B6-9693-E5792D2E4E77}"/>
              </a:ext>
            </a:extLst>
          </p:cNvPr>
          <p:cNvSpPr>
            <a:spLocks noGrp="1"/>
          </p:cNvSpPr>
          <p:nvPr>
            <p:ph type="title"/>
          </p:nvPr>
        </p:nvSpPr>
        <p:spPr>
          <a:xfrm>
            <a:off x="289931" y="685799"/>
            <a:ext cx="7743538" cy="1004836"/>
          </a:xfrm>
        </p:spPr>
        <p:txBody>
          <a:bodyPr anchor="ctr">
            <a:normAutofit/>
          </a:bodyPr>
          <a:lstStyle/>
          <a:p>
            <a:r>
              <a:rPr lang="en-CA" sz="4000" dirty="0">
                <a:solidFill>
                  <a:srgbClr val="595959"/>
                </a:solidFill>
              </a:rPr>
              <a:t>Common Diagnoses</a:t>
            </a:r>
          </a:p>
        </p:txBody>
      </p:sp>
      <p:sp>
        <p:nvSpPr>
          <p:cNvPr id="14" name="Content Placeholder 2">
            <a:extLst>
              <a:ext uri="{FF2B5EF4-FFF2-40B4-BE49-F238E27FC236}">
                <a16:creationId xmlns:a16="http://schemas.microsoft.com/office/drawing/2014/main" id="{C92A8CD7-1237-0227-22C9-88D8ED3E3642}"/>
              </a:ext>
            </a:extLst>
          </p:cNvPr>
          <p:cNvSpPr>
            <a:spLocks noGrp="1"/>
          </p:cNvSpPr>
          <p:nvPr>
            <p:ph idx="1"/>
          </p:nvPr>
        </p:nvSpPr>
        <p:spPr>
          <a:xfrm>
            <a:off x="1132114" y="2564781"/>
            <a:ext cx="10003972" cy="3607420"/>
          </a:xfrm>
        </p:spPr>
        <p:txBody>
          <a:bodyPr numCol="3" anchor="t">
            <a:normAutofit fontScale="85000" lnSpcReduction="20000"/>
          </a:bodyPr>
          <a:lstStyle/>
          <a:p>
            <a:r>
              <a:rPr lang="en-CA" sz="2400" dirty="0">
                <a:solidFill>
                  <a:schemeClr val="tx1">
                    <a:lumMod val="65000"/>
                    <a:lumOff val="35000"/>
                  </a:schemeClr>
                </a:solidFill>
              </a:rPr>
              <a:t>Abscess, furuncles &amp; carbuncles</a:t>
            </a:r>
          </a:p>
          <a:p>
            <a:r>
              <a:rPr lang="en-CA" sz="2400" dirty="0">
                <a:solidFill>
                  <a:schemeClr val="tx1">
                    <a:lumMod val="65000"/>
                    <a:lumOff val="35000"/>
                  </a:schemeClr>
                </a:solidFill>
              </a:rPr>
              <a:t>Acne</a:t>
            </a:r>
          </a:p>
          <a:p>
            <a:r>
              <a:rPr lang="en-CA" sz="2400" dirty="0">
                <a:solidFill>
                  <a:schemeClr val="tx1">
                    <a:lumMod val="65000"/>
                    <a:lumOff val="35000"/>
                  </a:schemeClr>
                </a:solidFill>
              </a:rPr>
              <a:t>Candidiasis</a:t>
            </a:r>
          </a:p>
          <a:p>
            <a:r>
              <a:rPr lang="en-CA" sz="2400" dirty="0">
                <a:solidFill>
                  <a:schemeClr val="tx1">
                    <a:lumMod val="65000"/>
                    <a:lumOff val="35000"/>
                  </a:schemeClr>
                </a:solidFill>
              </a:rPr>
              <a:t>Cellulitis</a:t>
            </a:r>
          </a:p>
          <a:p>
            <a:r>
              <a:rPr lang="en-CA" sz="2400" dirty="0">
                <a:solidFill>
                  <a:schemeClr val="tx1">
                    <a:lumMod val="65000"/>
                    <a:lumOff val="35000"/>
                  </a:schemeClr>
                </a:solidFill>
              </a:rPr>
              <a:t>Dermatitis: atopic, contact, &amp; seborrheic dermatitis</a:t>
            </a:r>
          </a:p>
          <a:p>
            <a:r>
              <a:rPr lang="en-CA" sz="2400" dirty="0">
                <a:solidFill>
                  <a:schemeClr val="tx1">
                    <a:lumMod val="65000"/>
                    <a:lumOff val="35000"/>
                  </a:schemeClr>
                </a:solidFill>
              </a:rPr>
              <a:t>Epidermoid cysts</a:t>
            </a:r>
          </a:p>
          <a:p>
            <a:r>
              <a:rPr lang="en-CA" sz="2400" dirty="0">
                <a:solidFill>
                  <a:schemeClr val="tx1">
                    <a:lumMod val="65000"/>
                    <a:lumOff val="35000"/>
                  </a:schemeClr>
                </a:solidFill>
              </a:rPr>
              <a:t>Folliculitis (including pseudofolliculitis barbae) </a:t>
            </a:r>
          </a:p>
          <a:p>
            <a:r>
              <a:rPr lang="en-CA" sz="2400" dirty="0">
                <a:solidFill>
                  <a:schemeClr val="tx1">
                    <a:lumMod val="65000"/>
                    <a:lumOff val="35000"/>
                  </a:schemeClr>
                </a:solidFill>
              </a:rPr>
              <a:t>Herpes simplex</a:t>
            </a:r>
          </a:p>
          <a:p>
            <a:r>
              <a:rPr lang="en-CA" sz="2400" dirty="0">
                <a:solidFill>
                  <a:schemeClr val="tx1">
                    <a:lumMod val="65000"/>
                    <a:lumOff val="35000"/>
                  </a:schemeClr>
                </a:solidFill>
              </a:rPr>
              <a:t>Herpes zoster</a:t>
            </a:r>
          </a:p>
          <a:p>
            <a:r>
              <a:rPr lang="en-CA" sz="2400" dirty="0">
                <a:solidFill>
                  <a:schemeClr val="tx1">
                    <a:lumMod val="65000"/>
                    <a:lumOff val="35000"/>
                  </a:schemeClr>
                </a:solidFill>
              </a:rPr>
              <a:t>Impetigo</a:t>
            </a:r>
          </a:p>
          <a:p>
            <a:r>
              <a:rPr lang="en-CA" sz="2400" dirty="0">
                <a:solidFill>
                  <a:schemeClr val="tx1">
                    <a:lumMod val="65000"/>
                    <a:lumOff val="35000"/>
                  </a:schemeClr>
                </a:solidFill>
              </a:rPr>
              <a:t>Insect bites</a:t>
            </a:r>
          </a:p>
          <a:p>
            <a:r>
              <a:rPr lang="en-CA" sz="2400" dirty="0">
                <a:solidFill>
                  <a:schemeClr val="tx1">
                    <a:lumMod val="65000"/>
                    <a:lumOff val="35000"/>
                  </a:schemeClr>
                </a:solidFill>
              </a:rPr>
              <a:t>Keratosis</a:t>
            </a:r>
          </a:p>
          <a:p>
            <a:r>
              <a:rPr lang="en-CA" sz="2400" dirty="0">
                <a:solidFill>
                  <a:schemeClr val="tx1">
                    <a:lumMod val="65000"/>
                    <a:lumOff val="35000"/>
                  </a:schemeClr>
                </a:solidFill>
              </a:rPr>
              <a:t>Lichen planus</a:t>
            </a:r>
          </a:p>
          <a:p>
            <a:r>
              <a:rPr lang="en-CA" sz="2400" dirty="0">
                <a:solidFill>
                  <a:schemeClr val="tx1">
                    <a:lumMod val="65000"/>
                    <a:lumOff val="35000"/>
                  </a:schemeClr>
                </a:solidFill>
              </a:rPr>
              <a:t>Lipoma</a:t>
            </a:r>
          </a:p>
          <a:p>
            <a:r>
              <a:rPr lang="en-CA" sz="2400" dirty="0">
                <a:solidFill>
                  <a:schemeClr val="tx1">
                    <a:lumMod val="65000"/>
                    <a:lumOff val="35000"/>
                  </a:schemeClr>
                </a:solidFill>
              </a:rPr>
              <a:t>Lyme disease</a:t>
            </a:r>
          </a:p>
          <a:p>
            <a:r>
              <a:rPr lang="en-CA" sz="2400" dirty="0">
                <a:solidFill>
                  <a:schemeClr val="tx1">
                    <a:lumMod val="65000"/>
                    <a:lumOff val="35000"/>
                  </a:schemeClr>
                </a:solidFill>
              </a:rPr>
              <a:t>Molluscum contagiosum</a:t>
            </a:r>
          </a:p>
          <a:p>
            <a:r>
              <a:rPr lang="en-CA" sz="2400" dirty="0">
                <a:solidFill>
                  <a:schemeClr val="tx1">
                    <a:lumMod val="65000"/>
                    <a:lumOff val="35000"/>
                  </a:schemeClr>
                </a:solidFill>
              </a:rPr>
              <a:t>Pediculosis</a:t>
            </a:r>
          </a:p>
          <a:p>
            <a:r>
              <a:rPr lang="en-CA" sz="2400" dirty="0">
                <a:solidFill>
                  <a:schemeClr val="tx1">
                    <a:lumMod val="65000"/>
                    <a:lumOff val="35000"/>
                  </a:schemeClr>
                </a:solidFill>
              </a:rPr>
              <a:t>Pityriasis rosea</a:t>
            </a:r>
          </a:p>
          <a:p>
            <a:r>
              <a:rPr lang="en-CA" sz="2400" dirty="0">
                <a:solidFill>
                  <a:schemeClr val="tx1">
                    <a:lumMod val="65000"/>
                    <a:lumOff val="35000"/>
                  </a:schemeClr>
                </a:solidFill>
              </a:rPr>
              <a:t>Psoriasis</a:t>
            </a:r>
          </a:p>
          <a:p>
            <a:r>
              <a:rPr lang="en-CA" sz="2400" dirty="0">
                <a:solidFill>
                  <a:schemeClr val="tx1">
                    <a:lumMod val="65000"/>
                    <a:lumOff val="35000"/>
                  </a:schemeClr>
                </a:solidFill>
              </a:rPr>
              <a:t>Rosacea</a:t>
            </a:r>
          </a:p>
          <a:p>
            <a:r>
              <a:rPr lang="en-CA" sz="2400" dirty="0">
                <a:solidFill>
                  <a:schemeClr val="tx1">
                    <a:lumMod val="65000"/>
                    <a:lumOff val="35000"/>
                  </a:schemeClr>
                </a:solidFill>
              </a:rPr>
              <a:t>Scabies</a:t>
            </a:r>
          </a:p>
          <a:p>
            <a:r>
              <a:rPr lang="en-CA" sz="2400" dirty="0">
                <a:solidFill>
                  <a:schemeClr val="tx1">
                    <a:lumMod val="65000"/>
                    <a:lumOff val="35000"/>
                  </a:schemeClr>
                </a:solidFill>
              </a:rPr>
              <a:t>Tinea</a:t>
            </a:r>
          </a:p>
          <a:p>
            <a:r>
              <a:rPr lang="en-CA" sz="2400" dirty="0">
                <a:solidFill>
                  <a:schemeClr val="tx1">
                    <a:lumMod val="65000"/>
                    <a:lumOff val="35000"/>
                  </a:schemeClr>
                </a:solidFill>
              </a:rPr>
              <a:t>Urticaria</a:t>
            </a:r>
          </a:p>
          <a:p>
            <a:r>
              <a:rPr lang="en-CA" sz="2400" dirty="0">
                <a:solidFill>
                  <a:schemeClr val="tx1">
                    <a:lumMod val="65000"/>
                    <a:lumOff val="35000"/>
                  </a:schemeClr>
                </a:solidFill>
              </a:rPr>
              <a:t>Warts</a:t>
            </a:r>
          </a:p>
          <a:p>
            <a:endParaRPr lang="en-CA" sz="1300" dirty="0">
              <a:solidFill>
                <a:schemeClr val="tx1">
                  <a:lumMod val="65000"/>
                  <a:lumOff val="35000"/>
                </a:schemeClr>
              </a:solidFill>
            </a:endParaRPr>
          </a:p>
        </p:txBody>
      </p:sp>
    </p:spTree>
    <p:extLst>
      <p:ext uri="{BB962C8B-B14F-4D97-AF65-F5344CB8AC3E}">
        <p14:creationId xmlns:p14="http://schemas.microsoft.com/office/powerpoint/2010/main" val="2661684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50C7-9583-BF31-D022-492B5C13D920}"/>
              </a:ext>
            </a:extLst>
          </p:cNvPr>
          <p:cNvSpPr>
            <a:spLocks noGrp="1"/>
          </p:cNvSpPr>
          <p:nvPr>
            <p:ph type="title"/>
          </p:nvPr>
        </p:nvSpPr>
        <p:spPr>
          <a:xfrm>
            <a:off x="511687" y="377770"/>
            <a:ext cx="10886440" cy="904875"/>
          </a:xfrm>
        </p:spPr>
        <p:txBody>
          <a:bodyPr>
            <a:normAutofit/>
          </a:bodyPr>
          <a:lstStyle/>
          <a:p>
            <a:pPr algn="ctr"/>
            <a:r>
              <a:rPr lang="en-CA" sz="4000" dirty="0">
                <a:solidFill>
                  <a:srgbClr val="595959"/>
                </a:solidFill>
              </a:rPr>
              <a:t>History Taking</a:t>
            </a:r>
          </a:p>
        </p:txBody>
      </p:sp>
      <p:sp>
        <p:nvSpPr>
          <p:cNvPr id="3" name="Content Placeholder 2">
            <a:extLst>
              <a:ext uri="{FF2B5EF4-FFF2-40B4-BE49-F238E27FC236}">
                <a16:creationId xmlns:a16="http://schemas.microsoft.com/office/drawing/2014/main" id="{E408D9CB-1A5B-4FF2-1C44-B4486F01104D}"/>
              </a:ext>
            </a:extLst>
          </p:cNvPr>
          <p:cNvSpPr>
            <a:spLocks noGrp="1"/>
          </p:cNvSpPr>
          <p:nvPr>
            <p:ph idx="1"/>
          </p:nvPr>
        </p:nvSpPr>
        <p:spPr>
          <a:xfrm>
            <a:off x="215265" y="1805360"/>
            <a:ext cx="11761470" cy="5166995"/>
          </a:xfrm>
        </p:spPr>
        <p:txBody>
          <a:bodyPr>
            <a:noAutofit/>
          </a:bodyPr>
          <a:lstStyle/>
          <a:p>
            <a:r>
              <a:rPr lang="en-CA" sz="2400" b="1" dirty="0"/>
              <a:t>O</a:t>
            </a:r>
            <a:r>
              <a:rPr lang="en-CA" sz="2400" dirty="0"/>
              <a:t>nset/duration: </a:t>
            </a:r>
            <a:r>
              <a:rPr lang="en-CA" sz="2000" dirty="0"/>
              <a:t>When did the skin issue start? Did it start suddenly or gradually? </a:t>
            </a:r>
          </a:p>
          <a:p>
            <a:r>
              <a:rPr lang="en-CA" sz="2400" b="1" dirty="0"/>
              <a:t>P</a:t>
            </a:r>
            <a:r>
              <a:rPr lang="en-CA" sz="2400" dirty="0"/>
              <a:t>rovoking/</a:t>
            </a:r>
            <a:r>
              <a:rPr lang="en-CA" sz="2400" b="1" dirty="0"/>
              <a:t>P</a:t>
            </a:r>
            <a:r>
              <a:rPr lang="en-CA" sz="2400" dirty="0"/>
              <a:t>alliating: </a:t>
            </a:r>
            <a:r>
              <a:rPr lang="en-CA" sz="2000" dirty="0"/>
              <a:t>What makes it worse (</a:t>
            </a:r>
            <a:r>
              <a:rPr lang="en-CA" sz="2000" dirty="0" err="1"/>
              <a:t>ie</a:t>
            </a:r>
            <a:r>
              <a:rPr lang="en-CA" sz="2000" dirty="0"/>
              <a:t>. heat, sun, scratching, fabrics, soaps)? Any environmental, infectious exposures? What makes it better (</a:t>
            </a:r>
            <a:r>
              <a:rPr lang="en-CA" sz="2000" dirty="0" err="1"/>
              <a:t>ie</a:t>
            </a:r>
            <a:r>
              <a:rPr lang="en-CA" sz="2000" dirty="0"/>
              <a:t>. rest, cool compress, creams, antihistamines, topical steroids)? </a:t>
            </a:r>
          </a:p>
          <a:p>
            <a:r>
              <a:rPr lang="en-CA" sz="2400" b="1" dirty="0"/>
              <a:t>Q</a:t>
            </a:r>
            <a:r>
              <a:rPr lang="en-CA" sz="2400" dirty="0"/>
              <a:t>uality: </a:t>
            </a:r>
            <a:r>
              <a:rPr lang="en-CA" sz="2000" dirty="0"/>
              <a:t>How would you describe the lesion or sensation (</a:t>
            </a:r>
            <a:r>
              <a:rPr lang="en-CA" sz="2000" dirty="0" err="1"/>
              <a:t>ie</a:t>
            </a:r>
            <a:r>
              <a:rPr lang="en-CA" sz="2000" dirty="0"/>
              <a:t>. itchy, burning, painful, oozing, scaling)? Any discharge, pus or bleeding?</a:t>
            </a:r>
          </a:p>
          <a:p>
            <a:r>
              <a:rPr lang="en-CA" sz="2400" b="1" dirty="0"/>
              <a:t>R</a:t>
            </a:r>
            <a:r>
              <a:rPr lang="en-CA" sz="2400" dirty="0"/>
              <a:t>egion/</a:t>
            </a:r>
            <a:r>
              <a:rPr lang="en-CA" sz="2400" b="1" dirty="0"/>
              <a:t>R</a:t>
            </a:r>
            <a:r>
              <a:rPr lang="en-CA" sz="2400" dirty="0"/>
              <a:t>adiation: </a:t>
            </a:r>
            <a:r>
              <a:rPr lang="en-CA" sz="2000" dirty="0"/>
              <a:t>Where on your body did it start? Has it spread to other areas? Is it limited to certain regions, flexor/extensor surfaces or contact areas? </a:t>
            </a:r>
          </a:p>
          <a:p>
            <a:r>
              <a:rPr lang="en-CA" sz="2400" b="1" dirty="0"/>
              <a:t>S</a:t>
            </a:r>
            <a:r>
              <a:rPr lang="en-CA" sz="2400" dirty="0"/>
              <a:t>everity: </a:t>
            </a:r>
            <a:r>
              <a:rPr lang="en-CA" sz="2000" dirty="0"/>
              <a:t>How bothersome is it on a scale of 0-10? Are there associated symptoms?</a:t>
            </a:r>
          </a:p>
          <a:p>
            <a:r>
              <a:rPr lang="en-CA" sz="2400" b="1" dirty="0"/>
              <a:t>T</a:t>
            </a:r>
            <a:r>
              <a:rPr lang="en-CA" sz="2400" dirty="0"/>
              <a:t>iming/progression: </a:t>
            </a:r>
            <a:r>
              <a:rPr lang="en-CA" sz="2000" dirty="0"/>
              <a:t>Is it constant or intermittent? Does it flare at certain times (seasonal, after meals, during stress)? Any recent travel history? Is it getting worse?</a:t>
            </a:r>
          </a:p>
          <a:p>
            <a:r>
              <a:rPr lang="en-CA" sz="2400" b="1" dirty="0"/>
              <a:t>U</a:t>
            </a:r>
            <a:r>
              <a:rPr lang="en-CA" sz="2400" dirty="0"/>
              <a:t>: </a:t>
            </a:r>
            <a:r>
              <a:rPr lang="en-CA" sz="2000" dirty="0"/>
              <a:t>How is this affecting you in your daily life? Do you have any thoughts about what it might be?</a:t>
            </a:r>
          </a:p>
          <a:p>
            <a:endParaRPr lang="en-CA" sz="2400" dirty="0"/>
          </a:p>
        </p:txBody>
      </p:sp>
      <p:pic>
        <p:nvPicPr>
          <p:cNvPr id="11" name="Graphic 10" descr="Clipboard with solid fill">
            <a:extLst>
              <a:ext uri="{FF2B5EF4-FFF2-40B4-BE49-F238E27FC236}">
                <a16:creationId xmlns:a16="http://schemas.microsoft.com/office/drawing/2014/main" id="{EF8AB2C9-090C-6EE1-4F97-C2CB91C37F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51534" y="18492"/>
            <a:ext cx="1623432" cy="1623432"/>
          </a:xfrm>
          <a:prstGeom prst="rect">
            <a:avLst/>
          </a:prstGeom>
        </p:spPr>
      </p:pic>
    </p:spTree>
    <p:extLst>
      <p:ext uri="{BB962C8B-B14F-4D97-AF65-F5344CB8AC3E}">
        <p14:creationId xmlns:p14="http://schemas.microsoft.com/office/powerpoint/2010/main" val="3477939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AF2F-81FD-CF17-DDF3-EB6EBA264234}"/>
              </a:ext>
            </a:extLst>
          </p:cNvPr>
          <p:cNvSpPr>
            <a:spLocks noGrp="1"/>
          </p:cNvSpPr>
          <p:nvPr>
            <p:ph type="title"/>
          </p:nvPr>
        </p:nvSpPr>
        <p:spPr>
          <a:xfrm>
            <a:off x="1616054" y="791737"/>
            <a:ext cx="8959893" cy="682062"/>
          </a:xfrm>
        </p:spPr>
        <p:txBody>
          <a:bodyPr anchor="b">
            <a:normAutofit/>
          </a:bodyPr>
          <a:lstStyle/>
          <a:p>
            <a:pPr algn="ctr"/>
            <a:r>
              <a:rPr lang="en-CA" sz="4000" dirty="0">
                <a:solidFill>
                  <a:schemeClr val="tx1">
                    <a:lumMod val="65000"/>
                    <a:lumOff val="35000"/>
                  </a:schemeClr>
                </a:solidFill>
              </a:rPr>
              <a:t>Things to Remember</a:t>
            </a:r>
          </a:p>
        </p:txBody>
      </p:sp>
      <p:sp>
        <p:nvSpPr>
          <p:cNvPr id="3" name="Content Placeholder 2">
            <a:extLst>
              <a:ext uri="{FF2B5EF4-FFF2-40B4-BE49-F238E27FC236}">
                <a16:creationId xmlns:a16="http://schemas.microsoft.com/office/drawing/2014/main" id="{C02FE43B-2A85-E02B-079A-DE4EEAE60631}"/>
              </a:ext>
            </a:extLst>
          </p:cNvPr>
          <p:cNvSpPr>
            <a:spLocks noGrp="1"/>
          </p:cNvSpPr>
          <p:nvPr>
            <p:ph idx="1"/>
          </p:nvPr>
        </p:nvSpPr>
        <p:spPr>
          <a:xfrm>
            <a:off x="1126274" y="2096429"/>
            <a:ext cx="10147609" cy="4337824"/>
          </a:xfrm>
        </p:spPr>
        <p:txBody>
          <a:bodyPr anchor="t">
            <a:normAutofit/>
          </a:bodyPr>
          <a:lstStyle/>
          <a:p>
            <a:r>
              <a:rPr lang="en-CA" sz="2600" dirty="0">
                <a:solidFill>
                  <a:schemeClr val="tx1">
                    <a:lumMod val="65000"/>
                    <a:lumOff val="35000"/>
                  </a:schemeClr>
                </a:solidFill>
              </a:rPr>
              <a:t>Acute vs. chronic rash</a:t>
            </a:r>
          </a:p>
          <a:p>
            <a:r>
              <a:rPr lang="en-CA" sz="2600" dirty="0">
                <a:solidFill>
                  <a:schemeClr val="tx1">
                    <a:lumMod val="65000"/>
                    <a:lumOff val="35000"/>
                  </a:schemeClr>
                </a:solidFill>
              </a:rPr>
              <a:t>Type of lesion(s)</a:t>
            </a:r>
          </a:p>
          <a:p>
            <a:r>
              <a:rPr lang="en-CA" sz="2600" dirty="0">
                <a:solidFill>
                  <a:schemeClr val="tx1">
                    <a:lumMod val="65000"/>
                    <a:lumOff val="35000"/>
                  </a:schemeClr>
                </a:solidFill>
              </a:rPr>
              <a:t>Changes in colour, shape, size</a:t>
            </a:r>
          </a:p>
          <a:p>
            <a:r>
              <a:rPr lang="en-CA" sz="2600" dirty="0">
                <a:solidFill>
                  <a:schemeClr val="tx1">
                    <a:lumMod val="65000"/>
                    <a:lumOff val="35000"/>
                  </a:schemeClr>
                </a:solidFill>
              </a:rPr>
              <a:t>Differentiation between presence of pruritus vs. burning vs. pain</a:t>
            </a:r>
          </a:p>
          <a:p>
            <a:r>
              <a:rPr lang="en-CA" sz="2600" dirty="0">
                <a:solidFill>
                  <a:schemeClr val="tx1">
                    <a:lumMod val="65000"/>
                    <a:lumOff val="35000"/>
                  </a:schemeClr>
                </a:solidFill>
              </a:rPr>
              <a:t>Location and progression of distribution (</a:t>
            </a:r>
            <a:r>
              <a:rPr lang="en-CA" sz="2600" dirty="0" err="1">
                <a:solidFill>
                  <a:schemeClr val="tx1">
                    <a:lumMod val="65000"/>
                    <a:lumOff val="35000"/>
                  </a:schemeClr>
                </a:solidFill>
              </a:rPr>
              <a:t>ie</a:t>
            </a:r>
            <a:r>
              <a:rPr lang="en-CA" sz="2600" dirty="0">
                <a:solidFill>
                  <a:schemeClr val="tx1">
                    <a:lumMod val="65000"/>
                    <a:lumOff val="35000"/>
                  </a:schemeClr>
                </a:solidFill>
              </a:rPr>
              <a:t>. Truncal to peripheral infectious disease; along specified unilateral dermatome in herpes zoster) </a:t>
            </a:r>
          </a:p>
          <a:p>
            <a:r>
              <a:rPr lang="en-CA" sz="2600" dirty="0">
                <a:solidFill>
                  <a:schemeClr val="tx1">
                    <a:lumMod val="65000"/>
                    <a:lumOff val="35000"/>
                  </a:schemeClr>
                </a:solidFill>
              </a:rPr>
              <a:t>Environmental exposure or contact with an infected person</a:t>
            </a:r>
          </a:p>
          <a:p>
            <a:r>
              <a:rPr lang="en-CA" sz="2600" dirty="0">
                <a:solidFill>
                  <a:schemeClr val="tx1">
                    <a:lumMod val="65000"/>
                    <a:lumOff val="35000"/>
                  </a:schemeClr>
                </a:solidFill>
              </a:rPr>
              <a:t>Fever may indicate an infectious process</a:t>
            </a:r>
          </a:p>
        </p:txBody>
      </p:sp>
    </p:spTree>
    <p:extLst>
      <p:ext uri="{BB962C8B-B14F-4D97-AF65-F5344CB8AC3E}">
        <p14:creationId xmlns:p14="http://schemas.microsoft.com/office/powerpoint/2010/main" val="1836825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49DDC-4FA7-68B8-FE1E-6CD59A4D123E}"/>
              </a:ext>
            </a:extLst>
          </p:cNvPr>
          <p:cNvSpPr>
            <a:spLocks noGrp="1"/>
          </p:cNvSpPr>
          <p:nvPr>
            <p:ph type="title"/>
          </p:nvPr>
        </p:nvSpPr>
        <p:spPr>
          <a:xfrm>
            <a:off x="15576" y="241982"/>
            <a:ext cx="8169383" cy="932688"/>
          </a:xfrm>
        </p:spPr>
        <p:txBody>
          <a:bodyPr anchor="b">
            <a:noAutofit/>
          </a:bodyPr>
          <a:lstStyle/>
          <a:p>
            <a:r>
              <a:rPr lang="en-CA" sz="4000" dirty="0">
                <a:solidFill>
                  <a:srgbClr val="595959"/>
                </a:solidFill>
              </a:rPr>
              <a:t>A Thorough History is Vital!</a:t>
            </a:r>
            <a:endParaRPr lang="en-CA" sz="4000">
              <a:solidFill>
                <a:srgbClr val="595959"/>
              </a:solidFill>
            </a:endParaRPr>
          </a:p>
        </p:txBody>
      </p:sp>
      <p:graphicFrame>
        <p:nvGraphicFramePr>
          <p:cNvPr id="8" name="Content Placeholder 2">
            <a:extLst>
              <a:ext uri="{FF2B5EF4-FFF2-40B4-BE49-F238E27FC236}">
                <a16:creationId xmlns:a16="http://schemas.microsoft.com/office/drawing/2014/main" id="{1F006CF5-0A32-B93F-4456-9289AFF96338}"/>
              </a:ext>
            </a:extLst>
          </p:cNvPr>
          <p:cNvGraphicFramePr>
            <a:graphicFrameLocks noGrp="1"/>
          </p:cNvGraphicFramePr>
          <p:nvPr>
            <p:ph sz="quarter" idx="14"/>
            <p:extLst>
              <p:ext uri="{D42A27DB-BD31-4B8C-83A1-F6EECF244321}">
                <p14:modId xmlns:p14="http://schemas.microsoft.com/office/powerpoint/2010/main" val="57792676"/>
              </p:ext>
            </p:extLst>
          </p:nvPr>
        </p:nvGraphicFramePr>
        <p:xfrm>
          <a:off x="731520" y="1380744"/>
          <a:ext cx="685800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Picture Placeholder 17">
            <a:extLst>
              <a:ext uri="{FF2B5EF4-FFF2-40B4-BE49-F238E27FC236}">
                <a16:creationId xmlns:a16="http://schemas.microsoft.com/office/drawing/2014/main" id="{B2118BDE-86A9-457A-4178-7B711FF42F3F}"/>
              </a:ext>
            </a:extLst>
          </p:cNvPr>
          <p:cNvPicPr>
            <a:picLocks noGrp="1" noChangeAspect="1"/>
          </p:cNvPicPr>
          <p:nvPr>
            <p:ph type="pic" sz="quarter" idx="13"/>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40696" r="19468"/>
          <a:stretch>
            <a:fillRect/>
          </a:stretch>
        </p:blipFill>
        <p:spPr>
          <a:xfrm>
            <a:off x="8091733" y="0"/>
            <a:ext cx="4100267" cy="6858000"/>
          </a:xfrm>
        </p:spPr>
      </p:pic>
    </p:spTree>
    <p:extLst>
      <p:ext uri="{BB962C8B-B14F-4D97-AF65-F5344CB8AC3E}">
        <p14:creationId xmlns:p14="http://schemas.microsoft.com/office/powerpoint/2010/main" val="966433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AD38-4996-6ABD-F926-A6DED78623B8}"/>
              </a:ext>
            </a:extLst>
          </p:cNvPr>
          <p:cNvSpPr>
            <a:spLocks noGrp="1"/>
          </p:cNvSpPr>
          <p:nvPr>
            <p:ph type="title"/>
          </p:nvPr>
        </p:nvSpPr>
        <p:spPr>
          <a:xfrm>
            <a:off x="289932" y="475013"/>
            <a:ext cx="3937684" cy="5550883"/>
          </a:xfrm>
        </p:spPr>
        <p:txBody>
          <a:bodyPr anchor="t">
            <a:normAutofit/>
          </a:bodyPr>
          <a:lstStyle/>
          <a:p>
            <a:r>
              <a:rPr lang="en-US" dirty="0">
                <a:solidFill>
                  <a:srgbClr val="595959"/>
                </a:solidFill>
              </a:rPr>
              <a:t>Morphological Classifications </a:t>
            </a:r>
          </a:p>
        </p:txBody>
      </p:sp>
      <p:graphicFrame>
        <p:nvGraphicFramePr>
          <p:cNvPr id="5" name="Content Placeholder 2">
            <a:extLst>
              <a:ext uri="{FF2B5EF4-FFF2-40B4-BE49-F238E27FC236}">
                <a16:creationId xmlns:a16="http://schemas.microsoft.com/office/drawing/2014/main" id="{17555931-0C7F-BE7E-1379-9FB4CAB2AC2C}"/>
              </a:ext>
            </a:extLst>
          </p:cNvPr>
          <p:cNvGraphicFramePr>
            <a:graphicFrameLocks noGrp="1"/>
          </p:cNvGraphicFramePr>
          <p:nvPr>
            <p:ph sz="quarter" idx="13"/>
            <p:extLst>
              <p:ext uri="{D42A27DB-BD31-4B8C-83A1-F6EECF244321}">
                <p14:modId xmlns:p14="http://schemas.microsoft.com/office/powerpoint/2010/main" val="2992335042"/>
              </p:ext>
            </p:extLst>
          </p:nvPr>
        </p:nvGraphicFramePr>
        <p:xfrm>
          <a:off x="4666926" y="841247"/>
          <a:ext cx="6986098" cy="58940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0805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63A9B-A6EE-12D8-A71C-EC5B842267A4}"/>
              </a:ext>
            </a:extLst>
          </p:cNvPr>
          <p:cNvSpPr>
            <a:spLocks noGrp="1"/>
          </p:cNvSpPr>
          <p:nvPr>
            <p:ph type="title"/>
          </p:nvPr>
        </p:nvSpPr>
        <p:spPr>
          <a:xfrm>
            <a:off x="731520" y="548640"/>
            <a:ext cx="6135624" cy="1143000"/>
          </a:xfrm>
        </p:spPr>
        <p:txBody>
          <a:bodyPr anchor="b">
            <a:normAutofit/>
          </a:bodyPr>
          <a:lstStyle/>
          <a:p>
            <a:r>
              <a:rPr lang="en-CA" sz="4000" dirty="0">
                <a:solidFill>
                  <a:srgbClr val="595959"/>
                </a:solidFill>
              </a:rPr>
              <a:t>Physical Exam</a:t>
            </a:r>
          </a:p>
        </p:txBody>
      </p:sp>
      <p:sp>
        <p:nvSpPr>
          <p:cNvPr id="7" name="Content Placeholder 2">
            <a:extLst>
              <a:ext uri="{FF2B5EF4-FFF2-40B4-BE49-F238E27FC236}">
                <a16:creationId xmlns:a16="http://schemas.microsoft.com/office/drawing/2014/main" id="{FFD484D9-2894-4310-CB5F-F79F8342A460}"/>
              </a:ext>
            </a:extLst>
          </p:cNvPr>
          <p:cNvSpPr>
            <a:spLocks noGrp="1"/>
          </p:cNvSpPr>
          <p:nvPr>
            <p:ph sz="quarter" idx="14"/>
          </p:nvPr>
        </p:nvSpPr>
        <p:spPr>
          <a:xfrm>
            <a:off x="731520" y="2129882"/>
            <a:ext cx="6135624" cy="4489704"/>
          </a:xfrm>
        </p:spPr>
        <p:txBody>
          <a:bodyPr>
            <a:normAutofit/>
          </a:bodyPr>
          <a:lstStyle/>
          <a:p>
            <a:pPr>
              <a:spcBef>
                <a:spcPts val="600"/>
              </a:spcBef>
            </a:pPr>
            <a:r>
              <a:rPr lang="en-CA" sz="2400" b="1" dirty="0"/>
              <a:t>Driven by the History</a:t>
            </a:r>
            <a:r>
              <a:rPr lang="en-CA" b="1" dirty="0"/>
              <a:t>	:</a:t>
            </a:r>
            <a:endParaRPr lang="en-US" b="1" dirty="0"/>
          </a:p>
          <a:p>
            <a:pPr>
              <a:spcBef>
                <a:spcPts val="600"/>
              </a:spcBef>
            </a:pPr>
            <a:r>
              <a:rPr lang="en-US" sz="2000" dirty="0"/>
              <a:t>Assess the skin and mucous membranes</a:t>
            </a:r>
          </a:p>
          <a:p>
            <a:pPr>
              <a:spcBef>
                <a:spcPts val="600"/>
              </a:spcBef>
            </a:pPr>
            <a:r>
              <a:rPr lang="en-US" sz="2000" dirty="0"/>
              <a:t>Inspect the distribution/pattern of the rash/lesions</a:t>
            </a:r>
          </a:p>
          <a:p>
            <a:pPr>
              <a:spcBef>
                <a:spcPts val="600"/>
              </a:spcBef>
            </a:pPr>
            <a:r>
              <a:rPr lang="en-US" sz="2000" dirty="0"/>
              <a:t>Inspect the mouth</a:t>
            </a:r>
          </a:p>
          <a:p>
            <a:pPr>
              <a:spcBef>
                <a:spcPts val="600"/>
              </a:spcBef>
            </a:pPr>
            <a:r>
              <a:rPr lang="en-US" sz="2000" dirty="0"/>
              <a:t>Don’t forget the scalp, hair and nails!!</a:t>
            </a:r>
          </a:p>
          <a:p>
            <a:pPr>
              <a:spcBef>
                <a:spcPts val="600"/>
              </a:spcBef>
            </a:pPr>
            <a:r>
              <a:rPr lang="en-US" sz="2000" dirty="0"/>
              <a:t>Touch the skin/area of concern</a:t>
            </a:r>
          </a:p>
          <a:p>
            <a:pPr>
              <a:spcBef>
                <a:spcPts val="600"/>
              </a:spcBef>
            </a:pPr>
            <a:r>
              <a:rPr lang="en-US" sz="2000" dirty="0"/>
              <a:t>Palpate regional lymph nodes</a:t>
            </a:r>
          </a:p>
          <a:p>
            <a:pPr>
              <a:spcBef>
                <a:spcPts val="600"/>
              </a:spcBef>
            </a:pPr>
            <a:r>
              <a:rPr lang="en-US" sz="2000" dirty="0"/>
              <a:t>Perform ENT, cardiovascular, respiratory, abdominal exams as appropriate</a:t>
            </a:r>
          </a:p>
          <a:p>
            <a:pPr>
              <a:spcBef>
                <a:spcPts val="600"/>
              </a:spcBef>
            </a:pPr>
            <a:r>
              <a:rPr lang="en-US" sz="2000" dirty="0"/>
              <a:t>Perform joint assessment as appropriate</a:t>
            </a:r>
          </a:p>
          <a:p>
            <a:pPr>
              <a:spcBef>
                <a:spcPts val="600"/>
              </a:spcBef>
            </a:pPr>
            <a:endParaRPr lang="en-US" dirty="0"/>
          </a:p>
        </p:txBody>
      </p:sp>
      <p:pic>
        <p:nvPicPr>
          <p:cNvPr id="10" name="Picture Placeholder 9">
            <a:extLst>
              <a:ext uri="{FF2B5EF4-FFF2-40B4-BE49-F238E27FC236}">
                <a16:creationId xmlns:a16="http://schemas.microsoft.com/office/drawing/2014/main" id="{9A820225-3ED6-6E4D-7AD6-C7A854AE50F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8997" r="8997"/>
          <a:stretch/>
        </p:blipFill>
        <p:spPr>
          <a:xfrm>
            <a:off x="7400925" y="0"/>
            <a:ext cx="4791075" cy="5675971"/>
          </a:xfrm>
        </p:spPr>
      </p:pic>
      <p:sp>
        <p:nvSpPr>
          <p:cNvPr id="6" name="TextBox 5">
            <a:extLst>
              <a:ext uri="{FF2B5EF4-FFF2-40B4-BE49-F238E27FC236}">
                <a16:creationId xmlns:a16="http://schemas.microsoft.com/office/drawing/2014/main" id="{D3A7B26D-9E35-9E1D-01A2-F8D775A4AC88}"/>
              </a:ext>
            </a:extLst>
          </p:cNvPr>
          <p:cNvSpPr txBox="1"/>
          <p:nvPr/>
        </p:nvSpPr>
        <p:spPr>
          <a:xfrm>
            <a:off x="7400925" y="5902614"/>
            <a:ext cx="5058193" cy="1015663"/>
          </a:xfrm>
          <a:prstGeom prst="rect">
            <a:avLst/>
          </a:prstGeom>
          <a:noFill/>
        </p:spPr>
        <p:txBody>
          <a:bodyPr wrap="square">
            <a:spAutoFit/>
          </a:bodyPr>
          <a:lstStyle/>
          <a:p>
            <a:pPr marL="342900" indent="-342900">
              <a:lnSpc>
                <a:spcPct val="100000"/>
              </a:lnSpc>
              <a:spcBef>
                <a:spcPts val="0"/>
              </a:spcBef>
              <a:buFont typeface="Wingdings" panose="05000000000000000000" pitchFamily="2" charset="2"/>
              <a:buChar char="ü"/>
            </a:pPr>
            <a:r>
              <a:rPr lang="en-US" sz="2000" dirty="0">
                <a:solidFill>
                  <a:srgbClr val="FF0000"/>
                </a:solidFill>
              </a:rPr>
              <a:t>Have a ruler to measure lesions for size</a:t>
            </a:r>
          </a:p>
          <a:p>
            <a:pPr marL="342900" indent="-342900">
              <a:lnSpc>
                <a:spcPct val="100000"/>
              </a:lnSpc>
              <a:spcBef>
                <a:spcPts val="0"/>
              </a:spcBef>
              <a:buFont typeface="Wingdings" panose="05000000000000000000" pitchFamily="2" charset="2"/>
              <a:buChar char="ü"/>
            </a:pPr>
            <a:r>
              <a:rPr lang="en-US" sz="2000" dirty="0">
                <a:solidFill>
                  <a:srgbClr val="FF0000"/>
                </a:solidFill>
              </a:rPr>
              <a:t>You may need to look at lesions/rashes in different lighting to assess </a:t>
            </a:r>
            <a:endParaRPr lang="en-CA" sz="2000" dirty="0">
              <a:solidFill>
                <a:srgbClr val="FF0000"/>
              </a:solidFill>
            </a:endParaRPr>
          </a:p>
        </p:txBody>
      </p:sp>
      <p:sp>
        <p:nvSpPr>
          <p:cNvPr id="11" name="TextBox 10">
            <a:extLst>
              <a:ext uri="{FF2B5EF4-FFF2-40B4-BE49-F238E27FC236}">
                <a16:creationId xmlns:a16="http://schemas.microsoft.com/office/drawing/2014/main" id="{219E9838-6BF5-1558-AD21-7146884E9793}"/>
              </a:ext>
            </a:extLst>
          </p:cNvPr>
          <p:cNvSpPr txBox="1"/>
          <p:nvPr/>
        </p:nvSpPr>
        <p:spPr>
          <a:xfrm>
            <a:off x="7400925" y="5657175"/>
            <a:ext cx="4791075" cy="230832"/>
          </a:xfrm>
          <a:prstGeom prst="rect">
            <a:avLst/>
          </a:prstGeom>
          <a:noFill/>
        </p:spPr>
        <p:txBody>
          <a:bodyPr wrap="square" rtlCol="0">
            <a:spAutoFit/>
          </a:bodyPr>
          <a:lstStyle/>
          <a:p>
            <a:r>
              <a:rPr lang="en-CA" sz="900" dirty="0">
                <a:hlinkClick r:id="rId4" tooltip="https://skincancer909.com/home/premalignant-lesions/"/>
              </a:rPr>
              <a:t>This Photo</a:t>
            </a:r>
            <a:r>
              <a:rPr lang="en-CA" sz="900" dirty="0"/>
              <a:t> by Unknown Author is licensed under </a:t>
            </a:r>
            <a:r>
              <a:rPr lang="en-CA" sz="900" dirty="0">
                <a:hlinkClick r:id="rId5" tooltip="https://creativecommons.org/licenses/by-nc-sa/3.0/"/>
              </a:rPr>
              <a:t>CC BY-SA-NC</a:t>
            </a:r>
            <a:endParaRPr lang="en-CA" sz="900" dirty="0"/>
          </a:p>
        </p:txBody>
      </p:sp>
      <p:pic>
        <p:nvPicPr>
          <p:cNvPr id="15" name="Picture 14">
            <a:extLst>
              <a:ext uri="{FF2B5EF4-FFF2-40B4-BE49-F238E27FC236}">
                <a16:creationId xmlns:a16="http://schemas.microsoft.com/office/drawing/2014/main" id="{F4FE12CD-E91A-C9BD-792E-25675C9F3B96}"/>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479025" y="2013414"/>
            <a:ext cx="8493512" cy="2831171"/>
          </a:xfrm>
          <a:prstGeom prst="rect">
            <a:avLst/>
          </a:prstGeom>
        </p:spPr>
      </p:pic>
    </p:spTree>
    <p:extLst>
      <p:ext uri="{BB962C8B-B14F-4D97-AF65-F5344CB8AC3E}">
        <p14:creationId xmlns:p14="http://schemas.microsoft.com/office/powerpoint/2010/main" val="3485783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20940-5CD5-C1B6-E4BA-D0772E5A8532}"/>
              </a:ext>
            </a:extLst>
          </p:cNvPr>
          <p:cNvSpPr>
            <a:spLocks noGrp="1"/>
          </p:cNvSpPr>
          <p:nvPr>
            <p:ph type="title"/>
          </p:nvPr>
        </p:nvSpPr>
        <p:spPr/>
        <p:txBody>
          <a:bodyPr>
            <a:normAutofit/>
          </a:bodyPr>
          <a:lstStyle/>
          <a:p>
            <a:pPr algn="ctr"/>
            <a:r>
              <a:rPr lang="en-CA" sz="4000" dirty="0">
                <a:solidFill>
                  <a:srgbClr val="595959"/>
                </a:solidFill>
              </a:rPr>
              <a:t>Characterization of Lesion</a:t>
            </a:r>
          </a:p>
        </p:txBody>
      </p:sp>
      <p:sp>
        <p:nvSpPr>
          <p:cNvPr id="3" name="Content Placeholder 2">
            <a:extLst>
              <a:ext uri="{FF2B5EF4-FFF2-40B4-BE49-F238E27FC236}">
                <a16:creationId xmlns:a16="http://schemas.microsoft.com/office/drawing/2014/main" id="{0E40B700-04C5-A4CC-5D8A-C5C1B8DFFB10}"/>
              </a:ext>
            </a:extLst>
          </p:cNvPr>
          <p:cNvSpPr>
            <a:spLocks noGrp="1"/>
          </p:cNvSpPr>
          <p:nvPr>
            <p:ph idx="1"/>
          </p:nvPr>
        </p:nvSpPr>
        <p:spPr>
          <a:xfrm>
            <a:off x="838200" y="2306796"/>
            <a:ext cx="10257263" cy="4114801"/>
          </a:xfrm>
        </p:spPr>
        <p:txBody>
          <a:bodyPr>
            <a:noAutofit/>
          </a:bodyPr>
          <a:lstStyle/>
          <a:p>
            <a:r>
              <a:rPr lang="en-US" sz="2400" b="1" dirty="0">
                <a:solidFill>
                  <a:schemeClr val="bg2">
                    <a:lumMod val="50000"/>
                  </a:schemeClr>
                </a:solidFill>
              </a:rPr>
              <a:t>Margination</a:t>
            </a:r>
            <a:r>
              <a:rPr lang="en-US" sz="2000" b="1" dirty="0"/>
              <a:t> – </a:t>
            </a:r>
            <a:r>
              <a:rPr lang="en-US" sz="2000" dirty="0"/>
              <a:t>Well-defined (traced with the tip of a pencil) or </a:t>
            </a:r>
            <a:r>
              <a:rPr lang="en-CA" sz="2000" dirty="0"/>
              <a:t>ill-defined</a:t>
            </a:r>
          </a:p>
          <a:p>
            <a:r>
              <a:rPr lang="en-US" sz="2400" b="1" dirty="0">
                <a:solidFill>
                  <a:schemeClr val="bg2">
                    <a:lumMod val="50000"/>
                  </a:schemeClr>
                </a:solidFill>
              </a:rPr>
              <a:t>Shape</a:t>
            </a:r>
            <a:r>
              <a:rPr lang="en-US" sz="2000" b="1" dirty="0"/>
              <a:t> – </a:t>
            </a:r>
            <a:r>
              <a:rPr lang="en-US" sz="2000" dirty="0"/>
              <a:t>Round, oval, polygonal, polycyclic, annular (ring-shaped), </a:t>
            </a:r>
            <a:r>
              <a:rPr lang="en-CA" sz="2000" dirty="0"/>
              <a:t>iris, serpiginous, umbilicated</a:t>
            </a:r>
          </a:p>
          <a:p>
            <a:r>
              <a:rPr lang="en-CA" sz="2400" b="1" dirty="0">
                <a:solidFill>
                  <a:schemeClr val="bg2">
                    <a:lumMod val="50000"/>
                  </a:schemeClr>
                </a:solidFill>
              </a:rPr>
              <a:t>Palpation</a:t>
            </a:r>
            <a:r>
              <a:rPr lang="en-CA" sz="2000" b="1" dirty="0"/>
              <a:t> </a:t>
            </a:r>
            <a:r>
              <a:rPr lang="en-CA" sz="2000" dirty="0"/>
              <a:t>–</a:t>
            </a:r>
          </a:p>
          <a:p>
            <a:pPr marL="960120" lvl="1" indent="-457200">
              <a:buFont typeface="+mj-lt"/>
              <a:buAutoNum type="arabicPeriod"/>
            </a:pPr>
            <a:r>
              <a:rPr lang="en-US" sz="2000" i="0" dirty="0"/>
              <a:t>Consistency (soft, firm, hard, fluctuant, board-like)</a:t>
            </a:r>
          </a:p>
          <a:p>
            <a:pPr marL="960120" lvl="1" indent="-457200">
              <a:buFont typeface="+mj-lt"/>
              <a:buAutoNum type="arabicPeriod"/>
            </a:pPr>
            <a:r>
              <a:rPr lang="en-US" sz="2000" i="0" dirty="0"/>
              <a:t>Deviation in temperature (hot, cold)</a:t>
            </a:r>
          </a:p>
          <a:p>
            <a:pPr marL="960120" lvl="1" indent="-457200">
              <a:buFont typeface="+mj-lt"/>
              <a:buAutoNum type="arabicPeriod"/>
            </a:pPr>
            <a:r>
              <a:rPr lang="en-US" sz="2000" i="0" dirty="0"/>
              <a:t>Mobility (moveable or not)</a:t>
            </a:r>
          </a:p>
          <a:p>
            <a:pPr marL="960120" lvl="1" indent="-457200">
              <a:buFont typeface="+mj-lt"/>
              <a:buAutoNum type="arabicPeriod"/>
            </a:pPr>
            <a:r>
              <a:rPr lang="en-US" sz="2000" i="0" dirty="0"/>
              <a:t>Presence of tenderness and estimate depth of the </a:t>
            </a:r>
            <a:r>
              <a:rPr lang="en-CA" sz="2000" i="0" dirty="0"/>
              <a:t>lesion (dermal or subcutaneous)</a:t>
            </a:r>
          </a:p>
        </p:txBody>
      </p:sp>
    </p:spTree>
    <p:extLst>
      <p:ext uri="{BB962C8B-B14F-4D97-AF65-F5344CB8AC3E}">
        <p14:creationId xmlns:p14="http://schemas.microsoft.com/office/powerpoint/2010/main" val="875652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FCE15-451D-ED6C-EB7D-DE2036811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5C92B-C286-09F6-1350-2BCEF5A3A9ED}"/>
              </a:ext>
            </a:extLst>
          </p:cNvPr>
          <p:cNvSpPr>
            <a:spLocks noGrp="1"/>
          </p:cNvSpPr>
          <p:nvPr>
            <p:ph type="title"/>
          </p:nvPr>
        </p:nvSpPr>
        <p:spPr/>
        <p:txBody>
          <a:bodyPr>
            <a:normAutofit/>
          </a:bodyPr>
          <a:lstStyle/>
          <a:p>
            <a:pPr algn="ctr"/>
            <a:r>
              <a:rPr lang="en-CA" sz="4000" dirty="0">
                <a:solidFill>
                  <a:srgbClr val="595959"/>
                </a:solidFill>
              </a:rPr>
              <a:t>Characterization of Lesion</a:t>
            </a:r>
          </a:p>
        </p:txBody>
      </p:sp>
      <p:sp>
        <p:nvSpPr>
          <p:cNvPr id="3" name="Content Placeholder 2">
            <a:extLst>
              <a:ext uri="{FF2B5EF4-FFF2-40B4-BE49-F238E27FC236}">
                <a16:creationId xmlns:a16="http://schemas.microsoft.com/office/drawing/2014/main" id="{830C9227-2A0E-AABA-9E26-78F50ABE45B3}"/>
              </a:ext>
            </a:extLst>
          </p:cNvPr>
          <p:cNvSpPr>
            <a:spLocks noGrp="1"/>
          </p:cNvSpPr>
          <p:nvPr>
            <p:ph idx="1"/>
          </p:nvPr>
        </p:nvSpPr>
        <p:spPr>
          <a:xfrm>
            <a:off x="345689" y="2306796"/>
            <a:ext cx="5229922" cy="4114801"/>
          </a:xfrm>
        </p:spPr>
        <p:txBody>
          <a:bodyPr>
            <a:noAutofit/>
          </a:bodyPr>
          <a:lstStyle/>
          <a:p>
            <a:pPr>
              <a:lnSpc>
                <a:spcPct val="100000"/>
              </a:lnSpc>
              <a:spcBef>
                <a:spcPts val="600"/>
              </a:spcBef>
            </a:pPr>
            <a:r>
              <a:rPr lang="en-US" sz="2400" b="1" dirty="0">
                <a:solidFill>
                  <a:schemeClr val="bg2">
                    <a:lumMod val="50000"/>
                  </a:schemeClr>
                </a:solidFill>
              </a:rPr>
              <a:t>Evaluation of Arrangement, Patterns and </a:t>
            </a:r>
            <a:r>
              <a:rPr lang="en-CA" sz="2400" b="1" dirty="0">
                <a:solidFill>
                  <a:schemeClr val="bg2">
                    <a:lumMod val="50000"/>
                  </a:schemeClr>
                </a:solidFill>
              </a:rPr>
              <a:t>Distribution</a:t>
            </a:r>
          </a:p>
          <a:p>
            <a:pPr>
              <a:lnSpc>
                <a:spcPct val="100000"/>
              </a:lnSpc>
              <a:spcBef>
                <a:spcPts val="600"/>
              </a:spcBef>
            </a:pPr>
            <a:endParaRPr lang="en-CA" sz="1200" b="1" dirty="0"/>
          </a:p>
          <a:p>
            <a:pPr>
              <a:lnSpc>
                <a:spcPct val="100000"/>
              </a:lnSpc>
              <a:spcBef>
                <a:spcPts val="600"/>
              </a:spcBef>
            </a:pPr>
            <a:r>
              <a:rPr lang="en-CA" sz="2400" b="1" dirty="0">
                <a:solidFill>
                  <a:schemeClr val="bg2">
                    <a:lumMod val="50000"/>
                  </a:schemeClr>
                </a:solidFill>
              </a:rPr>
              <a:t>Number </a:t>
            </a:r>
            <a:r>
              <a:rPr lang="en-CA" sz="2000" dirty="0"/>
              <a:t>– single or multiple</a:t>
            </a:r>
          </a:p>
          <a:p>
            <a:r>
              <a:rPr lang="en-US" sz="2400" b="1" dirty="0">
                <a:solidFill>
                  <a:schemeClr val="bg2">
                    <a:lumMod val="50000"/>
                  </a:schemeClr>
                </a:solidFill>
              </a:rPr>
              <a:t>Arrangement </a:t>
            </a:r>
            <a:r>
              <a:rPr lang="en-US" sz="2000" b="1" dirty="0"/>
              <a:t>– </a:t>
            </a:r>
            <a:r>
              <a:rPr lang="en-US" sz="2000" dirty="0"/>
              <a:t>Multiple lesions may be</a:t>
            </a:r>
          </a:p>
          <a:p>
            <a:pPr marL="457200" indent="-457200">
              <a:buFont typeface="+mj-lt"/>
              <a:buAutoNum type="arabicPeriod"/>
            </a:pPr>
            <a:r>
              <a:rPr lang="en-US" sz="2400" b="1" dirty="0">
                <a:solidFill>
                  <a:schemeClr val="bg2">
                    <a:lumMod val="50000"/>
                  </a:schemeClr>
                </a:solidFill>
              </a:rPr>
              <a:t>Grouped: </a:t>
            </a:r>
            <a:r>
              <a:rPr lang="en-US" sz="2000" dirty="0"/>
              <a:t>herpetiform, arciform, annular, </a:t>
            </a:r>
            <a:r>
              <a:rPr lang="en-CA" sz="2000" dirty="0"/>
              <a:t>reticulated, linear, </a:t>
            </a:r>
            <a:r>
              <a:rPr lang="en-CA" sz="2000" dirty="0" err="1"/>
              <a:t>serpinginous</a:t>
            </a:r>
            <a:r>
              <a:rPr lang="en-CA" sz="2000" dirty="0"/>
              <a:t> disseminated OR </a:t>
            </a:r>
            <a:r>
              <a:rPr lang="en-CA" sz="2400" b="1" dirty="0">
                <a:solidFill>
                  <a:schemeClr val="bg2">
                    <a:lumMod val="50000"/>
                  </a:schemeClr>
                </a:solidFill>
              </a:rPr>
              <a:t>scattered, discrete lesions</a:t>
            </a:r>
            <a:endParaRPr lang="en-CA" sz="2400" dirty="0"/>
          </a:p>
          <a:p>
            <a:pPr marL="457200" indent="-457200">
              <a:buFont typeface="+mj-lt"/>
              <a:buAutoNum type="arabicPeriod"/>
            </a:pPr>
            <a:r>
              <a:rPr lang="en-US" sz="2400" b="1" dirty="0">
                <a:solidFill>
                  <a:schemeClr val="bg2">
                    <a:lumMod val="50000"/>
                  </a:schemeClr>
                </a:solidFill>
              </a:rPr>
              <a:t>Confluence</a:t>
            </a:r>
            <a:r>
              <a:rPr lang="en-US" sz="2000" b="1" dirty="0"/>
              <a:t> – </a:t>
            </a:r>
            <a:r>
              <a:rPr lang="en-US" sz="2000" dirty="0"/>
              <a:t>merging together to form a mass</a:t>
            </a:r>
          </a:p>
        </p:txBody>
      </p:sp>
      <p:sp>
        <p:nvSpPr>
          <p:cNvPr id="4" name="TextBox 3">
            <a:extLst>
              <a:ext uri="{FF2B5EF4-FFF2-40B4-BE49-F238E27FC236}">
                <a16:creationId xmlns:a16="http://schemas.microsoft.com/office/drawing/2014/main" id="{02CBF86C-FCB6-3391-E04F-3E6591787972}"/>
              </a:ext>
            </a:extLst>
          </p:cNvPr>
          <p:cNvSpPr txBox="1"/>
          <p:nvPr/>
        </p:nvSpPr>
        <p:spPr>
          <a:xfrm>
            <a:off x="6222380" y="2351401"/>
            <a:ext cx="5497551" cy="3724096"/>
          </a:xfrm>
          <a:prstGeom prst="rect">
            <a:avLst/>
          </a:prstGeom>
          <a:noFill/>
        </p:spPr>
        <p:txBody>
          <a:bodyPr wrap="square" rtlCol="0">
            <a:spAutoFit/>
          </a:bodyPr>
          <a:lstStyle/>
          <a:p>
            <a:r>
              <a:rPr lang="en-CA" sz="2400" b="1" dirty="0">
                <a:solidFill>
                  <a:schemeClr val="bg2">
                    <a:lumMod val="50000"/>
                  </a:schemeClr>
                </a:solidFill>
              </a:rPr>
              <a:t>Distribution </a:t>
            </a:r>
          </a:p>
          <a:p>
            <a:endParaRPr lang="en-CA" sz="1200" dirty="0">
              <a:solidFill>
                <a:schemeClr val="bg2">
                  <a:lumMod val="50000"/>
                </a:schemeClr>
              </a:solidFill>
            </a:endParaRPr>
          </a:p>
          <a:p>
            <a:pPr marL="457200" indent="-457200">
              <a:buFont typeface="+mj-lt"/>
              <a:buAutoNum type="arabicPeriod"/>
            </a:pPr>
            <a:r>
              <a:rPr lang="en-US" sz="2400" b="1" dirty="0">
                <a:solidFill>
                  <a:schemeClr val="bg2">
                    <a:lumMod val="50000"/>
                  </a:schemeClr>
                </a:solidFill>
              </a:rPr>
              <a:t>Extent </a:t>
            </a:r>
            <a:r>
              <a:rPr lang="en-US" sz="2000" dirty="0"/>
              <a:t>(isolated/single lesion, localized, regional, </a:t>
            </a:r>
            <a:r>
              <a:rPr lang="en-CA" sz="2000" dirty="0"/>
              <a:t>generalized, universal)</a:t>
            </a:r>
          </a:p>
          <a:p>
            <a:pPr marL="457200" indent="-457200">
              <a:buFont typeface="+mj-lt"/>
              <a:buAutoNum type="arabicPeriod"/>
            </a:pPr>
            <a:r>
              <a:rPr lang="en-US" sz="2400" b="1" dirty="0">
                <a:solidFill>
                  <a:schemeClr val="bg2">
                    <a:lumMod val="50000"/>
                  </a:schemeClr>
                </a:solidFill>
              </a:rPr>
              <a:t>Pattern</a:t>
            </a:r>
            <a:r>
              <a:rPr lang="en-US" sz="2000" dirty="0">
                <a:solidFill>
                  <a:schemeClr val="bg2">
                    <a:lumMod val="50000"/>
                  </a:schemeClr>
                </a:solidFill>
              </a:rPr>
              <a:t> </a:t>
            </a:r>
            <a:r>
              <a:rPr lang="en-US" sz="2000" dirty="0"/>
              <a:t>(symmetric, exposed areas, sites of pressure, </a:t>
            </a:r>
            <a:r>
              <a:rPr lang="en-US" sz="2000" dirty="0" err="1"/>
              <a:t>intertrigous</a:t>
            </a:r>
            <a:r>
              <a:rPr lang="en-US" sz="2000" dirty="0"/>
              <a:t> area, follicular localization, </a:t>
            </a:r>
            <a:r>
              <a:rPr lang="en-CA" sz="2000" dirty="0"/>
              <a:t>random, following dermatomes)</a:t>
            </a:r>
          </a:p>
          <a:p>
            <a:pPr marL="457200" indent="-457200">
              <a:buFont typeface="+mj-lt"/>
              <a:buAutoNum type="arabicPeriod"/>
            </a:pPr>
            <a:r>
              <a:rPr lang="en-US" sz="2400" b="1" dirty="0">
                <a:solidFill>
                  <a:schemeClr val="bg2">
                    <a:lumMod val="50000"/>
                  </a:schemeClr>
                </a:solidFill>
              </a:rPr>
              <a:t>Mobility</a:t>
            </a:r>
            <a:r>
              <a:rPr lang="en-US" sz="2000" b="1" dirty="0">
                <a:solidFill>
                  <a:schemeClr val="bg2">
                    <a:lumMod val="50000"/>
                  </a:schemeClr>
                </a:solidFill>
              </a:rPr>
              <a:t> </a:t>
            </a:r>
            <a:r>
              <a:rPr lang="en-US" sz="2000" dirty="0"/>
              <a:t>(moveable or not)</a:t>
            </a:r>
          </a:p>
          <a:p>
            <a:pPr marL="457200" indent="-457200">
              <a:buFont typeface="+mj-lt"/>
              <a:buAutoNum type="arabicPeriod"/>
            </a:pPr>
            <a:r>
              <a:rPr lang="en-US" sz="2400" b="1" dirty="0">
                <a:solidFill>
                  <a:schemeClr val="bg2">
                    <a:lumMod val="50000"/>
                  </a:schemeClr>
                </a:solidFill>
              </a:rPr>
              <a:t>Presence of tenderness and estimate depth of the lesion</a:t>
            </a:r>
            <a:r>
              <a:rPr lang="en-US" sz="2000" b="1" dirty="0">
                <a:solidFill>
                  <a:schemeClr val="bg2">
                    <a:lumMod val="50000"/>
                  </a:schemeClr>
                </a:solidFill>
              </a:rPr>
              <a:t> </a:t>
            </a:r>
            <a:r>
              <a:rPr lang="en-US" sz="2000" dirty="0"/>
              <a:t>(dermal or subcutaneous)</a:t>
            </a:r>
            <a:endParaRPr lang="en-CA" sz="2000" dirty="0"/>
          </a:p>
        </p:txBody>
      </p:sp>
      <p:cxnSp>
        <p:nvCxnSpPr>
          <p:cNvPr id="6" name="Straight Connector 5">
            <a:extLst>
              <a:ext uri="{FF2B5EF4-FFF2-40B4-BE49-F238E27FC236}">
                <a16:creationId xmlns:a16="http://schemas.microsoft.com/office/drawing/2014/main" id="{9F091BCB-C6C7-0073-FE24-82B637449DB7}"/>
              </a:ext>
            </a:extLst>
          </p:cNvPr>
          <p:cNvCxnSpPr/>
          <p:nvPr/>
        </p:nvCxnSpPr>
        <p:spPr>
          <a:xfrm>
            <a:off x="5798634" y="1984917"/>
            <a:ext cx="0" cy="475042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22934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C88B3-03F1-74A2-8606-E0EEFF53D996}"/>
              </a:ext>
            </a:extLst>
          </p:cNvPr>
          <p:cNvSpPr>
            <a:spLocks noGrp="1"/>
          </p:cNvSpPr>
          <p:nvPr>
            <p:ph type="title"/>
          </p:nvPr>
        </p:nvSpPr>
        <p:spPr>
          <a:xfrm>
            <a:off x="189570" y="584990"/>
            <a:ext cx="10515600" cy="1116811"/>
          </a:xfrm>
        </p:spPr>
        <p:txBody>
          <a:bodyPr>
            <a:normAutofit/>
          </a:bodyPr>
          <a:lstStyle/>
          <a:p>
            <a:pPr algn="ctr"/>
            <a:r>
              <a:rPr lang="en-CA" sz="4000" dirty="0">
                <a:solidFill>
                  <a:srgbClr val="595959"/>
                </a:solidFill>
              </a:rPr>
              <a:t>Primary Morphology</a:t>
            </a:r>
          </a:p>
        </p:txBody>
      </p:sp>
      <p:sp>
        <p:nvSpPr>
          <p:cNvPr id="3" name="Content Placeholder 2">
            <a:extLst>
              <a:ext uri="{FF2B5EF4-FFF2-40B4-BE49-F238E27FC236}">
                <a16:creationId xmlns:a16="http://schemas.microsoft.com/office/drawing/2014/main" id="{081358FB-EED5-524A-97E4-E3E9B17E52D3}"/>
              </a:ext>
            </a:extLst>
          </p:cNvPr>
          <p:cNvSpPr>
            <a:spLocks noGrp="1"/>
          </p:cNvSpPr>
          <p:nvPr>
            <p:ph idx="1"/>
          </p:nvPr>
        </p:nvSpPr>
        <p:spPr>
          <a:xfrm>
            <a:off x="189570" y="2061469"/>
            <a:ext cx="11920653" cy="4896892"/>
          </a:xfrm>
        </p:spPr>
        <p:txBody>
          <a:bodyPr>
            <a:normAutofit/>
          </a:bodyPr>
          <a:lstStyle/>
          <a:p>
            <a:r>
              <a:rPr lang="en-CA" sz="2000" b="1" dirty="0"/>
              <a:t>Macules </a:t>
            </a:r>
            <a:r>
              <a:rPr lang="en-CA" sz="2000" dirty="0"/>
              <a:t>- flat, nonpalpable lesions usually &lt; 10 mm in diameter. Ex: freckles, flat moles, tattoos</a:t>
            </a:r>
          </a:p>
          <a:p>
            <a:pPr>
              <a:lnSpc>
                <a:spcPct val="100000"/>
              </a:lnSpc>
              <a:spcBef>
                <a:spcPts val="0"/>
              </a:spcBef>
            </a:pPr>
            <a:endParaRPr lang="en-US" sz="800" b="1" dirty="0"/>
          </a:p>
          <a:p>
            <a:pPr>
              <a:lnSpc>
                <a:spcPct val="100000"/>
              </a:lnSpc>
              <a:spcBef>
                <a:spcPts val="0"/>
              </a:spcBef>
            </a:pPr>
            <a:r>
              <a:rPr lang="en-US" sz="2000" b="1" dirty="0"/>
              <a:t>Papules </a:t>
            </a:r>
            <a:r>
              <a:rPr lang="en-US" sz="2000" dirty="0"/>
              <a:t>- elevated lesions usually &lt; 10 mm in diameter that can be felt or palpated. Ex: nevi, warts, insect bites, skin cancers</a:t>
            </a:r>
          </a:p>
          <a:p>
            <a:r>
              <a:rPr lang="en-US" sz="2000" b="1" dirty="0"/>
              <a:t>Plaques </a:t>
            </a:r>
            <a:r>
              <a:rPr lang="en-US" sz="2000" dirty="0"/>
              <a:t>- lesions &gt; 10 mm in diameter that are elevated or depressed / flat topped or rounded. Ex: Psoriasis</a:t>
            </a:r>
          </a:p>
          <a:p>
            <a:r>
              <a:rPr lang="en-US" sz="2000" b="1" dirty="0"/>
              <a:t>Nodules </a:t>
            </a:r>
            <a:r>
              <a:rPr lang="en-US" sz="2000" dirty="0"/>
              <a:t>- firm papules or lesions that extend into the dermis or subcutaneous tissue. Ex: </a:t>
            </a:r>
            <a:r>
              <a:rPr lang="en-US" sz="2000" dirty="0" err="1"/>
              <a:t>cyts</a:t>
            </a:r>
            <a:r>
              <a:rPr lang="en-US" sz="2000" dirty="0"/>
              <a:t>, lipomas</a:t>
            </a:r>
          </a:p>
          <a:p>
            <a:r>
              <a:rPr lang="en-US" sz="2000" b="1" dirty="0"/>
              <a:t>Vesicles </a:t>
            </a:r>
            <a:r>
              <a:rPr lang="en-US" sz="2000" dirty="0"/>
              <a:t>- small, clear, fluid-filled blisters &lt; 10 mm in diameter. Ex: herpes, allergic contact dermatitis</a:t>
            </a:r>
          </a:p>
          <a:p>
            <a:r>
              <a:rPr lang="en-US" sz="2000" b="1" dirty="0"/>
              <a:t>Bullae </a:t>
            </a:r>
            <a:r>
              <a:rPr lang="en-US" sz="2000" dirty="0"/>
              <a:t>- clear fluid-filled blisters &gt; 10 mm in diameter. Ex: blistered burn</a:t>
            </a:r>
          </a:p>
          <a:p>
            <a:r>
              <a:rPr lang="fr-FR" sz="2000" b="1" dirty="0"/>
              <a:t>Pustules </a:t>
            </a:r>
            <a:r>
              <a:rPr lang="fr-FR" sz="2000" dirty="0"/>
              <a:t>- </a:t>
            </a:r>
            <a:r>
              <a:rPr lang="fr-FR" sz="2000" dirty="0" err="1"/>
              <a:t>vesicles</a:t>
            </a:r>
            <a:r>
              <a:rPr lang="fr-FR" sz="2000" dirty="0"/>
              <a:t> </a:t>
            </a:r>
            <a:r>
              <a:rPr lang="fr-FR" sz="2000" dirty="0" err="1"/>
              <a:t>that</a:t>
            </a:r>
            <a:r>
              <a:rPr lang="fr-FR" sz="2000" dirty="0"/>
              <a:t> </a:t>
            </a:r>
            <a:r>
              <a:rPr lang="fr-FR" sz="2000" dirty="0" err="1"/>
              <a:t>contain</a:t>
            </a:r>
            <a:r>
              <a:rPr lang="fr-FR" sz="2000" dirty="0"/>
              <a:t> pus. Ex: </a:t>
            </a:r>
            <a:r>
              <a:rPr lang="fr-FR" sz="2000" dirty="0" err="1"/>
              <a:t>folliculitis</a:t>
            </a:r>
            <a:endParaRPr lang="fr-FR" sz="2000" dirty="0"/>
          </a:p>
          <a:p>
            <a:endParaRPr lang="fr-FR" sz="800" dirty="0"/>
          </a:p>
          <a:p>
            <a:pPr>
              <a:lnSpc>
                <a:spcPct val="100000"/>
              </a:lnSpc>
              <a:spcBef>
                <a:spcPts val="0"/>
              </a:spcBef>
            </a:pPr>
            <a:r>
              <a:rPr lang="en-US" sz="2000" b="1" dirty="0"/>
              <a:t>Urticaria </a:t>
            </a:r>
            <a:r>
              <a:rPr lang="en-US" sz="2000" dirty="0"/>
              <a:t>(wheals or hives) - elevated lesions caused by localized edema which are pruritic and red and common</a:t>
            </a:r>
          </a:p>
          <a:p>
            <a:pPr>
              <a:lnSpc>
                <a:spcPct val="100000"/>
              </a:lnSpc>
              <a:spcBef>
                <a:spcPts val="0"/>
              </a:spcBef>
            </a:pPr>
            <a:r>
              <a:rPr lang="en-US" sz="2000" dirty="0"/>
              <a:t>manifestation of hypersensitivity to drugs, stings or bites, autoimmunity Typically lasts &lt; 24 hours.</a:t>
            </a:r>
            <a:endParaRPr lang="en-CA" sz="2000" dirty="0"/>
          </a:p>
        </p:txBody>
      </p:sp>
    </p:spTree>
    <p:extLst>
      <p:ext uri="{BB962C8B-B14F-4D97-AF65-F5344CB8AC3E}">
        <p14:creationId xmlns:p14="http://schemas.microsoft.com/office/powerpoint/2010/main" val="421105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4C0D8-5227-6082-0A0E-6F3B0DB3F46F}"/>
              </a:ext>
            </a:extLst>
          </p:cNvPr>
          <p:cNvSpPr>
            <a:spLocks noGrp="1"/>
          </p:cNvSpPr>
          <p:nvPr>
            <p:ph idx="1"/>
          </p:nvPr>
        </p:nvSpPr>
        <p:spPr>
          <a:xfrm>
            <a:off x="133815" y="1961107"/>
            <a:ext cx="11965258" cy="4896893"/>
          </a:xfrm>
        </p:spPr>
        <p:txBody>
          <a:bodyPr>
            <a:noAutofit/>
          </a:bodyPr>
          <a:lstStyle/>
          <a:p>
            <a:pPr>
              <a:lnSpc>
                <a:spcPct val="100000"/>
              </a:lnSpc>
              <a:spcBef>
                <a:spcPts val="0"/>
              </a:spcBef>
            </a:pPr>
            <a:r>
              <a:rPr lang="en-CA" sz="2100" b="1" dirty="0"/>
              <a:t>Scale </a:t>
            </a:r>
            <a:r>
              <a:rPr lang="en-CA" sz="2100" dirty="0"/>
              <a:t>- heaped-up accumulations of horny epithelium Ex: psoriasis, seborrheic dermatitis, fungal infections.</a:t>
            </a:r>
          </a:p>
          <a:p>
            <a:pPr>
              <a:lnSpc>
                <a:spcPct val="100000"/>
              </a:lnSpc>
              <a:spcBef>
                <a:spcPts val="0"/>
              </a:spcBef>
            </a:pPr>
            <a:r>
              <a:rPr lang="en-US" sz="2100" b="1" dirty="0"/>
              <a:t>Crusts (scabs) </a:t>
            </a:r>
            <a:r>
              <a:rPr lang="en-US" sz="2100" dirty="0"/>
              <a:t>- dried serum, blood, or pus. Can occur in inflammatory or infectious skin disease Ex: impetigo</a:t>
            </a:r>
          </a:p>
          <a:p>
            <a:pPr>
              <a:lnSpc>
                <a:spcPct val="100000"/>
              </a:lnSpc>
              <a:spcBef>
                <a:spcPts val="0"/>
              </a:spcBef>
            </a:pPr>
            <a:r>
              <a:rPr lang="en-US" sz="2100" b="1" dirty="0"/>
              <a:t>Erosions </a:t>
            </a:r>
            <a:r>
              <a:rPr lang="en-US" sz="2100" dirty="0"/>
              <a:t>- open areas of skin that result from loss of part or all of the epidermis. An excoriation is a linear erosion caused</a:t>
            </a:r>
          </a:p>
          <a:p>
            <a:pPr>
              <a:lnSpc>
                <a:spcPct val="100000"/>
              </a:lnSpc>
              <a:spcBef>
                <a:spcPts val="0"/>
              </a:spcBef>
            </a:pPr>
            <a:r>
              <a:rPr lang="en-US" sz="2100" dirty="0"/>
              <a:t>by scratching, rubbing, or picking.</a:t>
            </a:r>
          </a:p>
          <a:p>
            <a:pPr>
              <a:lnSpc>
                <a:spcPct val="100000"/>
              </a:lnSpc>
              <a:spcBef>
                <a:spcPts val="0"/>
              </a:spcBef>
            </a:pPr>
            <a:r>
              <a:rPr lang="en-US" sz="2100" b="1" dirty="0"/>
              <a:t>Ulcers </a:t>
            </a:r>
            <a:r>
              <a:rPr lang="en-US" sz="2100" dirty="0"/>
              <a:t>-loss of the epidermis and at least part of the dermis. Ex: venous stasis dermatitis, decubitus ulcers, vasculitis</a:t>
            </a:r>
          </a:p>
          <a:p>
            <a:pPr>
              <a:lnSpc>
                <a:spcPct val="100000"/>
              </a:lnSpc>
              <a:spcBef>
                <a:spcPts val="0"/>
              </a:spcBef>
            </a:pPr>
            <a:r>
              <a:rPr lang="en-CA" sz="2100" b="1" dirty="0"/>
              <a:t>Petechiae </a:t>
            </a:r>
            <a:r>
              <a:rPr lang="en-CA" sz="2100" dirty="0"/>
              <a:t>- </a:t>
            </a:r>
            <a:r>
              <a:rPr lang="en-CA" sz="2100" dirty="0" err="1"/>
              <a:t>nonblanchable</a:t>
            </a:r>
            <a:r>
              <a:rPr lang="en-CA" sz="2100" dirty="0"/>
              <a:t> punctate foci of hemorrhage. Ex: platelet abnormalities – thrombocytopenia</a:t>
            </a:r>
          </a:p>
          <a:p>
            <a:pPr>
              <a:lnSpc>
                <a:spcPct val="100000"/>
              </a:lnSpc>
              <a:spcBef>
                <a:spcPts val="0"/>
              </a:spcBef>
            </a:pPr>
            <a:r>
              <a:rPr lang="en-US" sz="2100" b="1" dirty="0"/>
              <a:t>Purpura </a:t>
            </a:r>
            <a:r>
              <a:rPr lang="en-US" sz="2100" dirty="0"/>
              <a:t>-larger area of hemorrhage that may be palpable. Large areas of purpura = ecchymoses</a:t>
            </a:r>
          </a:p>
          <a:p>
            <a:pPr>
              <a:lnSpc>
                <a:spcPct val="100000"/>
              </a:lnSpc>
              <a:spcBef>
                <a:spcPts val="0"/>
              </a:spcBef>
            </a:pPr>
            <a:r>
              <a:rPr lang="en-US" sz="2100" b="1" dirty="0"/>
              <a:t>Atrophy </a:t>
            </a:r>
            <a:r>
              <a:rPr lang="en-US" sz="2100" dirty="0"/>
              <a:t>- thinning of the skin, (might be dry and wrinkled) resembling cigarette paper. Due to long term topical</a:t>
            </a:r>
          </a:p>
          <a:p>
            <a:pPr>
              <a:lnSpc>
                <a:spcPct val="100000"/>
              </a:lnSpc>
              <a:spcBef>
                <a:spcPts val="0"/>
              </a:spcBef>
            </a:pPr>
            <a:r>
              <a:rPr lang="en-US" sz="2100" dirty="0"/>
              <a:t>corticosteroids, aging, sun exposure, and some inflammatory or neoplastic skin diseases.</a:t>
            </a:r>
          </a:p>
          <a:p>
            <a:pPr>
              <a:lnSpc>
                <a:spcPct val="100000"/>
              </a:lnSpc>
              <a:spcBef>
                <a:spcPts val="0"/>
              </a:spcBef>
            </a:pPr>
            <a:r>
              <a:rPr lang="en-US" sz="2100" b="1" dirty="0"/>
              <a:t>Scars </a:t>
            </a:r>
            <a:r>
              <a:rPr lang="en-US" sz="2100" dirty="0"/>
              <a:t>- areas of fibrosis that replace normal skin after injury. Can become hypertrophic or thickened and raised.</a:t>
            </a:r>
          </a:p>
          <a:p>
            <a:pPr>
              <a:lnSpc>
                <a:spcPct val="100000"/>
              </a:lnSpc>
              <a:spcBef>
                <a:spcPts val="0"/>
              </a:spcBef>
            </a:pPr>
            <a:r>
              <a:rPr lang="en-US" sz="2100" dirty="0"/>
              <a:t>Ex: Keloids - hypertrophic scars that extend beyond the original wound margin</a:t>
            </a:r>
          </a:p>
          <a:p>
            <a:pPr>
              <a:lnSpc>
                <a:spcPct val="100000"/>
              </a:lnSpc>
              <a:spcBef>
                <a:spcPts val="0"/>
              </a:spcBef>
            </a:pPr>
            <a:r>
              <a:rPr lang="en-US" sz="2100" b="1" dirty="0"/>
              <a:t>Telangiectasis </a:t>
            </a:r>
            <a:r>
              <a:rPr lang="en-US" sz="2100" dirty="0"/>
              <a:t>- foci of small, permanently dilated blood vessels Ex: occur in areas of sun damage, rosacea, systemic diseases, and long term topical corticosteroid use.</a:t>
            </a:r>
            <a:endParaRPr lang="en-CA" sz="2100" dirty="0"/>
          </a:p>
        </p:txBody>
      </p:sp>
      <p:sp>
        <p:nvSpPr>
          <p:cNvPr id="4" name="Title 1">
            <a:extLst>
              <a:ext uri="{FF2B5EF4-FFF2-40B4-BE49-F238E27FC236}">
                <a16:creationId xmlns:a16="http://schemas.microsoft.com/office/drawing/2014/main" id="{D2DC8BF7-20E9-3288-B33A-525B3AE6E940}"/>
              </a:ext>
            </a:extLst>
          </p:cNvPr>
          <p:cNvSpPr>
            <a:spLocks noGrp="1"/>
          </p:cNvSpPr>
          <p:nvPr>
            <p:ph type="title"/>
          </p:nvPr>
        </p:nvSpPr>
        <p:spPr>
          <a:xfrm>
            <a:off x="838200" y="617654"/>
            <a:ext cx="10515600" cy="1117600"/>
          </a:xfrm>
        </p:spPr>
        <p:txBody>
          <a:bodyPr/>
          <a:lstStyle/>
          <a:p>
            <a:pPr algn="ctr"/>
            <a:r>
              <a:rPr lang="en-CA" dirty="0">
                <a:solidFill>
                  <a:srgbClr val="595959"/>
                </a:solidFill>
              </a:rPr>
              <a:t>Primary Morphology</a:t>
            </a:r>
          </a:p>
        </p:txBody>
      </p:sp>
    </p:spTree>
    <p:extLst>
      <p:ext uri="{BB962C8B-B14F-4D97-AF65-F5344CB8AC3E}">
        <p14:creationId xmlns:p14="http://schemas.microsoft.com/office/powerpoint/2010/main" val="170978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4AC83C-1367-8B54-138C-904FE19A6F7E}"/>
              </a:ext>
            </a:extLst>
          </p:cNvPr>
          <p:cNvPicPr>
            <a:picLocks noChangeAspect="1"/>
          </p:cNvPicPr>
          <p:nvPr/>
        </p:nvPicPr>
        <p:blipFill>
          <a:blip r:embed="rId3"/>
          <a:stretch>
            <a:fillRect/>
          </a:stretch>
        </p:blipFill>
        <p:spPr>
          <a:xfrm>
            <a:off x="1696559" y="0"/>
            <a:ext cx="5529943" cy="6834174"/>
          </a:xfrm>
          <a:prstGeom prst="rect">
            <a:avLst/>
          </a:prstGeom>
        </p:spPr>
      </p:pic>
      <p:pic>
        <p:nvPicPr>
          <p:cNvPr id="7" name="Picture 6">
            <a:extLst>
              <a:ext uri="{FF2B5EF4-FFF2-40B4-BE49-F238E27FC236}">
                <a16:creationId xmlns:a16="http://schemas.microsoft.com/office/drawing/2014/main" id="{7D90ABAB-9A13-C010-B480-E20FE243E070}"/>
              </a:ext>
            </a:extLst>
          </p:cNvPr>
          <p:cNvPicPr>
            <a:picLocks noChangeAspect="1"/>
          </p:cNvPicPr>
          <p:nvPr/>
        </p:nvPicPr>
        <p:blipFill>
          <a:blip r:embed="rId4"/>
          <a:stretch>
            <a:fillRect/>
          </a:stretch>
        </p:blipFill>
        <p:spPr>
          <a:xfrm>
            <a:off x="6188301" y="12502"/>
            <a:ext cx="3998308" cy="6832995"/>
          </a:xfrm>
          <a:prstGeom prst="rect">
            <a:avLst/>
          </a:prstGeom>
        </p:spPr>
      </p:pic>
    </p:spTree>
    <p:extLst>
      <p:ext uri="{BB962C8B-B14F-4D97-AF65-F5344CB8AC3E}">
        <p14:creationId xmlns:p14="http://schemas.microsoft.com/office/powerpoint/2010/main" val="3278823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9D66-7785-ED01-3C44-DDADB52CEC4C}"/>
              </a:ext>
            </a:extLst>
          </p:cNvPr>
          <p:cNvSpPr>
            <a:spLocks noGrp="1"/>
          </p:cNvSpPr>
          <p:nvPr>
            <p:ph type="title"/>
          </p:nvPr>
        </p:nvSpPr>
        <p:spPr>
          <a:xfrm>
            <a:off x="1958129" y="675388"/>
            <a:ext cx="8275739" cy="693661"/>
          </a:xfrm>
        </p:spPr>
        <p:txBody>
          <a:bodyPr vert="horz" lIns="91440" tIns="45720" rIns="91440" bIns="45720" rtlCol="0" anchor="b">
            <a:noAutofit/>
          </a:bodyPr>
          <a:lstStyle/>
          <a:p>
            <a:pPr algn="ctr"/>
            <a:r>
              <a:rPr lang="en-US" sz="4000" b="1" kern="1200" dirty="0">
                <a:solidFill>
                  <a:srgbClr val="595959"/>
                </a:solidFill>
                <a:latin typeface="+mj-lt"/>
                <a:ea typeface="+mj-ea"/>
                <a:cs typeface="+mj-cs"/>
              </a:rPr>
              <a:t>Describing Lesions &amp; Rashes</a:t>
            </a:r>
          </a:p>
        </p:txBody>
      </p:sp>
      <p:pic>
        <p:nvPicPr>
          <p:cNvPr id="6" name="Picture 5">
            <a:extLst>
              <a:ext uri="{FF2B5EF4-FFF2-40B4-BE49-F238E27FC236}">
                <a16:creationId xmlns:a16="http://schemas.microsoft.com/office/drawing/2014/main" id="{9A2CFD73-1652-5D22-59AB-E40131795D6F}"/>
              </a:ext>
            </a:extLst>
          </p:cNvPr>
          <p:cNvPicPr>
            <a:picLocks noChangeAspect="1"/>
          </p:cNvPicPr>
          <p:nvPr/>
        </p:nvPicPr>
        <p:blipFill>
          <a:blip r:embed="rId3"/>
          <a:srcRect l="970" t="14016" r="64062" b="72963"/>
          <a:stretch>
            <a:fillRect/>
          </a:stretch>
        </p:blipFill>
        <p:spPr>
          <a:xfrm>
            <a:off x="2153232" y="2210679"/>
            <a:ext cx="7885535" cy="3625102"/>
          </a:xfrm>
          <a:prstGeom prst="rect">
            <a:avLst/>
          </a:prstGeom>
        </p:spPr>
      </p:pic>
    </p:spTree>
    <p:extLst>
      <p:ext uri="{BB962C8B-B14F-4D97-AF65-F5344CB8AC3E}">
        <p14:creationId xmlns:p14="http://schemas.microsoft.com/office/powerpoint/2010/main" val="2363611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22.1 Anatomy and Normal Microbiota of the Skin and Eyes – Microbiology:  Canadian Edition">
            <a:extLst>
              <a:ext uri="{FF2B5EF4-FFF2-40B4-BE49-F238E27FC236}">
                <a16:creationId xmlns:a16="http://schemas.microsoft.com/office/drawing/2014/main" id="{3A61876B-9746-2044-36F7-ACE3B789E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2666" y="2160683"/>
            <a:ext cx="8046668" cy="42747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9066170-CB52-687A-BA94-CCCCB9702D0C}"/>
              </a:ext>
            </a:extLst>
          </p:cNvPr>
          <p:cNvSpPr txBox="1">
            <a:spLocks/>
          </p:cNvSpPr>
          <p:nvPr/>
        </p:nvSpPr>
        <p:spPr>
          <a:xfrm>
            <a:off x="164483" y="835121"/>
            <a:ext cx="11863034" cy="871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000" dirty="0">
                <a:solidFill>
                  <a:srgbClr val="595959"/>
                </a:solidFill>
              </a:rPr>
              <a:t>Describing Lesions &amp; Rashes</a:t>
            </a:r>
          </a:p>
        </p:txBody>
      </p:sp>
    </p:spTree>
    <p:extLst>
      <p:ext uri="{BB962C8B-B14F-4D97-AF65-F5344CB8AC3E}">
        <p14:creationId xmlns:p14="http://schemas.microsoft.com/office/powerpoint/2010/main" val="1611665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utorial A: The Primary Lesions&#10;&#10;Primary lesions are physical changes in the skin considered to be caused directly by the disease process. Types of primary lesions are rarely specific to a single disease entity.&#10;&#10;1.MACULE&#10;&#10;A macule is a change in the color of the skin. It is flat, if you were to close your eyes and run your fingers over the surface of a purely macular lesion, you could not detect it. A macule greater than 1 cm. may be referred to as a patch.&#10;&#10;2. PAPULE&#10;&#10;A papule is a solid raised lesion that has distinct borders and is less than 1 cm in diameter. Papules may have a variety of shapes in profile (domed, flat-topped, umbilicated) and may be associated with secondary features such as crusts or scales.&#10;&#10;3. NODULE&#10;&#10;A nodule is a raised solid lesion more than 1 cm. and may be in the epidermis, dermis, or subcutaneous tissue.&#10;&#10;4. TUMOR&#10;&#10;A tumor is a solid mass of the skin or subcutaneous tissue; it is larger than a nodule. (Please bear in mind this definition does not at all mean that the lesion is a neoplasm.)&#10;&#10;5. PLAQUE&#10;&#10;A plaque is a solid, raised, flat-topped lesion greater than 1 cm. in diameter. It is analogous to the geological formation, the plateau.&#10;&#10;6. VESICLE&#10;&#10;Vesicles are raised lesions less than 1 cm. in diameter that are filled with clear fluid.&#10;&#10;7. BULLAE&#10;&#10;Bullae are circumscribed fluid-filled lesions that are greater than 1 cm. in diameter.&#10;&#10;8. PUSTULE&#10;&#10;Pustules are circumscribed elevated lesions that contain pus. They are most commonly infected (as in folliculitis) but may be sterile (as in pustular psoriasis)&#10;&#10;9. WHEAL&#10;&#10;A wheal is an area of edema in the upper epidermis.&#10;&#10;10. BURROW&#10;&#10;Burrows are linear lesions produced by infestation of the skin and formation of tunnels (e.g., with infestation by the scabitic mite or by cutaneous larva migrans).&#10;&#10;11. TELANGIECTASIA&#10;&#10;Telangiectasia are the permanent dilatation of superficial blood vessels in the skin and may occur as isolated phenomena or as part of a generalized disorder, such as ataxia telangiectasia.&#10;&#10;Tutorial B: The Secondary Lesions&#10;&#10;Secondary lesions may evolve from primary lesions, or may be caused by external forces such as scratching, trauma, infection, or the healing process. The distinction between a primary and secondary lesion is not always clear.&#10;&#10;12. SCALE&#10;&#10;Scale consists of flakes or plates that represent compacted desquamated layers of stratum corneum. Desquamation occurs when there are peeling sheets of scale following acute injury to the skin.&#10;&#10;13. CRUST&#10;&#10;Crusting is the result of the drying of plasma or exudate on the skin. Please remember that crusting is different from scaling. The two terms refer to different phenomena and are not interchangeable. One can usually be distinguished from the other by appearance alone.&#10;&#10;14. ATROPHY&#10;&#10;Atrophy is thinning or absence of the epidermis or subcutaneous fat.&#10;&#10;15. LICHENIFICATION&#10;&#10;&quot;Lichenification&quot; refers to a thickening of the epidermis seen with exaggeration of normal skin lines. It is usually due to chronic rubbing or scratching of an area.&#10;&#10;16. EROSION&#10;&#10;Erosions are slightly depressed areas of skin in which part or all of the epidermis has been lost.&#10;&#10;17. EXCORIATION&#10;&#10;Excoriations are traumatized or abraded skin caused by scratching or rubbing.&#10;&#10;18. FISSURE&#10;&#10;A fissure is linear cleavage of skin which extends into the dermis.&#10;&#10;19. ULCERATION&#10;&#10;Ulcerations occur when there is necrosis of the epidermis and dermis and sometimes of the underlying subcutaneous tissue.&#10;&#10;20. SCAR&#10;&#10;Scars are the permanent fibrotic changes that occur on the skin following damage to the dermis. Scars may have secondary pigment characteristics.&#10;&#10;21. ESCHAR&#10;&#10;An eschar is a hard, usually darkened, plaque covering an ulcer implying extensive tissue necrosis, infarcts or gangrene.&#10;&#10;22. KELOIDS&#10;&#10;Keloids are an exaggerated connective tissue response of injured skin that extend beyond the edges of the original wound.&#10;&#10;23. PETECHIAE, PURPURA, AND ECCHYMOSES&#10;&#10;Three terms that refer to bleeding that occurs in the skin are petechiae, purpura, and ecchymoses. Generally, the term &quot;petechiae&quot; refers to smaller lesions. &quot;Purpura&quot; and &quot;ecchymoses&quot; are terms that refer to larger lesions. In certain situations purpura may be palpable. In all situations, petechiae, ecchymoses, and purpura do not blanch when pressed. If there is any question, press on the lesions carefully with a glass slide. Don't break the slide or cut the patient.&#10;&#10;Tutorial C: Patterns and Distribution&#10;&#10;Not only is the appearance of lesions important, but the pattern and distribution on the skin is as well.&#10;&#10;24. ANNULAR&#10;&#10;Annular lesions are seen in a ring shape. Tinea corporis, erythema migrans (the lesion associated with lyme disease), and granuloma annulare are three common examples.&#10;&#10;25. DISCRETE&#10;&#10;Discrete lesions tend to remain separate. This is a helpful descriptive term but has little specific diagnostic significance.&#10;&#10;26. CLUSTERED&#10;&#10;Clustered lesions are those that are grouped together. They are commonly seen in herpes simplex or with insect bites, for example.&#10;&#10;27. CONFLUENT&#10;&#10;Confluent lesions tend to run together.&#10;&#10;28. DERMATOMAL, ZOSTERIFORM&#10;&#10;Dermatomal, zosteriform lesions follow a dermatome. The lesions of varicella zoster (also known as shingles) are the classic example, but there are other lesions which may assume the same pattern.&#10;&#10;29. ECZEMATOID&#10;&#10;Eczematoid lesions are inflamed with a tendency toward clustering, oozing, or crusting.&#10;&#10;30. FOLLICULAR&#10;&#10;It is sometimes helpful to determine if lesions specifically involve the hair follicle.&#10;&#10;31. GUTTATE&#10;&#10;Guttate lesions look as though someone took a dropper and dropped this lesion on the skin. Guttate lesions are characteristic of one form of psoriasis, though that is not the only example.&#10;&#10;32. IRIS OR TARGET LESIONS&#10;&#10;Iris lesions are also known as target lesions and are a series of concentric rings. These have a dark or blistered center. These lesions are frequently seen with erythema multiforme but not exclusively so.&#10;&#10;33. KOEBNER PHENOMENON&#10;&#10;The Koebner phenomenon, also called the isomorphic response, refers to the appearance of lesions along a site of injury. This phenomenon is seen in a variety of conditions; for example, lichen planus, warts, molluscum contagiosum, psoriasis, lichen nitidus, and the systemic form of juvenile rheumatoid arthritis.&#10;&#10;34. LINEAR LESIONS&#10;&#10;Linear lesions occur in a line or band-like configuration. This descriptive term may apply to a wide variety of disorders. (One should be certain that the lesions are not following a dermatome.)&#10;&#10;35. MULTIFORM&#10;&#10;Patients with multiform lesions have lesions of a variety of shapes.&#10;&#10;36. RETICULAR&#10;&#10;Reticular or net-like lesions can be seen in a variety of circumstances; e.g., very commonly in newborns (or even grown children and adults) as cutis marmorata, or with livedo reticularis. The former fades as the skin is warmed the latter becomes more florid.&#10;&#10;37. SERPIGINOUS&#10;&#10;Serpiginous lesions wander as though following the track of a snake.&#10;&#10;38. UNIVERSALIS&#10;&#10;Universalis refers to a widespread disorder that affects the entire skin.&#10;&#10;39. SCARLATINIFORM&#10;&#10;Scarlatiniform rashes have the pattern of scarlet fever. The patient with a scarlatiniform rash has innumerable small red papules that are widely and diffusely distributed. Note that the term scarlatiniform does not mean that the patient has scarlet fever, although by definition all patients with scarlet fever have a scarlatiniform rash. Patients with a variety of other conditions such as Kawasaki disease, viral infections, or drug reactions may have rashes with the same pattern.&#10;&#10;40. STRAWBERRY TONGUE&#10;&#10;Patients with scarlet fever, Kawasaki disease or other conditions may develop a distinctive appearance of their tongues. Because of its resemblance to the well-known berry, the appearance is called &quot;strawberry tongue.&quot;&#10;&#10;41. MORBILLIFORM&#10;&#10;The term &quot;morbilliform&quot; means that the patient has a rash that looks like measles. Patients with measles will have the rash but patients with Kawasaki disease, drug reactions, or other conditions may also have a morbilliform rash. The rash consists of macular lesions that are red and are usually 2-10 mm in diameter but may be confluent in places.&#10;&#10;42. SATELLITE LESIONS&#10;&#10;The term is commonly used to describe a portion of the rash of cutaneous candidiasis in which a beefy red plaque may be found surrounded by numerous, smaller red macules located adjacent to the body of the main lesions.&#10;&#10;43. PATTERNS OF INTENTIONAL OR UNINTENTIONAL INJURY&#10;&#10;One important category of skin lesions involve the form that skin lesions may take in cases of child abuse or other intentional injury (bite marks, slap marks, strap marks, burns, etc.) or in cases of unintentional injury. Abrasions are traumatically caused erosions.">
            <a:extLst>
              <a:ext uri="{FF2B5EF4-FFF2-40B4-BE49-F238E27FC236}">
                <a16:creationId xmlns:a16="http://schemas.microsoft.com/office/drawing/2014/main" id="{5F6E1346-153A-CBE0-C227-2045B1C3E1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68" t="7574" r="3404" b="46213"/>
          <a:stretch>
            <a:fillRect/>
          </a:stretch>
        </p:blipFill>
        <p:spPr bwMode="auto">
          <a:xfrm>
            <a:off x="1518756" y="317810"/>
            <a:ext cx="9154487" cy="6222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285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utorial A: The Primary Lesions&#10;&#10;Primary lesions are physical changes in the skin considered to be caused directly by the disease process. Types of primary lesions are rarely specific to a single disease entity.&#10;&#10;1.MACULE&#10;&#10;A macule is a change in the color of the skin. It is flat, if you were to close your eyes and run your fingers over the surface of a purely macular lesion, you could not detect it. A macule greater than 1 cm. may be referred to as a patch.&#10;&#10;2. PAPULE&#10;&#10;A papule is a solid raised lesion that has distinct borders and is less than 1 cm in diameter. Papules may have a variety of shapes in profile (domed, flat-topped, umbilicated) and may be associated with secondary features such as crusts or scales.&#10;&#10;3. NODULE&#10;&#10;A nodule is a raised solid lesion more than 1 cm. and may be in the epidermis, dermis, or subcutaneous tissue.&#10;&#10;4. TUMOR&#10;&#10;A tumor is a solid mass of the skin or subcutaneous tissue; it is larger than a nodule. (Please bear in mind this definition does not at all mean that the lesion is a neoplasm.)&#10;&#10;5. PLAQUE&#10;&#10;A plaque is a solid, raised, flat-topped lesion greater than 1 cm. in diameter. It is analogous to the geological formation, the plateau.&#10;&#10;6. VESICLE&#10;&#10;Vesicles are raised lesions less than 1 cm. in diameter that are filled with clear fluid.&#10;&#10;7. BULLAE&#10;&#10;Bullae are circumscribed fluid-filled lesions that are greater than 1 cm. in diameter.&#10;&#10;8. PUSTULE&#10;&#10;Pustules are circumscribed elevated lesions that contain pus. They are most commonly infected (as in folliculitis) but may be sterile (as in pustular psoriasis)&#10;&#10;9. WHEAL&#10;&#10;A wheal is an area of edema in the upper epidermis.&#10;&#10;10. BURROW&#10;&#10;Burrows are linear lesions produced by infestation of the skin and formation of tunnels (e.g., with infestation by the scabitic mite or by cutaneous larva migrans).&#10;&#10;11. TELANGIECTASIA&#10;&#10;Telangiectasia are the permanent dilatation of superficial blood vessels in the skin and may occur as isolated phenomena or as part of a generalized disorder, such as ataxia telangiectasia.&#10;&#10;Tutorial B: The Secondary Lesions&#10;&#10;Secondary lesions may evolve from primary lesions, or may be caused by external forces such as scratching, trauma, infection, or the healing process. The distinction between a primary and secondary lesion is not always clear.&#10;&#10;12. SCALE&#10;&#10;Scale consists of flakes or plates that represent compacted desquamated layers of stratum corneum. Desquamation occurs when there are peeling sheets of scale following acute injury to the skin.&#10;&#10;13. CRUST&#10;&#10;Crusting is the result of the drying of plasma or exudate on the skin. Please remember that crusting is different from scaling. The two terms refer to different phenomena and are not interchangeable. One can usually be distinguished from the other by appearance alone.&#10;&#10;14. ATROPHY&#10;&#10;Atrophy is thinning or absence of the epidermis or subcutaneous fat.&#10;&#10;15. LICHENIFICATION&#10;&#10;&quot;Lichenification&quot; refers to a thickening of the epidermis seen with exaggeration of normal skin lines. It is usually due to chronic rubbing or scratching of an area.&#10;&#10;16. EROSION&#10;&#10;Erosions are slightly depressed areas of skin in which part or all of the epidermis has been lost.&#10;&#10;17. EXCORIATION&#10;&#10;Excoriations are traumatized or abraded skin caused by scratching or rubbing.&#10;&#10;18. FISSURE&#10;&#10;A fissure is linear cleavage of skin which extends into the dermis.&#10;&#10;19. ULCERATION&#10;&#10;Ulcerations occur when there is necrosis of the epidermis and dermis and sometimes of the underlying subcutaneous tissue.&#10;&#10;20. SCAR&#10;&#10;Scars are the permanent fibrotic changes that occur on the skin following damage to the dermis. Scars may have secondary pigment characteristics.&#10;&#10;21. ESCHAR&#10;&#10;An eschar is a hard, usually darkened, plaque covering an ulcer implying extensive tissue necrosis, infarcts or gangrene.&#10;&#10;22. KELOIDS&#10;&#10;Keloids are an exaggerated connective tissue response of injured skin that extend beyond the edges of the original wound.&#10;&#10;23. PETECHIAE, PURPURA, AND ECCHYMOSES&#10;&#10;Three terms that refer to bleeding that occurs in the skin are petechiae, purpura, and ecchymoses. Generally, the term &quot;petechiae&quot; refers to smaller lesions. &quot;Purpura&quot; and &quot;ecchymoses&quot; are terms that refer to larger lesions. In certain situations purpura may be palpable. In all situations, petechiae, ecchymoses, and purpura do not blanch when pressed. If there is any question, press on the lesions carefully with a glass slide. Don't break the slide or cut the patient.&#10;&#10;Tutorial C: Patterns and Distribution&#10;&#10;Not only is the appearance of lesions important, but the pattern and distribution on the skin is as well.&#10;&#10;24. ANNULAR&#10;&#10;Annular lesions are seen in a ring shape. Tinea corporis, erythema migrans (the lesion associated with lyme disease), and granuloma annulare are three common examples.&#10;&#10;25. DISCRETE&#10;&#10;Discrete lesions tend to remain separate. This is a helpful descriptive term but has little specific diagnostic significance.&#10;&#10;26. CLUSTERED&#10;&#10;Clustered lesions are those that are grouped together. They are commonly seen in herpes simplex or with insect bites, for example.&#10;&#10;27. CONFLUENT&#10;&#10;Confluent lesions tend to run together.&#10;&#10;28. DERMATOMAL, ZOSTERIFORM&#10;&#10;Dermatomal, zosteriform lesions follow a dermatome. The lesions of varicella zoster (also known as shingles) are the classic example, but there are other lesions which may assume the same pattern.&#10;&#10;29. ECZEMATOID&#10;&#10;Eczematoid lesions are inflamed with a tendency toward clustering, oozing, or crusting.&#10;&#10;30. FOLLICULAR&#10;&#10;It is sometimes helpful to determine if lesions specifically involve the hair follicle.&#10;&#10;31. GUTTATE&#10;&#10;Guttate lesions look as though someone took a dropper and dropped this lesion on the skin. Guttate lesions are characteristic of one form of psoriasis, though that is not the only example.&#10;&#10;32. IRIS OR TARGET LESIONS&#10;&#10;Iris lesions are also known as target lesions and are a series of concentric rings. These have a dark or blistered center. These lesions are frequently seen with erythema multiforme but not exclusively so.&#10;&#10;33. KOEBNER PHENOMENON&#10;&#10;The Koebner phenomenon, also called the isomorphic response, refers to the appearance of lesions along a site of injury. This phenomenon is seen in a variety of conditions; for example, lichen planus, warts, molluscum contagiosum, psoriasis, lichen nitidus, and the systemic form of juvenile rheumatoid arthritis.&#10;&#10;34. LINEAR LESIONS&#10;&#10;Linear lesions occur in a line or band-like configuration. This descriptive term may apply to a wide variety of disorders. (One should be certain that the lesions are not following a dermatome.)&#10;&#10;35. MULTIFORM&#10;&#10;Patients with multiform lesions have lesions of a variety of shapes.&#10;&#10;36. RETICULAR&#10;&#10;Reticular or net-like lesions can be seen in a variety of circumstances; e.g., very commonly in newborns (or even grown children and adults) as cutis marmorata, or with livedo reticularis. The former fades as the skin is warmed the latter becomes more florid.&#10;&#10;37. SERPIGINOUS&#10;&#10;Serpiginous lesions wander as though following the track of a snake.&#10;&#10;38. UNIVERSALIS&#10;&#10;Universalis refers to a widespread disorder that affects the entire skin.&#10;&#10;39. SCARLATINIFORM&#10;&#10;Scarlatiniform rashes have the pattern of scarlet fever. The patient with a scarlatiniform rash has innumerable small red papules that are widely and diffusely distributed. Note that the term scarlatiniform does not mean that the patient has scarlet fever, although by definition all patients with scarlet fever have a scarlatiniform rash. Patients with a variety of other conditions such as Kawasaki disease, viral infections, or drug reactions may have rashes with the same pattern.&#10;&#10;40. STRAWBERRY TONGUE&#10;&#10;Patients with scarlet fever, Kawasaki disease or other conditions may develop a distinctive appearance of their tongues. Because of its resemblance to the well-known berry, the appearance is called &quot;strawberry tongue.&quot;&#10;&#10;41. MORBILLIFORM&#10;&#10;The term &quot;morbilliform&quot; means that the patient has a rash that looks like measles. Patients with measles will have the rash but patients with Kawasaki disease, drug reactions, or other conditions may also have a morbilliform rash. The rash consists of macular lesions that are red and are usually 2-10 mm in diameter but may be confluent in places.&#10;&#10;42. SATELLITE LESIONS&#10;&#10;The term is commonly used to describe a portion of the rash of cutaneous candidiasis in which a beefy red plaque may be found surrounded by numerous, smaller red macules located adjacent to the body of the main lesions.&#10;&#10;43. PATTERNS OF INTENTIONAL OR UNINTENTIONAL INJURY&#10;&#10;One important category of skin lesions involve the form that skin lesions may take in cases of child abuse or other intentional injury (bite marks, slap marks, strap marks, burns, etc.) or in cases of unintentional injury. Abrasions are traumatically caused erosions.">
            <a:extLst>
              <a:ext uri="{FF2B5EF4-FFF2-40B4-BE49-F238E27FC236}">
                <a16:creationId xmlns:a16="http://schemas.microsoft.com/office/drawing/2014/main" id="{F1F10E6C-A6AE-24D1-F55E-FE20951484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68" t="53787" r="3404"/>
          <a:stretch>
            <a:fillRect/>
          </a:stretch>
        </p:blipFill>
        <p:spPr bwMode="auto">
          <a:xfrm>
            <a:off x="1594624" y="369378"/>
            <a:ext cx="9002751" cy="6119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981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82F74-EF32-EE09-DF18-CBB42B8D672B}"/>
              </a:ext>
            </a:extLst>
          </p:cNvPr>
          <p:cNvSpPr>
            <a:spLocks noGrp="1"/>
          </p:cNvSpPr>
          <p:nvPr>
            <p:ph type="title"/>
          </p:nvPr>
        </p:nvSpPr>
        <p:spPr>
          <a:xfrm>
            <a:off x="-446049" y="584990"/>
            <a:ext cx="13069229" cy="1116811"/>
          </a:xfrm>
        </p:spPr>
        <p:txBody>
          <a:bodyPr>
            <a:normAutofit/>
          </a:bodyPr>
          <a:lstStyle/>
          <a:p>
            <a:pPr algn="ctr"/>
            <a:r>
              <a:rPr lang="en-US" sz="3900" dirty="0">
                <a:solidFill>
                  <a:srgbClr val="595959"/>
                </a:solidFill>
              </a:rPr>
              <a:t>Laboratory and Diagnostic Investigations</a:t>
            </a:r>
          </a:p>
        </p:txBody>
      </p:sp>
      <p:sp>
        <p:nvSpPr>
          <p:cNvPr id="3" name="Content Placeholder 2">
            <a:extLst>
              <a:ext uri="{FF2B5EF4-FFF2-40B4-BE49-F238E27FC236}">
                <a16:creationId xmlns:a16="http://schemas.microsoft.com/office/drawing/2014/main" id="{E64473C9-AD94-D780-01D1-306A5E28D011}"/>
              </a:ext>
            </a:extLst>
          </p:cNvPr>
          <p:cNvSpPr>
            <a:spLocks noGrp="1"/>
          </p:cNvSpPr>
          <p:nvPr>
            <p:ph idx="1"/>
          </p:nvPr>
        </p:nvSpPr>
        <p:spPr>
          <a:xfrm>
            <a:off x="1217342" y="2253333"/>
            <a:ext cx="10515600" cy="4114801"/>
          </a:xfrm>
        </p:spPr>
        <p:txBody>
          <a:bodyPr>
            <a:normAutofit lnSpcReduction="10000"/>
          </a:bodyPr>
          <a:lstStyle/>
          <a:p>
            <a:pPr algn="r"/>
            <a:r>
              <a:rPr lang="en-US" sz="2400" dirty="0"/>
              <a:t>Diascopy</a:t>
            </a:r>
          </a:p>
          <a:p>
            <a:pPr algn="r"/>
            <a:r>
              <a:rPr lang="en-US" sz="2400" dirty="0" err="1"/>
              <a:t>Dermascopy</a:t>
            </a:r>
            <a:endParaRPr lang="en-US" sz="2400" dirty="0"/>
          </a:p>
          <a:p>
            <a:pPr algn="r"/>
            <a:r>
              <a:rPr lang="en-US" sz="2400" dirty="0"/>
              <a:t>Wood’s Lamp</a:t>
            </a:r>
          </a:p>
          <a:p>
            <a:pPr algn="r"/>
            <a:r>
              <a:rPr lang="en-US" sz="2400" dirty="0"/>
              <a:t>Skin Scraping for KOH</a:t>
            </a:r>
          </a:p>
          <a:p>
            <a:pPr algn="r"/>
            <a:r>
              <a:rPr lang="en-US" sz="2400" dirty="0"/>
              <a:t>Bacterial/Viral Culture</a:t>
            </a:r>
          </a:p>
          <a:p>
            <a:pPr algn="r"/>
            <a:r>
              <a:rPr lang="en-US" sz="2400" dirty="0"/>
              <a:t>VDRL </a:t>
            </a:r>
          </a:p>
          <a:p>
            <a:pPr algn="r"/>
            <a:r>
              <a:rPr lang="en-US" sz="2400" dirty="0"/>
              <a:t>Punch Biopsy </a:t>
            </a:r>
            <a:r>
              <a:rPr lang="en-US" sz="2400" dirty="0">
                <a:hlinkClick r:id="rId3"/>
              </a:rPr>
              <a:t>Punch Biopsy</a:t>
            </a:r>
            <a:r>
              <a:rPr lang="en-US" sz="2400" dirty="0"/>
              <a:t> (next week)</a:t>
            </a:r>
          </a:p>
          <a:p>
            <a:pPr algn="r"/>
            <a:r>
              <a:rPr lang="en-US" sz="2400" dirty="0"/>
              <a:t>Excisional Biopsy </a:t>
            </a:r>
            <a:r>
              <a:rPr lang="en-US" sz="2400" dirty="0">
                <a:hlinkClick r:id="rId4"/>
              </a:rPr>
              <a:t>Excisional Biopsy</a:t>
            </a:r>
            <a:r>
              <a:rPr lang="en-US" sz="2400" dirty="0"/>
              <a:t> (next week)</a:t>
            </a:r>
          </a:p>
          <a:p>
            <a:pPr algn="r"/>
            <a:endParaRPr lang="en-US" dirty="0"/>
          </a:p>
          <a:p>
            <a:pPr algn="r"/>
            <a:endParaRPr lang="en-US" dirty="0"/>
          </a:p>
        </p:txBody>
      </p:sp>
      <p:pic>
        <p:nvPicPr>
          <p:cNvPr id="11266" name="Picture 2" descr="IBOOLO DE-3100 Budget-Friendly Dermatoscope with Smartphone Adapter for  Clinic and Telemedicine">
            <a:extLst>
              <a:ext uri="{FF2B5EF4-FFF2-40B4-BE49-F238E27FC236}">
                <a16:creationId xmlns:a16="http://schemas.microsoft.com/office/drawing/2014/main" id="{EFFC53EA-5715-E849-5E96-80A2F569473A}"/>
              </a:ext>
            </a:extLst>
          </p:cNvPr>
          <p:cNvPicPr>
            <a:picLocks noChangeAspect="1" noChangeArrowheads="1"/>
          </p:cNvPicPr>
          <p:nvPr/>
        </p:nvPicPr>
        <p:blipFill rotWithShape="1">
          <a:blip r:embed="rId5"/>
          <a:srcRect l="12207" t="1547" r="21981" b="3981"/>
          <a:stretch>
            <a:fillRect/>
          </a:stretch>
        </p:blipFill>
        <p:spPr bwMode="auto">
          <a:xfrm>
            <a:off x="0" y="3629743"/>
            <a:ext cx="2278016" cy="327005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CultureSwab Collection and Transport ...">
            <a:extLst>
              <a:ext uri="{FF2B5EF4-FFF2-40B4-BE49-F238E27FC236}">
                <a16:creationId xmlns:a16="http://schemas.microsoft.com/office/drawing/2014/main" id="{8C4CA2AC-6CDA-C791-A054-E1D41FEB2412}"/>
              </a:ext>
            </a:extLst>
          </p:cNvPr>
          <p:cNvPicPr>
            <a:picLocks noChangeAspect="1" noChangeArrowheads="1"/>
          </p:cNvPicPr>
          <p:nvPr/>
        </p:nvPicPr>
        <p:blipFill rotWithShape="1">
          <a:blip r:embed="rId6"/>
          <a:srcRect t="26545" b="28586"/>
          <a:stretch>
            <a:fillRect/>
          </a:stretch>
        </p:blipFill>
        <p:spPr bwMode="auto">
          <a:xfrm rot="19985634">
            <a:off x="762757" y="2325642"/>
            <a:ext cx="3030517" cy="136125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Wood's lamp examination - YouTube">
            <a:extLst>
              <a:ext uri="{FF2B5EF4-FFF2-40B4-BE49-F238E27FC236}">
                <a16:creationId xmlns:a16="http://schemas.microsoft.com/office/drawing/2014/main" id="{9A1A1B84-5DEC-CAAB-EFDA-DD844B2F9C4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8717" t="25145" r="9402" b="-391"/>
          <a:stretch>
            <a:fillRect/>
          </a:stretch>
        </p:blipFill>
        <p:spPr bwMode="auto">
          <a:xfrm>
            <a:off x="5343446" y="2167492"/>
            <a:ext cx="2655181" cy="2671487"/>
          </a:xfrm>
          <a:prstGeom prst="ellipse">
            <a:avLst/>
          </a:prstGeom>
          <a:noFill/>
          <a:extLst>
            <a:ext uri="{909E8E84-426E-40DD-AFC4-6F175D3DCCD1}">
              <a14:hiddenFill xmlns:a14="http://schemas.microsoft.com/office/drawing/2010/main">
                <a:solidFill>
                  <a:srgbClr val="FFFFFF"/>
                </a:solidFill>
              </a14:hiddenFill>
            </a:ext>
          </a:extLst>
        </p:spPr>
      </p:pic>
      <p:pic>
        <p:nvPicPr>
          <p:cNvPr id="11272" name="Picture 8" descr="UTM® Universal Transport Medium™ | COPAN">
            <a:extLst>
              <a:ext uri="{FF2B5EF4-FFF2-40B4-BE49-F238E27FC236}">
                <a16:creationId xmlns:a16="http://schemas.microsoft.com/office/drawing/2014/main" id="{90876FF3-1C0B-5486-98A1-E27AA2906087}"/>
              </a:ext>
            </a:extLst>
          </p:cNvPr>
          <p:cNvPicPr>
            <a:picLocks noChangeAspect="1" noChangeArrowheads="1"/>
          </p:cNvPicPr>
          <p:nvPr/>
        </p:nvPicPr>
        <p:blipFill>
          <a:blip r:embed="rId8"/>
          <a:srcRect/>
          <a:stretch>
            <a:fillRect/>
          </a:stretch>
        </p:blipFill>
        <p:spPr bwMode="auto">
          <a:xfrm>
            <a:off x="2811572" y="3547676"/>
            <a:ext cx="2992835" cy="2992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668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851C-65D7-3679-7246-DBBA0AA72285}"/>
              </a:ext>
            </a:extLst>
          </p:cNvPr>
          <p:cNvSpPr>
            <a:spLocks noGrp="1"/>
          </p:cNvSpPr>
          <p:nvPr>
            <p:ph type="title"/>
          </p:nvPr>
        </p:nvSpPr>
        <p:spPr>
          <a:xfrm>
            <a:off x="7531609" y="434897"/>
            <a:ext cx="3822189" cy="1172217"/>
          </a:xfrm>
        </p:spPr>
        <p:txBody>
          <a:bodyPr/>
          <a:lstStyle/>
          <a:p>
            <a:r>
              <a:rPr lang="en-CA" sz="4000" dirty="0">
                <a:solidFill>
                  <a:srgbClr val="595959"/>
                </a:solidFill>
              </a:rPr>
              <a:t>Diascopy</a:t>
            </a:r>
            <a:br>
              <a:rPr lang="en-CA" sz="4000" dirty="0">
                <a:solidFill>
                  <a:srgbClr val="595959"/>
                </a:solidFill>
              </a:rPr>
            </a:br>
            <a:r>
              <a:rPr lang="en-CA" sz="3000" dirty="0">
                <a:solidFill>
                  <a:srgbClr val="595959"/>
                </a:solidFill>
              </a:rPr>
              <a:t>(aka Glass Test)</a:t>
            </a:r>
          </a:p>
        </p:txBody>
      </p:sp>
      <p:sp>
        <p:nvSpPr>
          <p:cNvPr id="3" name="Content Placeholder 2">
            <a:extLst>
              <a:ext uri="{FF2B5EF4-FFF2-40B4-BE49-F238E27FC236}">
                <a16:creationId xmlns:a16="http://schemas.microsoft.com/office/drawing/2014/main" id="{A313A431-5F57-789A-1FC8-0EBA6B189F5B}"/>
              </a:ext>
            </a:extLst>
          </p:cNvPr>
          <p:cNvSpPr>
            <a:spLocks noGrp="1"/>
          </p:cNvSpPr>
          <p:nvPr>
            <p:ph idx="1"/>
          </p:nvPr>
        </p:nvSpPr>
        <p:spPr>
          <a:xfrm>
            <a:off x="7531610" y="2434201"/>
            <a:ext cx="3822189" cy="3742762"/>
          </a:xfrm>
        </p:spPr>
        <p:txBody>
          <a:bodyPr>
            <a:normAutofit/>
          </a:bodyPr>
          <a:lstStyle/>
          <a:p>
            <a:r>
              <a:rPr lang="en-CA" sz="2400" dirty="0"/>
              <a:t>Many harmless rashes blanch with pressure</a:t>
            </a:r>
          </a:p>
          <a:p>
            <a:r>
              <a:rPr lang="en-CA" sz="2400" dirty="0"/>
              <a:t>Meningococcal rash will remain red or purple</a:t>
            </a:r>
          </a:p>
        </p:txBody>
      </p:sp>
      <p:pic>
        <p:nvPicPr>
          <p:cNvPr id="9218" name="Picture 2" descr="Meningitis Glass Test - Meningitis Rash Test | Meningitis Now">
            <a:extLst>
              <a:ext uri="{FF2B5EF4-FFF2-40B4-BE49-F238E27FC236}">
                <a16:creationId xmlns:a16="http://schemas.microsoft.com/office/drawing/2014/main" id="{F08A8973-D69E-D4A4-53C6-01E323DF2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827" r="27659"/>
          <a:stretch>
            <a:fillRect/>
          </a:stretch>
        </p:blipFill>
        <p:spPr bwMode="auto">
          <a:xfrm>
            <a:off x="1" y="10"/>
            <a:ext cx="693639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966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EDD5-1E76-0F44-462E-D9A175BBC491}"/>
              </a:ext>
            </a:extLst>
          </p:cNvPr>
          <p:cNvSpPr>
            <a:spLocks noGrp="1"/>
          </p:cNvSpPr>
          <p:nvPr>
            <p:ph type="title"/>
          </p:nvPr>
        </p:nvSpPr>
        <p:spPr/>
        <p:txBody>
          <a:bodyPr>
            <a:normAutofit/>
          </a:bodyPr>
          <a:lstStyle/>
          <a:p>
            <a:pPr algn="ctr"/>
            <a:r>
              <a:rPr lang="en-CA" sz="4000" dirty="0">
                <a:solidFill>
                  <a:srgbClr val="595959"/>
                </a:solidFill>
              </a:rPr>
              <a:t>Integumentary Red Flags</a:t>
            </a:r>
          </a:p>
        </p:txBody>
      </p:sp>
      <p:sp>
        <p:nvSpPr>
          <p:cNvPr id="3" name="Content Placeholder 2">
            <a:extLst>
              <a:ext uri="{FF2B5EF4-FFF2-40B4-BE49-F238E27FC236}">
                <a16:creationId xmlns:a16="http://schemas.microsoft.com/office/drawing/2014/main" id="{0A4E02D7-BA2C-8CD3-5E63-051D94748EC8}"/>
              </a:ext>
            </a:extLst>
          </p:cNvPr>
          <p:cNvSpPr>
            <a:spLocks noGrp="1"/>
          </p:cNvSpPr>
          <p:nvPr>
            <p:ph idx="1"/>
          </p:nvPr>
        </p:nvSpPr>
        <p:spPr>
          <a:xfrm>
            <a:off x="604955" y="1961372"/>
            <a:ext cx="11187112" cy="5222103"/>
          </a:xfrm>
        </p:spPr>
        <p:txBody>
          <a:bodyPr>
            <a:normAutofit/>
          </a:bodyPr>
          <a:lstStyle/>
          <a:p>
            <a:r>
              <a:rPr lang="en-CA" sz="2400" dirty="0"/>
              <a:t>Angioedema, airway compromise</a:t>
            </a:r>
          </a:p>
          <a:p>
            <a:r>
              <a:rPr lang="en-CA" sz="2400" dirty="0"/>
              <a:t>Very rapid progression (necrotizing fasciitis) </a:t>
            </a:r>
          </a:p>
          <a:p>
            <a:r>
              <a:rPr lang="en-CA" sz="2400" dirty="0"/>
              <a:t>Widespread rash, blistering or skin detachment  (Stevens-Johnson Syndrome)</a:t>
            </a:r>
          </a:p>
          <a:p>
            <a:r>
              <a:rPr lang="en-CA" sz="2400" dirty="0"/>
              <a:t>Necrosis</a:t>
            </a:r>
          </a:p>
          <a:p>
            <a:r>
              <a:rPr lang="en-CA" sz="2400" dirty="0"/>
              <a:t>Associated fever, chills, night sweats, weight loss, malaise</a:t>
            </a:r>
          </a:p>
          <a:p>
            <a:r>
              <a:rPr lang="en-CA" sz="2400" dirty="0"/>
              <a:t>Hemodynamic instability (hypotension, tachycardia, confused  = sepsis) </a:t>
            </a:r>
          </a:p>
          <a:p>
            <a:r>
              <a:rPr lang="en-CA" sz="2400" dirty="0"/>
              <a:t>Spreading erythema, warmth, swelling, pain (cellulitis, erysipelas)</a:t>
            </a:r>
          </a:p>
          <a:p>
            <a:r>
              <a:rPr lang="en-CA" sz="2400" dirty="0"/>
              <a:t>Lymphangitic streaking (lymphangitis, risk of sepsis)</a:t>
            </a:r>
          </a:p>
          <a:p>
            <a:r>
              <a:rPr lang="en-CA" sz="2400" dirty="0"/>
              <a:t>Scalp tenderness (with other features of temporal arteritis)</a:t>
            </a:r>
          </a:p>
        </p:txBody>
      </p:sp>
      <p:pic>
        <p:nvPicPr>
          <p:cNvPr id="7" name="Picture 6">
            <a:extLst>
              <a:ext uri="{FF2B5EF4-FFF2-40B4-BE49-F238E27FC236}">
                <a16:creationId xmlns:a16="http://schemas.microsoft.com/office/drawing/2014/main" id="{4548B201-D0E7-CA07-E739-63D2BCEA3171}"/>
              </a:ext>
            </a:extLst>
          </p:cNvPr>
          <p:cNvPicPr>
            <a:picLocks noChangeAspect="1"/>
          </p:cNvPicPr>
          <p:nvPr/>
        </p:nvPicPr>
        <p:blipFill>
          <a:blip r:embed="rId3"/>
          <a:srcRect/>
          <a:stretch>
            <a:fillRect/>
          </a:stretch>
        </p:blipFill>
        <p:spPr>
          <a:xfrm>
            <a:off x="8950482" y="2587859"/>
            <a:ext cx="2841585" cy="4270141"/>
          </a:xfrm>
          <a:prstGeom prst="rect">
            <a:avLst/>
          </a:prstGeom>
        </p:spPr>
      </p:pic>
    </p:spTree>
    <p:extLst>
      <p:ext uri="{BB962C8B-B14F-4D97-AF65-F5344CB8AC3E}">
        <p14:creationId xmlns:p14="http://schemas.microsoft.com/office/powerpoint/2010/main" val="2610910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85EED-8ED3-BFC9-C1D9-D57B0091ECA1}"/>
              </a:ext>
            </a:extLst>
          </p:cNvPr>
          <p:cNvSpPr>
            <a:spLocks noGrp="1"/>
          </p:cNvSpPr>
          <p:nvPr>
            <p:ph type="title"/>
          </p:nvPr>
        </p:nvSpPr>
        <p:spPr/>
        <p:txBody>
          <a:bodyPr>
            <a:normAutofit/>
          </a:bodyPr>
          <a:lstStyle/>
          <a:p>
            <a:r>
              <a:rPr lang="en-CA" sz="4000" dirty="0">
                <a:solidFill>
                  <a:srgbClr val="595959"/>
                </a:solidFill>
              </a:rPr>
              <a:t>Angioedema</a:t>
            </a:r>
          </a:p>
        </p:txBody>
      </p:sp>
      <p:pic>
        <p:nvPicPr>
          <p:cNvPr id="4" name="Content Placeholder 3">
            <a:extLst>
              <a:ext uri="{FF2B5EF4-FFF2-40B4-BE49-F238E27FC236}">
                <a16:creationId xmlns:a16="http://schemas.microsoft.com/office/drawing/2014/main" id="{982C197B-5475-24FC-18DE-491843134DEB}"/>
              </a:ext>
            </a:extLst>
          </p:cNvPr>
          <p:cNvPicPr>
            <a:picLocks noChangeAspect="1"/>
          </p:cNvPicPr>
          <p:nvPr/>
        </p:nvPicPr>
        <p:blipFill>
          <a:blip r:embed="rId3"/>
          <a:stretch>
            <a:fillRect/>
          </a:stretch>
        </p:blipFill>
        <p:spPr>
          <a:xfrm>
            <a:off x="3186279" y="2233961"/>
            <a:ext cx="5819441" cy="43513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3" name="Graphic 2" descr="Ambulance outline">
            <a:extLst>
              <a:ext uri="{FF2B5EF4-FFF2-40B4-BE49-F238E27FC236}">
                <a16:creationId xmlns:a16="http://schemas.microsoft.com/office/drawing/2014/main" id="{80F42D70-5F9A-0B8B-D802-B9492B231C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6075" y="-359809"/>
            <a:ext cx="2593770" cy="2593770"/>
          </a:xfrm>
          <a:prstGeom prst="rect">
            <a:avLst/>
          </a:prstGeom>
        </p:spPr>
      </p:pic>
    </p:spTree>
    <p:extLst>
      <p:ext uri="{BB962C8B-B14F-4D97-AF65-F5344CB8AC3E}">
        <p14:creationId xmlns:p14="http://schemas.microsoft.com/office/powerpoint/2010/main" val="2297594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5C96-7BB8-9E3A-74B2-5FFFAE1701D4}"/>
              </a:ext>
            </a:extLst>
          </p:cNvPr>
          <p:cNvSpPr>
            <a:spLocks noGrp="1"/>
          </p:cNvSpPr>
          <p:nvPr>
            <p:ph type="title"/>
          </p:nvPr>
        </p:nvSpPr>
        <p:spPr/>
        <p:txBody>
          <a:bodyPr>
            <a:normAutofit/>
          </a:bodyPr>
          <a:lstStyle/>
          <a:p>
            <a:r>
              <a:rPr lang="en-CA" sz="4000" dirty="0">
                <a:solidFill>
                  <a:srgbClr val="595959"/>
                </a:solidFill>
              </a:rPr>
              <a:t>Meningococcemia</a:t>
            </a:r>
          </a:p>
        </p:txBody>
      </p:sp>
      <p:pic>
        <p:nvPicPr>
          <p:cNvPr id="8194" name="Picture 2" descr="meningacoccal rash baby">
            <a:extLst>
              <a:ext uri="{FF2B5EF4-FFF2-40B4-BE49-F238E27FC236}">
                <a16:creationId xmlns:a16="http://schemas.microsoft.com/office/drawing/2014/main" id="{3DBC0019-140A-7AD0-992C-ABF31A4F0AF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7562231" y="2076363"/>
            <a:ext cx="2830705" cy="433365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4" name="Content Placeholder 3">
            <a:extLst>
              <a:ext uri="{FF2B5EF4-FFF2-40B4-BE49-F238E27FC236}">
                <a16:creationId xmlns:a16="http://schemas.microsoft.com/office/drawing/2014/main" id="{D4D5738F-95EC-2F26-6A8E-1D78AA0DA6D7}"/>
              </a:ext>
            </a:extLst>
          </p:cNvPr>
          <p:cNvPicPr>
            <a:picLocks noChangeAspect="1"/>
          </p:cNvPicPr>
          <p:nvPr/>
        </p:nvPicPr>
        <p:blipFill>
          <a:blip r:embed="rId4"/>
          <a:stretch>
            <a:fillRect/>
          </a:stretch>
        </p:blipFill>
        <p:spPr>
          <a:xfrm>
            <a:off x="1054213" y="2154422"/>
            <a:ext cx="5627071" cy="43513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Graphic 4" descr="Ambulance outline">
            <a:extLst>
              <a:ext uri="{FF2B5EF4-FFF2-40B4-BE49-F238E27FC236}">
                <a16:creationId xmlns:a16="http://schemas.microsoft.com/office/drawing/2014/main" id="{3FE9AE42-713A-BFC5-FFEA-5AFA642A8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4385" y="-275512"/>
            <a:ext cx="2548054" cy="2548054"/>
          </a:xfrm>
          <a:prstGeom prst="rect">
            <a:avLst/>
          </a:prstGeom>
        </p:spPr>
      </p:pic>
    </p:spTree>
    <p:extLst>
      <p:ext uri="{BB962C8B-B14F-4D97-AF65-F5344CB8AC3E}">
        <p14:creationId xmlns:p14="http://schemas.microsoft.com/office/powerpoint/2010/main" val="1122403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A1CD5-AE88-B2B3-86B3-13A5481CFD73}"/>
              </a:ext>
            </a:extLst>
          </p:cNvPr>
          <p:cNvSpPr>
            <a:spLocks noGrp="1"/>
          </p:cNvSpPr>
          <p:nvPr>
            <p:ph type="title"/>
          </p:nvPr>
        </p:nvSpPr>
        <p:spPr/>
        <p:txBody>
          <a:bodyPr>
            <a:noAutofit/>
          </a:bodyPr>
          <a:lstStyle/>
          <a:p>
            <a:r>
              <a:rPr lang="en-CA" sz="4000" dirty="0">
                <a:solidFill>
                  <a:srgbClr val="595959"/>
                </a:solidFill>
              </a:rPr>
              <a:t>Steven Johnson Syndrome/</a:t>
            </a:r>
            <a:br>
              <a:rPr lang="en-CA" sz="4000" dirty="0">
                <a:solidFill>
                  <a:srgbClr val="595959"/>
                </a:solidFill>
              </a:rPr>
            </a:br>
            <a:r>
              <a:rPr lang="en-CA" sz="4000" dirty="0">
                <a:solidFill>
                  <a:srgbClr val="595959"/>
                </a:solidFill>
              </a:rPr>
              <a:t>Toxic Epidermal Necrolysis</a:t>
            </a:r>
          </a:p>
        </p:txBody>
      </p:sp>
      <p:pic>
        <p:nvPicPr>
          <p:cNvPr id="4" name="Picture 3">
            <a:extLst>
              <a:ext uri="{FF2B5EF4-FFF2-40B4-BE49-F238E27FC236}">
                <a16:creationId xmlns:a16="http://schemas.microsoft.com/office/drawing/2014/main" id="{37C0D24B-2A84-3683-EA91-35F88E86E1E9}"/>
              </a:ext>
            </a:extLst>
          </p:cNvPr>
          <p:cNvPicPr>
            <a:picLocks noChangeAspect="1"/>
          </p:cNvPicPr>
          <p:nvPr/>
        </p:nvPicPr>
        <p:blipFill>
          <a:blip r:embed="rId3"/>
          <a:stretch>
            <a:fillRect/>
          </a:stretch>
        </p:blipFill>
        <p:spPr>
          <a:xfrm>
            <a:off x="338908" y="2644605"/>
            <a:ext cx="5487010" cy="411253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id="{0A871AE2-59C7-53F6-E272-A34EF117B54B}"/>
              </a:ext>
            </a:extLst>
          </p:cNvPr>
          <p:cNvPicPr>
            <a:picLocks noChangeAspect="1"/>
          </p:cNvPicPr>
          <p:nvPr/>
        </p:nvPicPr>
        <p:blipFill>
          <a:blip r:embed="rId4"/>
          <a:stretch>
            <a:fillRect/>
          </a:stretch>
        </p:blipFill>
        <p:spPr>
          <a:xfrm>
            <a:off x="4217692" y="1934164"/>
            <a:ext cx="4296784" cy="34537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5">
            <a:extLst>
              <a:ext uri="{FF2B5EF4-FFF2-40B4-BE49-F238E27FC236}">
                <a16:creationId xmlns:a16="http://schemas.microsoft.com/office/drawing/2014/main" id="{65DED2F3-B5E1-6514-6006-CAFF11B757F4}"/>
              </a:ext>
            </a:extLst>
          </p:cNvPr>
          <p:cNvPicPr>
            <a:picLocks noChangeAspect="1"/>
          </p:cNvPicPr>
          <p:nvPr/>
        </p:nvPicPr>
        <p:blipFill>
          <a:blip r:embed="rId5"/>
          <a:stretch>
            <a:fillRect/>
          </a:stretch>
        </p:blipFill>
        <p:spPr>
          <a:xfrm>
            <a:off x="7371971" y="3661036"/>
            <a:ext cx="4291549" cy="298841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3" name="Graphic 2" descr="Ambulance outline">
            <a:extLst>
              <a:ext uri="{FF2B5EF4-FFF2-40B4-BE49-F238E27FC236}">
                <a16:creationId xmlns:a16="http://schemas.microsoft.com/office/drawing/2014/main" id="{C9586D25-6ABE-C0F7-FB93-B8565333552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9522" y="449148"/>
            <a:ext cx="1252653" cy="1252653"/>
          </a:xfrm>
          <a:prstGeom prst="rect">
            <a:avLst/>
          </a:prstGeom>
        </p:spPr>
      </p:pic>
    </p:spTree>
    <p:extLst>
      <p:ext uri="{BB962C8B-B14F-4D97-AF65-F5344CB8AC3E}">
        <p14:creationId xmlns:p14="http://schemas.microsoft.com/office/powerpoint/2010/main" val="4244040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4C6D-0A2C-0A20-23BA-3BA1F50C527D}"/>
              </a:ext>
            </a:extLst>
          </p:cNvPr>
          <p:cNvSpPr>
            <a:spLocks noGrp="1"/>
          </p:cNvSpPr>
          <p:nvPr>
            <p:ph type="title"/>
          </p:nvPr>
        </p:nvSpPr>
        <p:spPr>
          <a:xfrm>
            <a:off x="261963" y="610010"/>
            <a:ext cx="7044871" cy="677384"/>
          </a:xfrm>
        </p:spPr>
        <p:txBody>
          <a:bodyPr anchor="b">
            <a:noAutofit/>
          </a:bodyPr>
          <a:lstStyle/>
          <a:p>
            <a:r>
              <a:rPr lang="en-CA" sz="4000" dirty="0">
                <a:solidFill>
                  <a:srgbClr val="595959"/>
                </a:solidFill>
              </a:rPr>
              <a:t>Case Study: Martha</a:t>
            </a:r>
          </a:p>
        </p:txBody>
      </p:sp>
      <p:sp>
        <p:nvSpPr>
          <p:cNvPr id="3" name="Content Placeholder 2">
            <a:extLst>
              <a:ext uri="{FF2B5EF4-FFF2-40B4-BE49-F238E27FC236}">
                <a16:creationId xmlns:a16="http://schemas.microsoft.com/office/drawing/2014/main" id="{DBC3E664-B03D-C90D-A0DC-E85AF89E6BC2}"/>
              </a:ext>
            </a:extLst>
          </p:cNvPr>
          <p:cNvSpPr>
            <a:spLocks noGrp="1"/>
          </p:cNvSpPr>
          <p:nvPr>
            <p:ph idx="1"/>
          </p:nvPr>
        </p:nvSpPr>
        <p:spPr>
          <a:xfrm>
            <a:off x="296716" y="1951463"/>
            <a:ext cx="7044871" cy="2511147"/>
          </a:xfrm>
        </p:spPr>
        <p:txBody>
          <a:bodyPr anchor="t">
            <a:normAutofit/>
          </a:bodyPr>
          <a:lstStyle/>
          <a:p>
            <a:pPr marL="0" indent="0">
              <a:lnSpc>
                <a:spcPct val="100000"/>
              </a:lnSpc>
              <a:spcBef>
                <a:spcPts val="0"/>
              </a:spcBef>
              <a:buNone/>
            </a:pPr>
            <a:r>
              <a:rPr lang="en-US" sz="2400" dirty="0"/>
              <a:t>Martha (she/her), 59-year-old, presents to the clinic, reporting an itchy rash on her hands and arms that developed two days ago. She reports that the rash is also on the front of her legs and that there are little blisters on her legs and hands. She has no allergies, has no chronic conditions and takes no medication.</a:t>
            </a:r>
          </a:p>
          <a:p>
            <a:pPr>
              <a:lnSpc>
                <a:spcPct val="100000"/>
              </a:lnSpc>
              <a:spcBef>
                <a:spcPts val="0"/>
              </a:spcBef>
            </a:pPr>
            <a:endParaRPr lang="en-CA" sz="2400" dirty="0"/>
          </a:p>
        </p:txBody>
      </p:sp>
      <p:pic>
        <p:nvPicPr>
          <p:cNvPr id="5" name="Picture 6" descr="Poison Ivy - Causes | Symptoms ...">
            <a:extLst>
              <a:ext uri="{FF2B5EF4-FFF2-40B4-BE49-F238E27FC236}">
                <a16:creationId xmlns:a16="http://schemas.microsoft.com/office/drawing/2014/main" id="{A300C5DF-4DCE-5AB8-1CD3-D54F35386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1587" y="1284608"/>
            <a:ext cx="4484191" cy="251114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TextBox 5">
            <a:extLst>
              <a:ext uri="{FF2B5EF4-FFF2-40B4-BE49-F238E27FC236}">
                <a16:creationId xmlns:a16="http://schemas.microsoft.com/office/drawing/2014/main" id="{188A0744-5A28-CD58-A2E1-9F583517C633}"/>
              </a:ext>
            </a:extLst>
          </p:cNvPr>
          <p:cNvSpPr txBox="1"/>
          <p:nvPr/>
        </p:nvSpPr>
        <p:spPr>
          <a:xfrm>
            <a:off x="261963" y="4462610"/>
            <a:ext cx="11563815" cy="1107996"/>
          </a:xfrm>
          <a:prstGeom prst="rect">
            <a:avLst/>
          </a:prstGeom>
          <a:noFill/>
        </p:spPr>
        <p:txBody>
          <a:bodyPr wrap="square" rtlCol="0">
            <a:spAutoFit/>
          </a:bodyPr>
          <a:lstStyle/>
          <a:p>
            <a:r>
              <a:rPr lang="en-US" sz="2400" b="1" i="1" u="sng" dirty="0"/>
              <a:t>Question #1</a:t>
            </a:r>
            <a:r>
              <a:rPr lang="en-US" sz="2400" b="1" u="sng" dirty="0"/>
              <a:t>:</a:t>
            </a:r>
            <a:r>
              <a:rPr lang="en-US" sz="2400" b="1" dirty="0"/>
              <a:t> </a:t>
            </a:r>
            <a:r>
              <a:rPr lang="en-US" sz="2400" dirty="0"/>
              <a:t>What other key health history questions should the NP ask Martha during the health history?</a:t>
            </a:r>
          </a:p>
          <a:p>
            <a:endParaRPr lang="en-CA" dirty="0"/>
          </a:p>
        </p:txBody>
      </p:sp>
    </p:spTree>
    <p:extLst>
      <p:ext uri="{BB962C8B-B14F-4D97-AF65-F5344CB8AC3E}">
        <p14:creationId xmlns:p14="http://schemas.microsoft.com/office/powerpoint/2010/main" val="344992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86261-F574-0435-B4DC-FD8B46A55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A70C8-B378-FF32-B078-907F77985BB0}"/>
              </a:ext>
            </a:extLst>
          </p:cNvPr>
          <p:cNvSpPr>
            <a:spLocks noGrp="1"/>
          </p:cNvSpPr>
          <p:nvPr>
            <p:ph type="title"/>
          </p:nvPr>
        </p:nvSpPr>
        <p:spPr>
          <a:xfrm>
            <a:off x="531006" y="504775"/>
            <a:ext cx="5880946" cy="677384"/>
          </a:xfrm>
        </p:spPr>
        <p:txBody>
          <a:bodyPr anchor="b">
            <a:noAutofit/>
          </a:bodyPr>
          <a:lstStyle/>
          <a:p>
            <a:r>
              <a:rPr lang="en-CA" sz="4000" dirty="0">
                <a:solidFill>
                  <a:srgbClr val="595959"/>
                </a:solidFill>
              </a:rPr>
              <a:t>Case Study: Martha</a:t>
            </a:r>
          </a:p>
        </p:txBody>
      </p:sp>
      <p:sp>
        <p:nvSpPr>
          <p:cNvPr id="3" name="Content Placeholder 2">
            <a:extLst>
              <a:ext uri="{FF2B5EF4-FFF2-40B4-BE49-F238E27FC236}">
                <a16:creationId xmlns:a16="http://schemas.microsoft.com/office/drawing/2014/main" id="{88253190-2B20-4382-4B8D-3840E46A5196}"/>
              </a:ext>
            </a:extLst>
          </p:cNvPr>
          <p:cNvSpPr>
            <a:spLocks noGrp="1"/>
          </p:cNvSpPr>
          <p:nvPr>
            <p:ph idx="1"/>
          </p:nvPr>
        </p:nvSpPr>
        <p:spPr>
          <a:xfrm>
            <a:off x="296716" y="1951463"/>
            <a:ext cx="7044871" cy="2511147"/>
          </a:xfrm>
        </p:spPr>
        <p:txBody>
          <a:bodyPr anchor="t">
            <a:normAutofit/>
          </a:bodyPr>
          <a:lstStyle/>
          <a:p>
            <a:pPr marL="0" indent="0">
              <a:lnSpc>
                <a:spcPct val="100000"/>
              </a:lnSpc>
              <a:spcBef>
                <a:spcPts val="0"/>
              </a:spcBef>
              <a:buNone/>
            </a:pPr>
            <a:r>
              <a:rPr lang="en-US" sz="2400" dirty="0"/>
              <a:t>Martha (she/her), 59-year-old, presents to the clinic, reporting an itchy rash on her hands and arms that developed two days ago. She reports that the rash is also on the front of her legs and that there are little blisters on her legs and hands. She has no allergies, has no chronic conditions and takes no medication.</a:t>
            </a:r>
          </a:p>
          <a:p>
            <a:pPr>
              <a:lnSpc>
                <a:spcPct val="100000"/>
              </a:lnSpc>
              <a:spcBef>
                <a:spcPts val="0"/>
              </a:spcBef>
            </a:pPr>
            <a:endParaRPr lang="en-CA" sz="2400" dirty="0"/>
          </a:p>
        </p:txBody>
      </p:sp>
      <p:pic>
        <p:nvPicPr>
          <p:cNvPr id="5" name="Picture 6" descr="Poison Ivy - Causes | Symptoms ...">
            <a:extLst>
              <a:ext uri="{FF2B5EF4-FFF2-40B4-BE49-F238E27FC236}">
                <a16:creationId xmlns:a16="http://schemas.microsoft.com/office/drawing/2014/main" id="{232F49D9-8A17-91EB-8099-6E6713AA86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1587" y="1284608"/>
            <a:ext cx="4484191" cy="251114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TextBox 5">
            <a:extLst>
              <a:ext uri="{FF2B5EF4-FFF2-40B4-BE49-F238E27FC236}">
                <a16:creationId xmlns:a16="http://schemas.microsoft.com/office/drawing/2014/main" id="{699DECE7-9DEB-AE51-CE8B-8F53FA1D21EC}"/>
              </a:ext>
            </a:extLst>
          </p:cNvPr>
          <p:cNvSpPr txBox="1"/>
          <p:nvPr/>
        </p:nvSpPr>
        <p:spPr>
          <a:xfrm>
            <a:off x="261963" y="4462610"/>
            <a:ext cx="11563815" cy="1107996"/>
          </a:xfrm>
          <a:prstGeom prst="rect">
            <a:avLst/>
          </a:prstGeom>
          <a:noFill/>
        </p:spPr>
        <p:txBody>
          <a:bodyPr wrap="square" rtlCol="0">
            <a:spAutoFit/>
          </a:bodyPr>
          <a:lstStyle/>
          <a:p>
            <a:r>
              <a:rPr lang="en-US" sz="2400" b="1" i="1" u="sng" dirty="0"/>
              <a:t>Question #1</a:t>
            </a:r>
            <a:r>
              <a:rPr lang="en-US" sz="2400" b="1" u="sng" dirty="0"/>
              <a:t>:</a:t>
            </a:r>
            <a:r>
              <a:rPr lang="en-US" sz="2400" b="1" dirty="0"/>
              <a:t> </a:t>
            </a:r>
            <a:r>
              <a:rPr lang="en-US" sz="2400" dirty="0"/>
              <a:t>What other key health history questions should the NP ask Martha during the health history?</a:t>
            </a:r>
          </a:p>
          <a:p>
            <a:endParaRPr lang="en-CA" dirty="0"/>
          </a:p>
        </p:txBody>
      </p:sp>
      <p:sp>
        <p:nvSpPr>
          <p:cNvPr id="10" name="TextBox 9">
            <a:extLst>
              <a:ext uri="{FF2B5EF4-FFF2-40B4-BE49-F238E27FC236}">
                <a16:creationId xmlns:a16="http://schemas.microsoft.com/office/drawing/2014/main" id="{50720F0A-7AA8-9F8E-E84D-2DD905580155}"/>
              </a:ext>
            </a:extLst>
          </p:cNvPr>
          <p:cNvSpPr txBox="1"/>
          <p:nvPr/>
        </p:nvSpPr>
        <p:spPr>
          <a:xfrm>
            <a:off x="442332" y="5470245"/>
            <a:ext cx="11307336" cy="1015663"/>
          </a:xfrm>
          <a:prstGeom prst="rect">
            <a:avLst/>
          </a:prstGeom>
          <a:noFill/>
        </p:spPr>
        <p:txBody>
          <a:bodyPr wrap="square" rtlCol="0">
            <a:spAutoFit/>
          </a:bodyPr>
          <a:lstStyle/>
          <a:p>
            <a:r>
              <a:rPr lang="en-US" sz="2000" dirty="0"/>
              <a:t>The health history reveals:</a:t>
            </a:r>
            <a:br>
              <a:rPr lang="en-US" sz="2000" dirty="0"/>
            </a:br>
            <a:r>
              <a:rPr lang="en-US" sz="2000" dirty="0"/>
              <a:t>	</a:t>
            </a:r>
            <a:r>
              <a:rPr lang="en-US" sz="2000" i="1" dirty="0">
                <a:solidFill>
                  <a:schemeClr val="accent5">
                    <a:lumMod val="75000"/>
                  </a:schemeClr>
                </a:solidFill>
              </a:rPr>
              <a:t>She states she has spent the past week clearing brush at her friend’s summer cottage. She washed herself and 	her clothes with soap and water after noticing the rash. She admits that the rash only appears in exposed areas.</a:t>
            </a:r>
          </a:p>
        </p:txBody>
      </p:sp>
    </p:spTree>
    <p:extLst>
      <p:ext uri="{BB962C8B-B14F-4D97-AF65-F5344CB8AC3E}">
        <p14:creationId xmlns:p14="http://schemas.microsoft.com/office/powerpoint/2010/main" val="1240346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D6CC5-D649-54CA-F124-75D0E2308DB7}"/>
              </a:ext>
            </a:extLst>
          </p:cNvPr>
          <p:cNvSpPr>
            <a:spLocks noGrp="1"/>
          </p:cNvSpPr>
          <p:nvPr>
            <p:ph type="title"/>
          </p:nvPr>
        </p:nvSpPr>
        <p:spPr>
          <a:xfrm>
            <a:off x="442332" y="180396"/>
            <a:ext cx="10515600" cy="1116811"/>
          </a:xfrm>
        </p:spPr>
        <p:txBody>
          <a:bodyPr>
            <a:normAutofit/>
          </a:bodyPr>
          <a:lstStyle/>
          <a:p>
            <a:r>
              <a:rPr lang="en-CA" sz="4000" dirty="0">
                <a:solidFill>
                  <a:srgbClr val="595959"/>
                </a:solidFill>
              </a:rPr>
              <a:t>Case Study Continued</a:t>
            </a:r>
          </a:p>
        </p:txBody>
      </p:sp>
      <p:sp>
        <p:nvSpPr>
          <p:cNvPr id="3" name="Content Placeholder 2">
            <a:extLst>
              <a:ext uri="{FF2B5EF4-FFF2-40B4-BE49-F238E27FC236}">
                <a16:creationId xmlns:a16="http://schemas.microsoft.com/office/drawing/2014/main" id="{04DA6EAF-D2CD-44B3-ED63-97B40C614C87}"/>
              </a:ext>
            </a:extLst>
          </p:cNvPr>
          <p:cNvSpPr>
            <a:spLocks noGrp="1"/>
          </p:cNvSpPr>
          <p:nvPr>
            <p:ph idx="1"/>
          </p:nvPr>
        </p:nvSpPr>
        <p:spPr>
          <a:xfrm>
            <a:off x="301083" y="3332708"/>
            <a:ext cx="11208834" cy="4114801"/>
          </a:xfrm>
        </p:spPr>
        <p:txBody>
          <a:bodyPr>
            <a:normAutofit/>
          </a:bodyPr>
          <a:lstStyle/>
          <a:p>
            <a:pPr marL="0" indent="0">
              <a:buNone/>
            </a:pPr>
            <a:endParaRPr lang="en-US" sz="1200" b="1" i="1" u="sng" dirty="0"/>
          </a:p>
          <a:p>
            <a:pPr marL="0" indent="0">
              <a:buNone/>
            </a:pPr>
            <a:r>
              <a:rPr lang="en-US" sz="2400" b="1" i="1" u="sng" dirty="0"/>
              <a:t>Question #2</a:t>
            </a:r>
            <a:r>
              <a:rPr lang="en-US" sz="2400" b="1" u="sng" dirty="0"/>
              <a:t>:</a:t>
            </a:r>
            <a:r>
              <a:rPr lang="en-US" sz="2400" b="1" dirty="0"/>
              <a:t> </a:t>
            </a:r>
            <a:r>
              <a:rPr lang="en-US" sz="2400" dirty="0"/>
              <a:t>What part of the history is most likely to guide you to the diagnosis?</a:t>
            </a:r>
          </a:p>
          <a:p>
            <a:pPr marL="0" indent="0">
              <a:buNone/>
            </a:pPr>
            <a:endParaRPr lang="en-US" sz="2400" dirty="0"/>
          </a:p>
          <a:p>
            <a:pPr marL="0" indent="0">
              <a:buNone/>
            </a:pPr>
            <a:r>
              <a:rPr lang="en-US" sz="2400" b="1" i="1" u="sng" dirty="0"/>
              <a:t>Question #3</a:t>
            </a:r>
            <a:r>
              <a:rPr lang="en-US" sz="2400" b="1" u="sng" dirty="0"/>
              <a:t>:</a:t>
            </a:r>
            <a:r>
              <a:rPr lang="en-US" sz="2400" b="1" dirty="0"/>
              <a:t> </a:t>
            </a:r>
            <a:r>
              <a:rPr lang="en-US" sz="2400" dirty="0"/>
              <a:t>What is the most likely diagnosis? Identify the key features that guided your decision and compare the findings you could have found for other potential differential diagnoses.</a:t>
            </a:r>
            <a:endParaRPr lang="en-CA" sz="2400" dirty="0"/>
          </a:p>
        </p:txBody>
      </p:sp>
      <p:sp>
        <p:nvSpPr>
          <p:cNvPr id="5" name="TextBox 4">
            <a:extLst>
              <a:ext uri="{FF2B5EF4-FFF2-40B4-BE49-F238E27FC236}">
                <a16:creationId xmlns:a16="http://schemas.microsoft.com/office/drawing/2014/main" id="{75018B6A-8CED-2C39-D379-EDD1ACD3A939}"/>
              </a:ext>
            </a:extLst>
          </p:cNvPr>
          <p:cNvSpPr txBox="1"/>
          <p:nvPr/>
        </p:nvSpPr>
        <p:spPr>
          <a:xfrm>
            <a:off x="442332" y="2009423"/>
            <a:ext cx="11307336" cy="1015663"/>
          </a:xfrm>
          <a:prstGeom prst="rect">
            <a:avLst/>
          </a:prstGeom>
          <a:noFill/>
        </p:spPr>
        <p:txBody>
          <a:bodyPr wrap="square" rtlCol="0">
            <a:spAutoFit/>
          </a:bodyPr>
          <a:lstStyle/>
          <a:p>
            <a:r>
              <a:rPr lang="en-US" sz="2000" dirty="0"/>
              <a:t>The health history reveals:</a:t>
            </a:r>
            <a:br>
              <a:rPr lang="en-US" sz="2000" dirty="0"/>
            </a:br>
            <a:r>
              <a:rPr lang="en-US" sz="2000" dirty="0"/>
              <a:t>	</a:t>
            </a:r>
            <a:r>
              <a:rPr lang="en-US" sz="2000" i="1" dirty="0">
                <a:solidFill>
                  <a:schemeClr val="accent5">
                    <a:lumMod val="75000"/>
                  </a:schemeClr>
                </a:solidFill>
              </a:rPr>
              <a:t>She states she has spent the past week clearing brush at her friend’s summer cottage. She washed herself and 	her clothes with soap and water after noticing the rash. She admits that the rash only appears in exposed areas.</a:t>
            </a:r>
          </a:p>
        </p:txBody>
      </p:sp>
    </p:spTree>
    <p:extLst>
      <p:ext uri="{BB962C8B-B14F-4D97-AF65-F5344CB8AC3E}">
        <p14:creationId xmlns:p14="http://schemas.microsoft.com/office/powerpoint/2010/main" val="264825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B04E-D109-0A61-D31C-86630A51B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5E0CC-08AF-4096-7198-3519EED22D7A}"/>
              </a:ext>
            </a:extLst>
          </p:cNvPr>
          <p:cNvSpPr>
            <a:spLocks noGrp="1"/>
          </p:cNvSpPr>
          <p:nvPr>
            <p:ph type="title"/>
          </p:nvPr>
        </p:nvSpPr>
        <p:spPr>
          <a:xfrm>
            <a:off x="1616053" y="668232"/>
            <a:ext cx="8959893" cy="888360"/>
          </a:xfrm>
        </p:spPr>
        <p:txBody>
          <a:bodyPr anchor="b">
            <a:normAutofit/>
          </a:bodyPr>
          <a:lstStyle/>
          <a:p>
            <a:pPr algn="ctr"/>
            <a:r>
              <a:rPr lang="en-CA" sz="4000" dirty="0">
                <a:solidFill>
                  <a:schemeClr val="tx1">
                    <a:lumMod val="65000"/>
                    <a:lumOff val="35000"/>
                  </a:schemeClr>
                </a:solidFill>
              </a:rPr>
              <a:t>Prep Questions/Exam Practice</a:t>
            </a:r>
          </a:p>
        </p:txBody>
      </p:sp>
      <p:sp>
        <p:nvSpPr>
          <p:cNvPr id="3" name="Content Placeholder 2">
            <a:extLst>
              <a:ext uri="{FF2B5EF4-FFF2-40B4-BE49-F238E27FC236}">
                <a16:creationId xmlns:a16="http://schemas.microsoft.com/office/drawing/2014/main" id="{45F4062E-2DDD-A353-8C73-6CC0411452EB}"/>
              </a:ext>
            </a:extLst>
          </p:cNvPr>
          <p:cNvSpPr>
            <a:spLocks noGrp="1"/>
          </p:cNvSpPr>
          <p:nvPr>
            <p:ph idx="1"/>
          </p:nvPr>
        </p:nvSpPr>
        <p:spPr>
          <a:xfrm>
            <a:off x="1200150" y="2143548"/>
            <a:ext cx="10104120" cy="4046220"/>
          </a:xfrm>
        </p:spPr>
        <p:txBody>
          <a:bodyPr anchor="t">
            <a:normAutofit lnSpcReduction="10000"/>
          </a:bodyPr>
          <a:lstStyle/>
          <a:p>
            <a:pPr marL="0" indent="0">
              <a:buNone/>
            </a:pPr>
            <a:r>
              <a:rPr lang="en-US" sz="2400" b="1" dirty="0">
                <a:solidFill>
                  <a:schemeClr val="tx1">
                    <a:lumMod val="65000"/>
                    <a:lumOff val="35000"/>
                  </a:schemeClr>
                </a:solidFill>
              </a:rPr>
              <a:t>Case Study Questions:</a:t>
            </a:r>
            <a:br>
              <a:rPr lang="en-US" sz="2400" dirty="0">
                <a:solidFill>
                  <a:schemeClr val="tx1">
                    <a:lumMod val="65000"/>
                    <a:lumOff val="35000"/>
                  </a:schemeClr>
                </a:solidFill>
              </a:rPr>
            </a:br>
            <a:endParaRPr lang="en-US" sz="2400" dirty="0">
              <a:solidFill>
                <a:schemeClr val="tx1">
                  <a:lumMod val="65000"/>
                  <a:lumOff val="35000"/>
                </a:schemeClr>
              </a:solidFill>
            </a:endParaRPr>
          </a:p>
          <a:p>
            <a:pPr marL="0" indent="0">
              <a:buNone/>
            </a:pPr>
            <a:r>
              <a:rPr lang="en-US" sz="2400" dirty="0">
                <a:solidFill>
                  <a:schemeClr val="tx1">
                    <a:lumMod val="65000"/>
                    <a:lumOff val="35000"/>
                  </a:schemeClr>
                </a:solidFill>
              </a:rPr>
              <a:t>Alexa is a 35-year-old female (she/her) who comes to clinic for routine screening. Upon observing the skin of Alexa’s face, the NP notes that there is redness in the scalp margins, eyebrows, paranasal and nasolabial folds. The skin appears inflamed at the margins and there is a white flaky scale over this reddened base. Alexa claims that she has had this for a few years. It is not itchy. It has not spread. There is no discharge. </a:t>
            </a:r>
          </a:p>
          <a:p>
            <a:pPr marL="0" indent="0">
              <a:buNone/>
            </a:pPr>
            <a:r>
              <a:rPr lang="en-US" sz="2400" dirty="0">
                <a:solidFill>
                  <a:schemeClr val="tx1">
                    <a:lumMod val="65000"/>
                    <a:lumOff val="35000"/>
                  </a:schemeClr>
                </a:solidFill>
              </a:rPr>
              <a:t>There is no discomfort associated with it.</a:t>
            </a:r>
            <a:br>
              <a:rPr lang="en-US" sz="2400" dirty="0">
                <a:solidFill>
                  <a:schemeClr val="tx1">
                    <a:lumMod val="65000"/>
                    <a:lumOff val="35000"/>
                  </a:schemeClr>
                </a:solidFill>
              </a:rPr>
            </a:br>
            <a:endParaRPr lang="en-CA" sz="2400" dirty="0">
              <a:solidFill>
                <a:schemeClr val="tx1">
                  <a:lumMod val="65000"/>
                  <a:lumOff val="35000"/>
                </a:schemeClr>
              </a:solidFill>
            </a:endParaRPr>
          </a:p>
        </p:txBody>
      </p:sp>
    </p:spTree>
    <p:extLst>
      <p:ext uri="{BB962C8B-B14F-4D97-AF65-F5344CB8AC3E}">
        <p14:creationId xmlns:p14="http://schemas.microsoft.com/office/powerpoint/2010/main" val="1198988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154B5-C7D6-EE9F-46BD-764A40248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04A13-EDD9-2570-232E-E54AA0281540}"/>
              </a:ext>
            </a:extLst>
          </p:cNvPr>
          <p:cNvSpPr>
            <a:spLocks noGrp="1"/>
          </p:cNvSpPr>
          <p:nvPr>
            <p:ph type="title"/>
          </p:nvPr>
        </p:nvSpPr>
        <p:spPr>
          <a:xfrm>
            <a:off x="1480105" y="585439"/>
            <a:ext cx="9231785" cy="888360"/>
          </a:xfrm>
        </p:spPr>
        <p:txBody>
          <a:bodyPr anchor="b">
            <a:noAutofit/>
          </a:bodyPr>
          <a:lstStyle/>
          <a:p>
            <a:pPr algn="ctr"/>
            <a:r>
              <a:rPr lang="en-CA" sz="4000" dirty="0">
                <a:solidFill>
                  <a:schemeClr val="tx1">
                    <a:lumMod val="65000"/>
                    <a:lumOff val="35000"/>
                  </a:schemeClr>
                </a:solidFill>
              </a:rPr>
              <a:t>Prep Questions/Exam Practice</a:t>
            </a:r>
          </a:p>
        </p:txBody>
      </p:sp>
      <p:sp>
        <p:nvSpPr>
          <p:cNvPr id="3" name="Content Placeholder 2">
            <a:extLst>
              <a:ext uri="{FF2B5EF4-FFF2-40B4-BE49-F238E27FC236}">
                <a16:creationId xmlns:a16="http://schemas.microsoft.com/office/drawing/2014/main" id="{251ACB7C-0265-1B11-6C61-16709B1C14C8}"/>
              </a:ext>
            </a:extLst>
          </p:cNvPr>
          <p:cNvSpPr>
            <a:spLocks noGrp="1"/>
          </p:cNvSpPr>
          <p:nvPr>
            <p:ph idx="1"/>
          </p:nvPr>
        </p:nvSpPr>
        <p:spPr>
          <a:xfrm>
            <a:off x="275062" y="2243067"/>
            <a:ext cx="11641873" cy="4274820"/>
          </a:xfrm>
        </p:spPr>
        <p:txBody>
          <a:bodyPr anchor="t">
            <a:normAutofit fontScale="85000" lnSpcReduction="20000"/>
          </a:bodyPr>
          <a:lstStyle/>
          <a:p>
            <a:pPr marL="0" indent="0">
              <a:buNone/>
            </a:pPr>
            <a:r>
              <a:rPr lang="en-US" sz="3500" b="1" dirty="0">
                <a:solidFill>
                  <a:schemeClr val="tx1">
                    <a:lumMod val="65000"/>
                    <a:lumOff val="35000"/>
                  </a:schemeClr>
                </a:solidFill>
              </a:rPr>
              <a:t>Case Study Questions:</a:t>
            </a:r>
          </a:p>
          <a:p>
            <a:pPr marL="0" indent="0">
              <a:buNone/>
            </a:pPr>
            <a:r>
              <a:rPr lang="en-US" sz="2600" dirty="0">
                <a:solidFill>
                  <a:schemeClr val="tx1">
                    <a:lumMod val="65000"/>
                    <a:lumOff val="35000"/>
                  </a:schemeClr>
                </a:solidFill>
              </a:rPr>
              <a:t>#1: List THREE (3) differential diagnoses the NP should consider, given this clinical skin presentation.</a:t>
            </a:r>
          </a:p>
          <a:p>
            <a:pPr marL="0" indent="0">
              <a:buNone/>
            </a:pPr>
            <a:endParaRPr lang="en-US" sz="2600" dirty="0">
              <a:solidFill>
                <a:schemeClr val="tx1">
                  <a:lumMod val="65000"/>
                  <a:lumOff val="35000"/>
                </a:schemeClr>
              </a:solidFill>
            </a:endParaRPr>
          </a:p>
          <a:p>
            <a:pPr marL="0" indent="0">
              <a:buNone/>
            </a:pPr>
            <a:r>
              <a:rPr lang="en-US" sz="2600" dirty="0">
                <a:solidFill>
                  <a:schemeClr val="tx1">
                    <a:lumMod val="65000"/>
                    <a:lumOff val="35000"/>
                  </a:schemeClr>
                </a:solidFill>
              </a:rPr>
              <a:t>#2: Identify the ONE (1) most likely diagnosis for this skin condition?</a:t>
            </a:r>
          </a:p>
          <a:p>
            <a:pPr marL="0" indent="0">
              <a:buNone/>
            </a:pPr>
            <a:endParaRPr lang="en-US" sz="2600" dirty="0">
              <a:solidFill>
                <a:schemeClr val="tx1">
                  <a:lumMod val="65000"/>
                  <a:lumOff val="35000"/>
                </a:schemeClr>
              </a:solidFill>
            </a:endParaRPr>
          </a:p>
          <a:p>
            <a:pPr marL="0" indent="0">
              <a:buNone/>
            </a:pPr>
            <a:r>
              <a:rPr lang="en-US" sz="2600" dirty="0">
                <a:solidFill>
                  <a:schemeClr val="tx1">
                    <a:lumMod val="65000"/>
                    <a:lumOff val="35000"/>
                  </a:schemeClr>
                </a:solidFill>
              </a:rPr>
              <a:t>#3: Identify the ONE (1) organism is believed to play a role in the etiology of this condition?</a:t>
            </a:r>
          </a:p>
          <a:p>
            <a:pPr marL="0" indent="0">
              <a:buNone/>
            </a:pPr>
            <a:endParaRPr lang="en-US" sz="2600" i="1" dirty="0">
              <a:solidFill>
                <a:schemeClr val="tx1">
                  <a:lumMod val="65000"/>
                  <a:lumOff val="35000"/>
                </a:schemeClr>
              </a:solidFill>
            </a:endParaRPr>
          </a:p>
          <a:p>
            <a:pPr marL="0" indent="0">
              <a:buNone/>
            </a:pPr>
            <a:r>
              <a:rPr lang="en-US" sz="2600" dirty="0">
                <a:solidFill>
                  <a:schemeClr val="tx1">
                    <a:lumMod val="65000"/>
                    <a:lumOff val="35000"/>
                  </a:schemeClr>
                </a:solidFill>
              </a:rPr>
              <a:t>#4: Identify one diagnostic test, which would confirm this condition? If there is no diagnostic test, state none required.</a:t>
            </a:r>
          </a:p>
          <a:p>
            <a:pPr marL="0" indent="0">
              <a:buNone/>
            </a:pPr>
            <a:br>
              <a:rPr lang="en-US" sz="1300" dirty="0">
                <a:solidFill>
                  <a:schemeClr val="tx1">
                    <a:lumMod val="65000"/>
                    <a:lumOff val="35000"/>
                  </a:schemeClr>
                </a:solidFill>
              </a:rPr>
            </a:br>
            <a:endParaRPr lang="en-US" sz="1300" dirty="0">
              <a:solidFill>
                <a:schemeClr val="tx1">
                  <a:lumMod val="65000"/>
                  <a:lumOff val="35000"/>
                </a:schemeClr>
              </a:solidFill>
            </a:endParaRPr>
          </a:p>
          <a:p>
            <a:pPr marL="0" indent="0">
              <a:buNone/>
            </a:pPr>
            <a:endParaRPr lang="en-US" sz="1300" dirty="0">
              <a:solidFill>
                <a:schemeClr val="tx1">
                  <a:lumMod val="65000"/>
                  <a:lumOff val="35000"/>
                </a:schemeClr>
              </a:solidFill>
            </a:endParaRPr>
          </a:p>
        </p:txBody>
      </p:sp>
    </p:spTree>
    <p:extLst>
      <p:ext uri="{BB962C8B-B14F-4D97-AF65-F5344CB8AC3E}">
        <p14:creationId xmlns:p14="http://schemas.microsoft.com/office/powerpoint/2010/main" val="72914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3315-C5ED-3792-8590-7FDD0C890059}"/>
              </a:ext>
            </a:extLst>
          </p:cNvPr>
          <p:cNvSpPr>
            <a:spLocks noGrp="1"/>
          </p:cNvSpPr>
          <p:nvPr>
            <p:ph type="title"/>
          </p:nvPr>
        </p:nvSpPr>
        <p:spPr>
          <a:xfrm>
            <a:off x="419100" y="322001"/>
            <a:ext cx="11353800" cy="1116811"/>
          </a:xfrm>
        </p:spPr>
        <p:txBody>
          <a:bodyPr>
            <a:normAutofit fontScale="90000"/>
          </a:bodyPr>
          <a:lstStyle/>
          <a:p>
            <a:r>
              <a:rPr lang="en-US" dirty="0">
                <a:solidFill>
                  <a:srgbClr val="595959"/>
                </a:solidFill>
              </a:rPr>
              <a:t>Dermatitis- </a:t>
            </a:r>
            <a:br>
              <a:rPr lang="en-US" dirty="0">
                <a:solidFill>
                  <a:srgbClr val="595959"/>
                </a:solidFill>
              </a:rPr>
            </a:br>
            <a:r>
              <a:rPr lang="en-US" sz="3600" dirty="0">
                <a:solidFill>
                  <a:srgbClr val="595959"/>
                </a:solidFill>
              </a:rPr>
              <a:t>Atopic (Eczema) , Contact (Allergic) , Seborrheic </a:t>
            </a:r>
          </a:p>
        </p:txBody>
      </p:sp>
      <p:pic>
        <p:nvPicPr>
          <p:cNvPr id="4" name="Content Placeholder 3">
            <a:extLst>
              <a:ext uri="{FF2B5EF4-FFF2-40B4-BE49-F238E27FC236}">
                <a16:creationId xmlns:a16="http://schemas.microsoft.com/office/drawing/2014/main" id="{C915361A-A4D9-D9FE-4A16-1EDCAB6FA63E}"/>
              </a:ext>
            </a:extLst>
          </p:cNvPr>
          <p:cNvPicPr>
            <a:picLocks noGrp="1" noChangeAspect="1"/>
          </p:cNvPicPr>
          <p:nvPr>
            <p:ph idx="1"/>
          </p:nvPr>
        </p:nvPicPr>
        <p:blipFill>
          <a:blip r:embed="rId3"/>
          <a:stretch>
            <a:fillRect/>
          </a:stretch>
        </p:blipFill>
        <p:spPr>
          <a:xfrm>
            <a:off x="2324100" y="2062163"/>
            <a:ext cx="7543800" cy="4114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6E352FD2-CF16-F3CB-38A6-8BE35DEB272F}"/>
              </a:ext>
            </a:extLst>
          </p:cNvPr>
          <p:cNvPicPr>
            <a:picLocks noChangeAspect="1"/>
          </p:cNvPicPr>
          <p:nvPr/>
        </p:nvPicPr>
        <p:blipFill>
          <a:blip r:embed="rId4"/>
          <a:stretch>
            <a:fillRect/>
          </a:stretch>
        </p:blipFill>
        <p:spPr>
          <a:xfrm>
            <a:off x="290808" y="2192055"/>
            <a:ext cx="4095768" cy="34878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290" name="Picture 2" descr="Seborrheic Dermatitis and How to Fix It ...">
            <a:extLst>
              <a:ext uri="{FF2B5EF4-FFF2-40B4-BE49-F238E27FC236}">
                <a16:creationId xmlns:a16="http://schemas.microsoft.com/office/drawing/2014/main" id="{A1DDFD75-9524-F24A-4029-9E9702D8DE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8307" y="2620723"/>
            <a:ext cx="3952885" cy="26304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3335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821BB-01D7-612F-1D32-4E8725729924}"/>
              </a:ext>
            </a:extLst>
          </p:cNvPr>
          <p:cNvSpPr>
            <a:spLocks noGrp="1"/>
          </p:cNvSpPr>
          <p:nvPr>
            <p:ph type="title"/>
          </p:nvPr>
        </p:nvSpPr>
        <p:spPr>
          <a:xfrm>
            <a:off x="838200" y="365125"/>
            <a:ext cx="10515600" cy="777875"/>
          </a:xfrm>
        </p:spPr>
        <p:txBody>
          <a:bodyPr>
            <a:normAutofit/>
          </a:bodyPr>
          <a:lstStyle/>
          <a:p>
            <a:r>
              <a:rPr lang="en-CA" sz="4000" dirty="0">
                <a:solidFill>
                  <a:srgbClr val="595959"/>
                </a:solidFill>
              </a:rPr>
              <a:t>Dermatitis vs. Psoriasis</a:t>
            </a:r>
          </a:p>
        </p:txBody>
      </p:sp>
      <p:sp>
        <p:nvSpPr>
          <p:cNvPr id="3" name="Content Placeholder 2">
            <a:extLst>
              <a:ext uri="{FF2B5EF4-FFF2-40B4-BE49-F238E27FC236}">
                <a16:creationId xmlns:a16="http://schemas.microsoft.com/office/drawing/2014/main" id="{7B6341B1-E1D8-32D8-FA47-842CA6C92A6D}"/>
              </a:ext>
            </a:extLst>
          </p:cNvPr>
          <p:cNvSpPr>
            <a:spLocks noGrp="1"/>
          </p:cNvSpPr>
          <p:nvPr>
            <p:ph idx="1"/>
          </p:nvPr>
        </p:nvSpPr>
        <p:spPr/>
        <p:txBody>
          <a:bodyPr/>
          <a:lstStyle/>
          <a:p>
            <a:endParaRPr lang="en-CA" dirty="0"/>
          </a:p>
        </p:txBody>
      </p:sp>
      <p:pic>
        <p:nvPicPr>
          <p:cNvPr id="4" name="table">
            <a:extLst>
              <a:ext uri="{FF2B5EF4-FFF2-40B4-BE49-F238E27FC236}">
                <a16:creationId xmlns:a16="http://schemas.microsoft.com/office/drawing/2014/main" id="{B208D1EE-85AF-9463-7A49-10D08B4B9D87}"/>
              </a:ext>
            </a:extLst>
          </p:cNvPr>
          <p:cNvPicPr>
            <a:picLocks noChangeAspect="1"/>
          </p:cNvPicPr>
          <p:nvPr/>
        </p:nvPicPr>
        <p:blipFill>
          <a:blip r:embed="rId3"/>
          <a:stretch>
            <a:fillRect/>
          </a:stretch>
        </p:blipFill>
        <p:spPr>
          <a:xfrm>
            <a:off x="312458" y="1324207"/>
            <a:ext cx="11779181" cy="5354173"/>
          </a:xfrm>
          <a:prstGeom prst="rect">
            <a:avLst/>
          </a:prstGeom>
        </p:spPr>
      </p:pic>
    </p:spTree>
    <p:extLst>
      <p:ext uri="{BB962C8B-B14F-4D97-AF65-F5344CB8AC3E}">
        <p14:creationId xmlns:p14="http://schemas.microsoft.com/office/powerpoint/2010/main" val="3557001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B8729-0889-5688-F8BE-7B687A12A5E5}"/>
              </a:ext>
            </a:extLst>
          </p:cNvPr>
          <p:cNvSpPr>
            <a:spLocks noGrp="1"/>
          </p:cNvSpPr>
          <p:nvPr>
            <p:ph type="title"/>
          </p:nvPr>
        </p:nvSpPr>
        <p:spPr>
          <a:xfrm>
            <a:off x="369849" y="0"/>
            <a:ext cx="10515600" cy="1116811"/>
          </a:xfrm>
        </p:spPr>
        <p:txBody>
          <a:bodyPr>
            <a:normAutofit/>
          </a:bodyPr>
          <a:lstStyle/>
          <a:p>
            <a:r>
              <a:rPr lang="en-CA" sz="4000" dirty="0">
                <a:solidFill>
                  <a:srgbClr val="595959"/>
                </a:solidFill>
              </a:rPr>
              <a:t>Atopic Dermatitis </a:t>
            </a:r>
          </a:p>
        </p:txBody>
      </p:sp>
      <p:pic>
        <p:nvPicPr>
          <p:cNvPr id="8" name="Picture 7" descr="Infantile atopic dermatitis, face">
            <a:extLst>
              <a:ext uri="{FF2B5EF4-FFF2-40B4-BE49-F238E27FC236}">
                <a16:creationId xmlns:a16="http://schemas.microsoft.com/office/drawing/2014/main" id="{126ABD31-252B-6810-6D33-CF62C43770B9}"/>
              </a:ext>
            </a:extLst>
          </p:cNvPr>
          <p:cNvPicPr>
            <a:picLocks noChangeAspect="1"/>
          </p:cNvPicPr>
          <p:nvPr/>
        </p:nvPicPr>
        <p:blipFill>
          <a:blip r:embed="rId3"/>
          <a:stretch>
            <a:fillRect/>
          </a:stretch>
        </p:blipFill>
        <p:spPr>
          <a:xfrm>
            <a:off x="2248671" y="1424591"/>
            <a:ext cx="4220419" cy="31653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Flexural atopic dermatitis in childhood">
            <a:extLst>
              <a:ext uri="{FF2B5EF4-FFF2-40B4-BE49-F238E27FC236}">
                <a16:creationId xmlns:a16="http://schemas.microsoft.com/office/drawing/2014/main" id="{F7C2CD78-496A-F9E1-0613-A7CA400EB990}"/>
              </a:ext>
            </a:extLst>
          </p:cNvPr>
          <p:cNvPicPr>
            <a:picLocks noChangeAspect="1"/>
          </p:cNvPicPr>
          <p:nvPr/>
        </p:nvPicPr>
        <p:blipFill>
          <a:blip r:embed="rId4"/>
          <a:stretch>
            <a:fillRect/>
          </a:stretch>
        </p:blipFill>
        <p:spPr>
          <a:xfrm>
            <a:off x="5397802" y="3628645"/>
            <a:ext cx="3818975" cy="28642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FB104420-6563-1FEC-DC50-B83DF1E4E2CC}"/>
              </a:ext>
            </a:extLst>
          </p:cNvPr>
          <p:cNvPicPr>
            <a:picLocks noChangeAspect="1"/>
          </p:cNvPicPr>
          <p:nvPr/>
        </p:nvPicPr>
        <p:blipFill>
          <a:blip r:embed="rId5"/>
          <a:stretch>
            <a:fillRect/>
          </a:stretch>
        </p:blipFill>
        <p:spPr>
          <a:xfrm>
            <a:off x="8680153" y="118254"/>
            <a:ext cx="2894813" cy="44473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A9950671-EDF6-5A8C-3EDC-F733109E4C58}"/>
              </a:ext>
            </a:extLst>
          </p:cNvPr>
          <p:cNvPicPr>
            <a:picLocks noChangeAspect="1"/>
          </p:cNvPicPr>
          <p:nvPr/>
        </p:nvPicPr>
        <p:blipFill>
          <a:blip r:embed="rId6"/>
          <a:stretch>
            <a:fillRect/>
          </a:stretch>
        </p:blipFill>
        <p:spPr>
          <a:xfrm>
            <a:off x="0" y="3513070"/>
            <a:ext cx="4220419" cy="31694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8973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BB9C3-0809-0C17-C6ED-C8C38F1DCDD8}"/>
              </a:ext>
            </a:extLst>
          </p:cNvPr>
          <p:cNvSpPr>
            <a:spLocks noGrp="1"/>
          </p:cNvSpPr>
          <p:nvPr>
            <p:ph type="title"/>
          </p:nvPr>
        </p:nvSpPr>
        <p:spPr>
          <a:xfrm>
            <a:off x="6480334" y="579863"/>
            <a:ext cx="4840010" cy="892175"/>
          </a:xfrm>
        </p:spPr>
        <p:txBody>
          <a:bodyPr>
            <a:normAutofit fontScale="90000"/>
          </a:bodyPr>
          <a:lstStyle/>
          <a:p>
            <a:r>
              <a:rPr lang="en-CA" dirty="0">
                <a:solidFill>
                  <a:srgbClr val="595959"/>
                </a:solidFill>
              </a:rPr>
              <a:t>Case Study: Paul</a:t>
            </a:r>
          </a:p>
        </p:txBody>
      </p:sp>
      <p:sp>
        <p:nvSpPr>
          <p:cNvPr id="3" name="Content Placeholder 2">
            <a:extLst>
              <a:ext uri="{FF2B5EF4-FFF2-40B4-BE49-F238E27FC236}">
                <a16:creationId xmlns:a16="http://schemas.microsoft.com/office/drawing/2014/main" id="{77C28E60-9FB3-F4B2-0802-E1A9478E0A87}"/>
              </a:ext>
            </a:extLst>
          </p:cNvPr>
          <p:cNvSpPr>
            <a:spLocks noGrp="1"/>
          </p:cNvSpPr>
          <p:nvPr>
            <p:ph idx="1"/>
          </p:nvPr>
        </p:nvSpPr>
        <p:spPr>
          <a:xfrm>
            <a:off x="5898995" y="2040673"/>
            <a:ext cx="6211229" cy="4382430"/>
          </a:xfrm>
        </p:spPr>
        <p:txBody>
          <a:bodyPr>
            <a:noAutofit/>
          </a:bodyPr>
          <a:lstStyle/>
          <a:p>
            <a:pPr marL="0" indent="0">
              <a:buNone/>
            </a:pPr>
            <a:r>
              <a:rPr lang="en-US" sz="2200" dirty="0"/>
              <a:t>Paul (he/him) is a 62-year-old farmer who presents to your office with complaints of pain and redness in his ankle. He states that he slightly cut his ankle on his tractor 2 days ago. The pain and redness have been progressing over the last day.</a:t>
            </a:r>
            <a:br>
              <a:rPr lang="en-US" sz="2200" dirty="0"/>
            </a:br>
            <a:endParaRPr lang="en-US" sz="2200" dirty="0"/>
          </a:p>
          <a:p>
            <a:pPr marL="0" indent="0">
              <a:buNone/>
            </a:pPr>
            <a:r>
              <a:rPr lang="en-US" sz="2200" b="1" i="1" u="sng" dirty="0"/>
              <a:t>Question #1</a:t>
            </a:r>
            <a:r>
              <a:rPr lang="en-US" sz="2200" b="1" i="1" dirty="0"/>
              <a:t>:</a:t>
            </a:r>
            <a:r>
              <a:rPr lang="en-US" sz="2200" b="1" dirty="0"/>
              <a:t> </a:t>
            </a:r>
            <a:r>
              <a:rPr lang="en-US" sz="2200" dirty="0"/>
              <a:t>What are some of your differentials at this point?</a:t>
            </a:r>
          </a:p>
          <a:p>
            <a:pPr marL="0" indent="0">
              <a:buNone/>
            </a:pPr>
            <a:endParaRPr lang="en-US" sz="1000" dirty="0"/>
          </a:p>
          <a:p>
            <a:pPr marL="0" indent="0">
              <a:buNone/>
            </a:pPr>
            <a:r>
              <a:rPr lang="en-US" sz="2200" b="1" i="1" u="sng" dirty="0"/>
              <a:t>Question #2:</a:t>
            </a:r>
            <a:r>
              <a:rPr lang="en-US" sz="2200" b="1" dirty="0"/>
              <a:t> </a:t>
            </a:r>
            <a:r>
              <a:rPr lang="en-US" sz="2200" dirty="0"/>
              <a:t>What are some of the red flag questions you should be asking?</a:t>
            </a:r>
          </a:p>
          <a:p>
            <a:pPr marL="0" indent="0">
              <a:buNone/>
            </a:pPr>
            <a:endParaRPr lang="en-US" sz="2200" dirty="0"/>
          </a:p>
          <a:p>
            <a:pPr marL="0" indent="0">
              <a:buNone/>
            </a:pPr>
            <a:r>
              <a:rPr lang="en-US" sz="2200" b="1" i="1" u="sng" dirty="0"/>
              <a:t>Question #3:</a:t>
            </a:r>
            <a:r>
              <a:rPr lang="en-US" sz="2200" b="1" dirty="0"/>
              <a:t> </a:t>
            </a:r>
            <a:r>
              <a:rPr lang="en-US" sz="2200" dirty="0"/>
              <a:t>In the personal history, what other information would be pertinent to collect?</a:t>
            </a:r>
          </a:p>
          <a:p>
            <a:pPr marL="0" indent="0">
              <a:buNone/>
            </a:pPr>
            <a:endParaRPr lang="en-CA" sz="2200" dirty="0"/>
          </a:p>
        </p:txBody>
      </p:sp>
      <p:pic>
        <p:nvPicPr>
          <p:cNvPr id="7170" name="Picture 2" descr="Generated image">
            <a:extLst>
              <a:ext uri="{FF2B5EF4-FFF2-40B4-BE49-F238E27FC236}">
                <a16:creationId xmlns:a16="http://schemas.microsoft.com/office/drawing/2014/main" id="{81A0D4EA-003B-ED5F-F93A-CA17354EC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108" r="24357" b="-1"/>
          <a:stretch>
            <a:fillRect/>
          </a:stretch>
        </p:blipFill>
        <p:spPr bwMode="auto">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51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E2ED-90BA-9E10-F38F-166459B41C91}"/>
              </a:ext>
            </a:extLst>
          </p:cNvPr>
          <p:cNvSpPr>
            <a:spLocks noGrp="1"/>
          </p:cNvSpPr>
          <p:nvPr>
            <p:ph type="title"/>
          </p:nvPr>
        </p:nvSpPr>
        <p:spPr>
          <a:xfrm>
            <a:off x="2977376" y="135327"/>
            <a:ext cx="8376424" cy="1325563"/>
          </a:xfrm>
        </p:spPr>
        <p:txBody>
          <a:bodyPr>
            <a:normAutofit/>
          </a:bodyPr>
          <a:lstStyle/>
          <a:p>
            <a:pPr algn="ctr"/>
            <a:r>
              <a:rPr lang="en-US" sz="4000" dirty="0">
                <a:solidFill>
                  <a:srgbClr val="595959"/>
                </a:solidFill>
              </a:rPr>
              <a:t>Cellulitis </a:t>
            </a:r>
          </a:p>
        </p:txBody>
      </p:sp>
      <p:pic>
        <p:nvPicPr>
          <p:cNvPr id="2050" name="Picture 2" descr="Cellulitis: Practice Essentials, Background, Pathophysiology">
            <a:extLst>
              <a:ext uri="{FF2B5EF4-FFF2-40B4-BE49-F238E27FC236}">
                <a16:creationId xmlns:a16="http://schemas.microsoft.com/office/drawing/2014/main" id="{187B3D53-BCC2-F0CF-F917-537E065EB02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496773"/>
            <a:ext cx="2303803" cy="455961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7DA2C60-DC22-B52D-2C85-4629F37753A7}"/>
              </a:ext>
            </a:extLst>
          </p:cNvPr>
          <p:cNvPicPr>
            <a:picLocks noChangeAspect="1"/>
          </p:cNvPicPr>
          <p:nvPr/>
        </p:nvPicPr>
        <p:blipFill>
          <a:blip r:embed="rId4"/>
          <a:stretch>
            <a:fillRect/>
          </a:stretch>
        </p:blipFill>
        <p:spPr>
          <a:xfrm>
            <a:off x="3512634" y="1978729"/>
            <a:ext cx="8145175" cy="3077655"/>
          </a:xfrm>
          <a:prstGeom prst="rect">
            <a:avLst/>
          </a:prstGeom>
        </p:spPr>
      </p:pic>
      <p:sp>
        <p:nvSpPr>
          <p:cNvPr id="3" name="TextBox 2">
            <a:extLst>
              <a:ext uri="{FF2B5EF4-FFF2-40B4-BE49-F238E27FC236}">
                <a16:creationId xmlns:a16="http://schemas.microsoft.com/office/drawing/2014/main" id="{73A7E734-8871-6E89-740D-CDDCB64A9158}"/>
              </a:ext>
            </a:extLst>
          </p:cNvPr>
          <p:cNvSpPr txBox="1"/>
          <p:nvPr/>
        </p:nvSpPr>
        <p:spPr>
          <a:xfrm>
            <a:off x="401444" y="5122566"/>
            <a:ext cx="11876049" cy="1938992"/>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t>Depth:</a:t>
            </a:r>
            <a:r>
              <a:rPr lang="en-US" altLang="en-US" sz="2400" dirty="0"/>
              <a:t> Erysipelas = superficial; Cellulitis = deeper.</a:t>
            </a:r>
          </a:p>
          <a:p>
            <a:pPr lvl="0" eaLnBrk="0" fontAlgn="base" hangingPunct="0">
              <a:spcBef>
                <a:spcPct val="0"/>
              </a:spcBef>
              <a:spcAft>
                <a:spcPct val="0"/>
              </a:spcAft>
            </a:pPr>
            <a:r>
              <a:rPr lang="en-US" altLang="en-US" sz="2400" b="1" dirty="0"/>
              <a:t>Borders:</a:t>
            </a:r>
            <a:r>
              <a:rPr lang="en-US" altLang="en-US" sz="2400" dirty="0"/>
              <a:t> Erysipelas = raised and well-demarcated; Cellulitis = flat and poorly demarcated.</a:t>
            </a:r>
          </a:p>
          <a:p>
            <a:pPr lvl="0" eaLnBrk="0" fontAlgn="base" hangingPunct="0">
              <a:spcBef>
                <a:spcPct val="0"/>
              </a:spcBef>
              <a:spcAft>
                <a:spcPct val="0"/>
              </a:spcAft>
            </a:pPr>
            <a:r>
              <a:rPr lang="en-US" altLang="en-US" sz="2400" b="1" dirty="0"/>
              <a:t>Organisms:</a:t>
            </a:r>
            <a:r>
              <a:rPr lang="en-US" altLang="en-US" sz="2400" dirty="0"/>
              <a:t> Erysipelas = almost always strep; Cellulitis = strep or staph.</a:t>
            </a:r>
          </a:p>
          <a:p>
            <a:pPr lvl="0" eaLnBrk="0" fontAlgn="base" hangingPunct="0">
              <a:spcBef>
                <a:spcPct val="0"/>
              </a:spcBef>
              <a:spcAft>
                <a:spcPct val="0"/>
              </a:spcAft>
            </a:pPr>
            <a:r>
              <a:rPr lang="en-US" altLang="en-US" sz="2400" b="1" dirty="0"/>
              <a:t>Onset:</a:t>
            </a:r>
            <a:r>
              <a:rPr lang="en-US" altLang="en-US" sz="2400" dirty="0"/>
              <a:t> Erysipelas = acute with systemic illness; Cellulitis = more gradual.</a:t>
            </a:r>
          </a:p>
          <a:p>
            <a:endParaRPr lang="en-CA" sz="2400" dirty="0"/>
          </a:p>
        </p:txBody>
      </p:sp>
    </p:spTree>
    <p:extLst>
      <p:ext uri="{BB962C8B-B14F-4D97-AF65-F5344CB8AC3E}">
        <p14:creationId xmlns:p14="http://schemas.microsoft.com/office/powerpoint/2010/main" val="3412435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40A4-457F-F1E0-7955-26787825472B}"/>
              </a:ext>
            </a:extLst>
          </p:cNvPr>
          <p:cNvSpPr>
            <a:spLocks noGrp="1"/>
          </p:cNvSpPr>
          <p:nvPr>
            <p:ph type="title"/>
          </p:nvPr>
        </p:nvSpPr>
        <p:spPr>
          <a:xfrm>
            <a:off x="44372" y="567823"/>
            <a:ext cx="12065852" cy="697426"/>
          </a:xfrm>
        </p:spPr>
        <p:txBody>
          <a:bodyPr anchor="b">
            <a:noAutofit/>
          </a:bodyPr>
          <a:lstStyle/>
          <a:p>
            <a:pPr algn="ctr"/>
            <a:r>
              <a:rPr lang="en-CA" sz="4000" b="1" dirty="0">
                <a:solidFill>
                  <a:srgbClr val="595959"/>
                </a:solidFill>
              </a:rPr>
              <a:t>Case Study: Reid</a:t>
            </a:r>
          </a:p>
        </p:txBody>
      </p:sp>
      <p:sp>
        <p:nvSpPr>
          <p:cNvPr id="3" name="Content Placeholder 2">
            <a:extLst>
              <a:ext uri="{FF2B5EF4-FFF2-40B4-BE49-F238E27FC236}">
                <a16:creationId xmlns:a16="http://schemas.microsoft.com/office/drawing/2014/main" id="{B111A155-E496-0E2E-DA7E-068010920C02}"/>
              </a:ext>
            </a:extLst>
          </p:cNvPr>
          <p:cNvSpPr>
            <a:spLocks noGrp="1"/>
          </p:cNvSpPr>
          <p:nvPr>
            <p:ph idx="1"/>
          </p:nvPr>
        </p:nvSpPr>
        <p:spPr>
          <a:xfrm>
            <a:off x="44372" y="1989188"/>
            <a:ext cx="10731655" cy="5627984"/>
          </a:xfrm>
        </p:spPr>
        <p:txBody>
          <a:bodyPr anchor="t">
            <a:noAutofit/>
          </a:bodyPr>
          <a:lstStyle/>
          <a:p>
            <a:pPr marL="0" indent="0">
              <a:buNone/>
            </a:pPr>
            <a:r>
              <a:rPr lang="en-US" sz="2400" dirty="0">
                <a:solidFill>
                  <a:srgbClr val="595959"/>
                </a:solidFill>
              </a:rPr>
              <a:t>Reid (he/him), a 26-year-old healthy black man, comes to see the NP at a walk-in clinic with a “rash” on his neck. He noticed it yesterday. He initially thought it was razor burn, which he has had in the past. Reid came in today because his razor burn has never been “crusty” before, but it is today. He looked up his symptoms on the internet, and worried that he might have something worse.</a:t>
            </a:r>
          </a:p>
          <a:p>
            <a:pPr marL="0" indent="0">
              <a:buNone/>
            </a:pPr>
            <a:endParaRPr lang="en-US" sz="1000" dirty="0">
              <a:solidFill>
                <a:srgbClr val="595959"/>
              </a:solidFill>
            </a:endParaRPr>
          </a:p>
          <a:p>
            <a:pPr marL="0" indent="0">
              <a:buNone/>
            </a:pPr>
            <a:r>
              <a:rPr lang="en-US" sz="2400" b="1" i="1" u="sng" dirty="0">
                <a:solidFill>
                  <a:srgbClr val="595959"/>
                </a:solidFill>
              </a:rPr>
              <a:t>Question #1:</a:t>
            </a:r>
            <a:r>
              <a:rPr lang="en-US" sz="2400" b="1" dirty="0">
                <a:solidFill>
                  <a:srgbClr val="595959"/>
                </a:solidFill>
              </a:rPr>
              <a:t> </a:t>
            </a:r>
            <a:r>
              <a:rPr lang="en-US" sz="2400" dirty="0">
                <a:solidFill>
                  <a:srgbClr val="595959"/>
                </a:solidFill>
              </a:rPr>
              <a:t>What are some initial differential diagnoses? </a:t>
            </a:r>
          </a:p>
          <a:p>
            <a:pPr marL="0" indent="0">
              <a:buNone/>
            </a:pPr>
            <a:endParaRPr lang="en-US" sz="1000" dirty="0">
              <a:solidFill>
                <a:srgbClr val="595959"/>
              </a:solidFill>
            </a:endParaRPr>
          </a:p>
          <a:p>
            <a:pPr marL="0" indent="0">
              <a:lnSpc>
                <a:spcPct val="100000"/>
              </a:lnSpc>
              <a:spcBef>
                <a:spcPts val="0"/>
              </a:spcBef>
              <a:buNone/>
            </a:pPr>
            <a:r>
              <a:rPr lang="en-US" sz="2400" b="1" i="1" u="sng" dirty="0">
                <a:solidFill>
                  <a:srgbClr val="595959"/>
                </a:solidFill>
              </a:rPr>
              <a:t>Question #2: </a:t>
            </a:r>
            <a:r>
              <a:rPr lang="en-US" sz="2400" dirty="0">
                <a:solidFill>
                  <a:srgbClr val="595959"/>
                </a:solidFill>
              </a:rPr>
              <a:t>What are the key health history questions to help </a:t>
            </a:r>
          </a:p>
          <a:p>
            <a:pPr marL="0" indent="0">
              <a:lnSpc>
                <a:spcPct val="100000"/>
              </a:lnSpc>
              <a:spcBef>
                <a:spcPts val="0"/>
              </a:spcBef>
              <a:buNone/>
            </a:pPr>
            <a:r>
              <a:rPr lang="en-US" sz="2400" dirty="0">
                <a:solidFill>
                  <a:srgbClr val="595959"/>
                </a:solidFill>
              </a:rPr>
              <a:t>rule in/out the initial differential diagnoses? </a:t>
            </a:r>
          </a:p>
          <a:p>
            <a:endParaRPr lang="en-US" sz="2400" dirty="0">
              <a:solidFill>
                <a:srgbClr val="595959"/>
              </a:solidFill>
            </a:endParaRPr>
          </a:p>
          <a:p>
            <a:endParaRPr lang="en-CA" sz="2400" dirty="0">
              <a:solidFill>
                <a:srgbClr val="595959"/>
              </a:solidFill>
            </a:endParaRPr>
          </a:p>
        </p:txBody>
      </p:sp>
      <p:pic>
        <p:nvPicPr>
          <p:cNvPr id="5" name="Picture 4" descr="Smiling man with freckles">
            <a:extLst>
              <a:ext uri="{FF2B5EF4-FFF2-40B4-BE49-F238E27FC236}">
                <a16:creationId xmlns:a16="http://schemas.microsoft.com/office/drawing/2014/main" id="{6DEBFBAE-61C9-6A61-B272-8C9B5C7013C6}"/>
              </a:ext>
            </a:extLst>
          </p:cNvPr>
          <p:cNvPicPr>
            <a:picLocks noChangeAspect="1"/>
          </p:cNvPicPr>
          <p:nvPr/>
        </p:nvPicPr>
        <p:blipFill>
          <a:blip r:embed="rId3">
            <a:extLst>
              <a:ext uri="{28A0092B-C50C-407E-A947-70E740481C1C}">
                <a14:useLocalDpi xmlns:a14="http://schemas.microsoft.com/office/drawing/2010/main" val="0"/>
              </a:ext>
            </a:extLst>
          </a:blip>
          <a:srcRect r="35416"/>
          <a:stretch>
            <a:fillRect/>
          </a:stretch>
        </p:blipFill>
        <p:spPr>
          <a:xfrm>
            <a:off x="8320729" y="3655966"/>
            <a:ext cx="3098121" cy="3202034"/>
          </a:xfrm>
          <a:prstGeom prst="ellipse">
            <a:avLst/>
          </a:prstGeom>
          <a:ln>
            <a:noFill/>
          </a:ln>
          <a:effectLst>
            <a:softEdge rad="112500"/>
          </a:effectLst>
        </p:spPr>
      </p:pic>
    </p:spTree>
    <p:extLst>
      <p:ext uri="{BB962C8B-B14F-4D97-AF65-F5344CB8AC3E}">
        <p14:creationId xmlns:p14="http://schemas.microsoft.com/office/powerpoint/2010/main" val="144917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9286F-580A-3022-3029-A4309B1F7B91}"/>
              </a:ext>
            </a:extLst>
          </p:cNvPr>
          <p:cNvSpPr>
            <a:spLocks noGrp="1"/>
          </p:cNvSpPr>
          <p:nvPr>
            <p:ph type="title"/>
          </p:nvPr>
        </p:nvSpPr>
        <p:spPr>
          <a:xfrm>
            <a:off x="1616053" y="685800"/>
            <a:ext cx="8959893" cy="670147"/>
          </a:xfrm>
        </p:spPr>
        <p:txBody>
          <a:bodyPr anchor="b">
            <a:normAutofit/>
          </a:bodyPr>
          <a:lstStyle/>
          <a:p>
            <a:pPr algn="ctr"/>
            <a:r>
              <a:rPr lang="en-CA" sz="4000" dirty="0">
                <a:solidFill>
                  <a:schemeClr val="tx1">
                    <a:lumMod val="65000"/>
                    <a:lumOff val="35000"/>
                  </a:schemeClr>
                </a:solidFill>
              </a:rPr>
              <a:t>Case Study: Reid Continued</a:t>
            </a:r>
          </a:p>
        </p:txBody>
      </p:sp>
      <p:sp>
        <p:nvSpPr>
          <p:cNvPr id="3" name="Content Placeholder 2">
            <a:extLst>
              <a:ext uri="{FF2B5EF4-FFF2-40B4-BE49-F238E27FC236}">
                <a16:creationId xmlns:a16="http://schemas.microsoft.com/office/drawing/2014/main" id="{CC1326DC-C594-CE82-3119-C97C341C261B}"/>
              </a:ext>
            </a:extLst>
          </p:cNvPr>
          <p:cNvSpPr>
            <a:spLocks noGrp="1"/>
          </p:cNvSpPr>
          <p:nvPr>
            <p:ph idx="1"/>
          </p:nvPr>
        </p:nvSpPr>
        <p:spPr>
          <a:xfrm>
            <a:off x="226742" y="2185640"/>
            <a:ext cx="11965258" cy="4427033"/>
          </a:xfrm>
        </p:spPr>
        <p:txBody>
          <a:bodyPr anchor="t">
            <a:normAutofit fontScale="85000" lnSpcReduction="10000"/>
          </a:bodyPr>
          <a:lstStyle/>
          <a:p>
            <a:pPr marL="0" indent="0">
              <a:buNone/>
            </a:pPr>
            <a:r>
              <a:rPr lang="en-US" sz="2600" dirty="0">
                <a:solidFill>
                  <a:schemeClr val="tx1">
                    <a:lumMod val="65000"/>
                    <a:lumOff val="35000"/>
                  </a:schemeClr>
                </a:solidFill>
              </a:rPr>
              <a:t>After a more thorough assessment, the NP learns that Reid’s symptoms started yesterday after shaving. He has had these symptoms in the past, always triggered by shaving.  He is self-conscious of the scarring he is developing on his neck. He feels his symptoms are different this time because he has a lot of redness, and he has some crusting around some of the lesions on his left lower neck.</a:t>
            </a:r>
          </a:p>
          <a:p>
            <a:pPr marL="0" indent="0">
              <a:buNone/>
            </a:pPr>
            <a:r>
              <a:rPr lang="en-US" sz="2600" dirty="0">
                <a:solidFill>
                  <a:schemeClr val="tx1">
                    <a:lumMod val="65000"/>
                    <a:lumOff val="35000"/>
                  </a:schemeClr>
                </a:solidFill>
              </a:rPr>
              <a:t>Reid is not taking any medications. He tries to minimize shaving when his razor burn is particularly bothersome. He has used benzyl peroxide in the past, with no relief of symptoms. He has no allergies.</a:t>
            </a:r>
          </a:p>
          <a:p>
            <a:pPr marL="0" indent="0">
              <a:buNone/>
            </a:pPr>
            <a:r>
              <a:rPr lang="en-US" sz="2600" dirty="0">
                <a:solidFill>
                  <a:schemeClr val="tx1">
                    <a:lumMod val="65000"/>
                    <a:lumOff val="35000"/>
                  </a:schemeClr>
                </a:solidFill>
              </a:rPr>
              <a:t>A focused physical exam of Reid’s neck demonstrates evidence of scarring across his neck within his beard. He has numerous papules and pustules at various stages of healing. He has mild redness on his left lower neck, with numerous red, inflamed papules and open pustules, accompanied by obvious yellow crusting.</a:t>
            </a:r>
          </a:p>
          <a:p>
            <a:pPr marL="0" indent="0">
              <a:buNone/>
            </a:pPr>
            <a:endParaRPr lang="en-US" sz="2000" dirty="0">
              <a:solidFill>
                <a:schemeClr val="tx1">
                  <a:lumMod val="65000"/>
                  <a:lumOff val="35000"/>
                </a:schemeClr>
              </a:solidFill>
            </a:endParaRPr>
          </a:p>
          <a:p>
            <a:pPr marL="0" indent="0">
              <a:buNone/>
            </a:pPr>
            <a:r>
              <a:rPr lang="en-US" sz="2800" b="1" i="1" u="sng" dirty="0">
                <a:solidFill>
                  <a:schemeClr val="tx1">
                    <a:lumMod val="65000"/>
                    <a:lumOff val="35000"/>
                  </a:schemeClr>
                </a:solidFill>
              </a:rPr>
              <a:t>Question #3:</a:t>
            </a:r>
            <a:r>
              <a:rPr lang="en-US" sz="2800" b="1" dirty="0">
                <a:solidFill>
                  <a:schemeClr val="tx1">
                    <a:lumMod val="65000"/>
                    <a:lumOff val="35000"/>
                  </a:schemeClr>
                </a:solidFill>
              </a:rPr>
              <a:t>  </a:t>
            </a:r>
            <a:r>
              <a:rPr lang="en-US" sz="2800" dirty="0">
                <a:solidFill>
                  <a:schemeClr val="tx1">
                    <a:lumMod val="65000"/>
                    <a:lumOff val="35000"/>
                  </a:schemeClr>
                </a:solidFill>
              </a:rPr>
              <a:t>What is the most likely diagnosis and why? </a:t>
            </a:r>
          </a:p>
          <a:p>
            <a:endParaRPr lang="en-CA" sz="1400" dirty="0">
              <a:solidFill>
                <a:schemeClr val="tx1">
                  <a:lumMod val="65000"/>
                  <a:lumOff val="35000"/>
                </a:schemeClr>
              </a:solidFill>
            </a:endParaRPr>
          </a:p>
        </p:txBody>
      </p:sp>
    </p:spTree>
    <p:extLst>
      <p:ext uri="{BB962C8B-B14F-4D97-AF65-F5344CB8AC3E}">
        <p14:creationId xmlns:p14="http://schemas.microsoft.com/office/powerpoint/2010/main" val="78967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4FEF2-E920-574F-AF29-34844254D15D}"/>
              </a:ext>
            </a:extLst>
          </p:cNvPr>
          <p:cNvSpPr>
            <a:spLocks noGrp="1"/>
          </p:cNvSpPr>
          <p:nvPr>
            <p:ph type="title"/>
          </p:nvPr>
        </p:nvSpPr>
        <p:spPr/>
        <p:txBody>
          <a:bodyPr>
            <a:normAutofit/>
          </a:bodyPr>
          <a:lstStyle/>
          <a:p>
            <a:pPr algn="ctr"/>
            <a:r>
              <a:rPr lang="en-CA" sz="4000" dirty="0">
                <a:solidFill>
                  <a:srgbClr val="595959"/>
                </a:solidFill>
              </a:rPr>
              <a:t>Acne Vulgaris</a:t>
            </a:r>
          </a:p>
        </p:txBody>
      </p:sp>
      <p:sp>
        <p:nvSpPr>
          <p:cNvPr id="7" name="TextBox 6">
            <a:extLst>
              <a:ext uri="{FF2B5EF4-FFF2-40B4-BE49-F238E27FC236}">
                <a16:creationId xmlns:a16="http://schemas.microsoft.com/office/drawing/2014/main" id="{2513BA54-41F1-7014-843F-57725D6DC8C9}"/>
              </a:ext>
            </a:extLst>
          </p:cNvPr>
          <p:cNvSpPr txBox="1"/>
          <p:nvPr/>
        </p:nvSpPr>
        <p:spPr>
          <a:xfrm>
            <a:off x="531779" y="2230266"/>
            <a:ext cx="11128442" cy="4570482"/>
          </a:xfrm>
          <a:prstGeom prst="rect">
            <a:avLst/>
          </a:prstGeom>
          <a:noFill/>
        </p:spPr>
        <p:txBody>
          <a:bodyPr wrap="square">
            <a:spAutoFit/>
          </a:bodyPr>
          <a:lstStyle/>
          <a:p>
            <a:pPr marR="0" lvl="0">
              <a:spcAft>
                <a:spcPts val="900"/>
              </a:spcAft>
            </a:pPr>
            <a:r>
              <a:rPr lang="en-CA" sz="2400" b="1" u="none" strike="noStrike" dirty="0">
                <a:effectLst/>
                <a:latin typeface="+mn-lt"/>
              </a:rPr>
              <a:t>Definition:</a:t>
            </a:r>
            <a:r>
              <a:rPr lang="en-CA" sz="2400" b="0" u="none" strike="noStrike" dirty="0">
                <a:effectLst/>
                <a:latin typeface="+mn-lt"/>
              </a:rPr>
              <a:t> An inflammatory disease of the pilosebaceous unit, which consists of a hair follicle and its accompanying oil (sebaceous) gland.</a:t>
            </a:r>
          </a:p>
          <a:p>
            <a:pPr marR="0" lvl="0">
              <a:spcAft>
                <a:spcPts val="900"/>
              </a:spcAft>
            </a:pPr>
            <a:endParaRPr lang="en-CA" sz="1200" dirty="0"/>
          </a:p>
          <a:p>
            <a:pPr lvl="0"/>
            <a:r>
              <a:rPr lang="en-CA" sz="2400" b="1" dirty="0"/>
              <a:t>Excess Oil:</a:t>
            </a:r>
            <a:r>
              <a:rPr lang="en-CA" sz="2400" dirty="0"/>
              <a:t> The skin produces too much sebum (oil).</a:t>
            </a:r>
          </a:p>
          <a:p>
            <a:pPr lvl="0"/>
            <a:r>
              <a:rPr lang="en-CA" sz="2400" b="1" dirty="0"/>
              <a:t>Clogged Pores:</a:t>
            </a:r>
            <a:r>
              <a:rPr lang="en-CA" sz="2400" dirty="0"/>
              <a:t> Dead skin cells and oil plug up the hair follicles.</a:t>
            </a:r>
          </a:p>
          <a:p>
            <a:pPr lvl="0"/>
            <a:r>
              <a:rPr lang="en-CA" sz="2400" b="1" dirty="0"/>
              <a:t>Bacteria:</a:t>
            </a:r>
            <a:r>
              <a:rPr lang="en-CA" sz="2400" dirty="0"/>
              <a:t> A bacterium called </a:t>
            </a:r>
            <a:r>
              <a:rPr lang="en-CA" sz="2400" i="1" dirty="0" err="1"/>
              <a:t>Cutibacterium</a:t>
            </a:r>
            <a:r>
              <a:rPr lang="en-CA" sz="2400" i="1" dirty="0"/>
              <a:t> acnes</a:t>
            </a:r>
            <a:r>
              <a:rPr lang="en-CA" sz="2400" dirty="0"/>
              <a:t> multiplies inside the clogged pores.</a:t>
            </a:r>
          </a:p>
          <a:p>
            <a:pPr lvl="0"/>
            <a:r>
              <a:rPr lang="en-CA" sz="2400" b="1" dirty="0"/>
              <a:t>Inflammation:</a:t>
            </a:r>
            <a:r>
              <a:rPr lang="en-CA" sz="2400" dirty="0"/>
              <a:t> The trapped oil and bacteria cause swelling, redness, and pus.</a:t>
            </a:r>
          </a:p>
          <a:p>
            <a:pPr lvl="0"/>
            <a:endParaRPr lang="en-CA" sz="1200" dirty="0"/>
          </a:p>
          <a:p>
            <a:pPr lvl="0"/>
            <a:endParaRPr lang="en-CA" sz="1200" dirty="0"/>
          </a:p>
          <a:p>
            <a:pPr lvl="0"/>
            <a:r>
              <a:rPr lang="en-CA" sz="2400" b="1" dirty="0"/>
              <a:t>Open </a:t>
            </a:r>
            <a:r>
              <a:rPr lang="en-CA" sz="2400" b="1" dirty="0" err="1"/>
              <a:t>Comedone</a:t>
            </a:r>
            <a:r>
              <a:rPr lang="en-CA" sz="2400" b="1" dirty="0"/>
              <a:t>: </a:t>
            </a:r>
            <a:r>
              <a:rPr lang="en-CA" sz="2400" dirty="0"/>
              <a:t>Blackhead</a:t>
            </a:r>
          </a:p>
          <a:p>
            <a:pPr lvl="0"/>
            <a:r>
              <a:rPr lang="en-CA" sz="2400" b="1" dirty="0"/>
              <a:t>Closed </a:t>
            </a:r>
            <a:r>
              <a:rPr lang="en-CA" sz="2400" b="1" dirty="0" err="1"/>
              <a:t>Comedone</a:t>
            </a:r>
            <a:r>
              <a:rPr lang="en-CA" sz="2400" b="1" dirty="0"/>
              <a:t>:</a:t>
            </a:r>
            <a:r>
              <a:rPr lang="en-CA" sz="2400" dirty="0"/>
              <a:t> Whitehead</a:t>
            </a:r>
          </a:p>
          <a:p>
            <a:pPr lvl="0"/>
            <a:r>
              <a:rPr lang="en-CA" sz="2400" b="1" dirty="0"/>
              <a:t>Inflammatory:</a:t>
            </a:r>
            <a:r>
              <a:rPr lang="en-CA" sz="2400" dirty="0"/>
              <a:t> erythematous, cystic/nodular, pustules</a:t>
            </a:r>
          </a:p>
          <a:p>
            <a:pPr marR="0" lvl="0">
              <a:spcAft>
                <a:spcPts val="900"/>
              </a:spcAft>
            </a:pPr>
            <a:endParaRPr lang="en-CA" sz="2400" b="0" u="none" strike="noStrike" dirty="0">
              <a:effectLst/>
              <a:latin typeface="Google Sans"/>
            </a:endParaRPr>
          </a:p>
        </p:txBody>
      </p:sp>
    </p:spTree>
    <p:extLst>
      <p:ext uri="{BB962C8B-B14F-4D97-AF65-F5344CB8AC3E}">
        <p14:creationId xmlns:p14="http://schemas.microsoft.com/office/powerpoint/2010/main" val="1114108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DA91-96D5-9A25-4EB2-8285F9E0B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B5007-6CED-DA94-F8C7-72F863434C9B}"/>
              </a:ext>
            </a:extLst>
          </p:cNvPr>
          <p:cNvSpPr>
            <a:spLocks noGrp="1"/>
          </p:cNvSpPr>
          <p:nvPr>
            <p:ph type="title"/>
          </p:nvPr>
        </p:nvSpPr>
        <p:spPr/>
        <p:txBody>
          <a:bodyPr>
            <a:normAutofit/>
          </a:bodyPr>
          <a:lstStyle/>
          <a:p>
            <a:pPr algn="ctr"/>
            <a:r>
              <a:rPr lang="en-CA" sz="4000" dirty="0">
                <a:solidFill>
                  <a:srgbClr val="595959"/>
                </a:solidFill>
              </a:rPr>
              <a:t>Acne Vulgaris</a:t>
            </a:r>
          </a:p>
        </p:txBody>
      </p:sp>
      <p:graphicFrame>
        <p:nvGraphicFramePr>
          <p:cNvPr id="10" name="Table 9">
            <a:extLst>
              <a:ext uri="{FF2B5EF4-FFF2-40B4-BE49-F238E27FC236}">
                <a16:creationId xmlns:a16="http://schemas.microsoft.com/office/drawing/2014/main" id="{AB6E006C-7E0E-4498-4CDD-A739606FD04D}"/>
              </a:ext>
            </a:extLst>
          </p:cNvPr>
          <p:cNvGraphicFramePr>
            <a:graphicFrameLocks noGrp="1"/>
          </p:cNvGraphicFramePr>
          <p:nvPr/>
        </p:nvGraphicFramePr>
        <p:xfrm>
          <a:off x="466725" y="2135908"/>
          <a:ext cx="11258550" cy="4367516"/>
        </p:xfrm>
        <a:graphic>
          <a:graphicData uri="http://schemas.openxmlformats.org/drawingml/2006/table">
            <a:tbl>
              <a:tblPr firstRow="1" bandRow="1">
                <a:tableStyleId>{5C22544A-7EE6-4342-B048-85BDC9FD1C3A}</a:tableStyleId>
              </a:tblPr>
              <a:tblGrid>
                <a:gridCol w="5629275">
                  <a:extLst>
                    <a:ext uri="{9D8B030D-6E8A-4147-A177-3AD203B41FA5}">
                      <a16:colId xmlns:a16="http://schemas.microsoft.com/office/drawing/2014/main" val="4148466757"/>
                    </a:ext>
                  </a:extLst>
                </a:gridCol>
                <a:gridCol w="5629275">
                  <a:extLst>
                    <a:ext uri="{9D8B030D-6E8A-4147-A177-3AD203B41FA5}">
                      <a16:colId xmlns:a16="http://schemas.microsoft.com/office/drawing/2014/main" val="3169728603"/>
                    </a:ext>
                  </a:extLst>
                </a:gridCol>
              </a:tblGrid>
              <a:tr h="418707">
                <a:tc>
                  <a:txBody>
                    <a:bodyPr/>
                    <a:lstStyle/>
                    <a:p>
                      <a:r>
                        <a:rPr lang="en-CA" sz="2400" dirty="0"/>
                        <a:t>Severity</a:t>
                      </a:r>
                    </a:p>
                  </a:txBody>
                  <a:tcPr/>
                </a:tc>
                <a:tc>
                  <a:txBody>
                    <a:bodyPr/>
                    <a:lstStyle/>
                    <a:p>
                      <a:r>
                        <a:rPr lang="en-CA" sz="2400" dirty="0"/>
                        <a:t>Description</a:t>
                      </a:r>
                    </a:p>
                  </a:txBody>
                  <a:tcPr/>
                </a:tc>
                <a:extLst>
                  <a:ext uri="{0D108BD9-81ED-4DB2-BD59-A6C34878D82A}">
                    <a16:rowId xmlns:a16="http://schemas.microsoft.com/office/drawing/2014/main" val="1361405401"/>
                  </a:ext>
                </a:extLst>
              </a:tr>
              <a:tr h="1360798">
                <a:tc>
                  <a:txBody>
                    <a:bodyPr/>
                    <a:lstStyle/>
                    <a:p>
                      <a:r>
                        <a:rPr lang="en-CA" sz="2400" dirty="0"/>
                        <a:t>MILD (</a:t>
                      </a:r>
                      <a:r>
                        <a:rPr lang="en-CA" sz="2400" dirty="0" err="1"/>
                        <a:t>Comedonal</a:t>
                      </a:r>
                      <a:r>
                        <a:rPr lang="en-CA" sz="2400" dirty="0"/>
                        <a:t>)</a:t>
                      </a:r>
                    </a:p>
                  </a:txBody>
                  <a:tcPr/>
                </a:tc>
                <a:tc>
                  <a:txBody>
                    <a:bodyPr/>
                    <a:lstStyle/>
                    <a:p>
                      <a:r>
                        <a:rPr lang="en-CA" sz="2400" dirty="0"/>
                        <a:t>&lt;20 </a:t>
                      </a:r>
                      <a:r>
                        <a:rPr lang="en-CA" sz="2400" dirty="0" err="1"/>
                        <a:t>Comedones</a:t>
                      </a:r>
                      <a:r>
                        <a:rPr lang="en-CA" sz="2400" dirty="0"/>
                        <a:t> (whitehead/blackhead), or &lt;15 </a:t>
                      </a:r>
                      <a:r>
                        <a:rPr lang="en-CA" sz="2400" dirty="0" err="1"/>
                        <a:t>inlammatory</a:t>
                      </a:r>
                      <a:r>
                        <a:rPr lang="en-CA" sz="2400" dirty="0"/>
                        <a:t> papules, or lesion count &lt;30.</a:t>
                      </a:r>
                    </a:p>
                  </a:txBody>
                  <a:tcPr/>
                </a:tc>
                <a:extLst>
                  <a:ext uri="{0D108BD9-81ED-4DB2-BD59-A6C34878D82A}">
                    <a16:rowId xmlns:a16="http://schemas.microsoft.com/office/drawing/2014/main" val="90217587"/>
                  </a:ext>
                </a:extLst>
              </a:tr>
              <a:tr h="1046768">
                <a:tc>
                  <a:txBody>
                    <a:bodyPr/>
                    <a:lstStyle/>
                    <a:p>
                      <a:r>
                        <a:rPr lang="en-CA" sz="2400" dirty="0"/>
                        <a:t>MILD-MODERATE (Papulopustular)</a:t>
                      </a:r>
                    </a:p>
                  </a:txBody>
                  <a:tcPr/>
                </a:tc>
                <a:tc>
                  <a:txBody>
                    <a:bodyPr/>
                    <a:lstStyle/>
                    <a:p>
                      <a:r>
                        <a:rPr lang="en-CA" sz="2400" dirty="0"/>
                        <a:t>15-50 papules &amp; </a:t>
                      </a:r>
                      <a:r>
                        <a:rPr lang="en-CA" sz="2400" dirty="0" err="1"/>
                        <a:t>pustulres</a:t>
                      </a:r>
                      <a:r>
                        <a:rPr lang="en-CA" sz="2400" dirty="0"/>
                        <a:t> with </a:t>
                      </a:r>
                      <a:r>
                        <a:rPr lang="en-CA" sz="2400" dirty="0" err="1"/>
                        <a:t>comedones</a:t>
                      </a:r>
                      <a:r>
                        <a:rPr lang="en-CA" sz="2400" dirty="0"/>
                        <a:t>; cysts are rare, total lesion count ay range from 30-125.</a:t>
                      </a:r>
                    </a:p>
                  </a:txBody>
                  <a:tcPr/>
                </a:tc>
                <a:extLst>
                  <a:ext uri="{0D108BD9-81ED-4DB2-BD59-A6C34878D82A}">
                    <a16:rowId xmlns:a16="http://schemas.microsoft.com/office/drawing/2014/main" val="1862392680"/>
                  </a:ext>
                </a:extLst>
              </a:tr>
              <a:tr h="1360798">
                <a:tc>
                  <a:txBody>
                    <a:bodyPr/>
                    <a:lstStyle/>
                    <a:p>
                      <a:r>
                        <a:rPr lang="en-CA" sz="2400" dirty="0"/>
                        <a:t>SEVERE (Inflammatory)</a:t>
                      </a:r>
                    </a:p>
                  </a:txBody>
                  <a:tcPr/>
                </a:tc>
                <a:tc>
                  <a:txBody>
                    <a:bodyPr/>
                    <a:lstStyle/>
                    <a:p>
                      <a:r>
                        <a:rPr lang="en-CA" sz="2400" dirty="0"/>
                        <a:t>Primarily nodules &amp; cysts; </a:t>
                      </a:r>
                      <a:r>
                        <a:rPr lang="en-CA" sz="2400" dirty="0" err="1"/>
                        <a:t>comedones</a:t>
                      </a:r>
                      <a:r>
                        <a:rPr lang="en-CA" sz="2400" dirty="0"/>
                        <a:t>, papules &amp; pustules also present, total lesion count &gt;125. Scarring.</a:t>
                      </a:r>
                    </a:p>
                  </a:txBody>
                  <a:tcPr/>
                </a:tc>
                <a:extLst>
                  <a:ext uri="{0D108BD9-81ED-4DB2-BD59-A6C34878D82A}">
                    <a16:rowId xmlns:a16="http://schemas.microsoft.com/office/drawing/2014/main" val="1095768818"/>
                  </a:ext>
                </a:extLst>
              </a:tr>
            </a:tbl>
          </a:graphicData>
        </a:graphic>
      </p:graphicFrame>
    </p:spTree>
    <p:extLst>
      <p:ext uri="{BB962C8B-B14F-4D97-AF65-F5344CB8AC3E}">
        <p14:creationId xmlns:p14="http://schemas.microsoft.com/office/powerpoint/2010/main" val="3652838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51056-8977-C72A-94D4-2621526013C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CBAC724-B5D1-552A-D75B-2BD3AF97A114}"/>
              </a:ext>
            </a:extLst>
          </p:cNvPr>
          <p:cNvSpPr>
            <a:spLocks noGrp="1"/>
          </p:cNvSpPr>
          <p:nvPr>
            <p:ph idx="1"/>
          </p:nvPr>
        </p:nvSpPr>
        <p:spPr/>
        <p:txBody>
          <a:bodyPr/>
          <a:lstStyle/>
          <a:p>
            <a:endParaRPr lang="en-CA"/>
          </a:p>
        </p:txBody>
      </p:sp>
      <p:pic>
        <p:nvPicPr>
          <p:cNvPr id="4" name="Picture 3" descr="Acne severity is graded clinically based on the type, number, and  inflammation of lesions. This chart is useful for dermatology exams,  clinical assessment, and treatment planning. ⚠️Disclaimer- For educational  purposes only. Not">
            <a:extLst>
              <a:ext uri="{FF2B5EF4-FFF2-40B4-BE49-F238E27FC236}">
                <a16:creationId xmlns:a16="http://schemas.microsoft.com/office/drawing/2014/main" id="{BFF70E4D-453F-AD6D-3ECA-64C5EFB07F4C}"/>
              </a:ext>
            </a:extLst>
          </p:cNvPr>
          <p:cNvPicPr>
            <a:picLocks noChangeAspect="1"/>
          </p:cNvPicPr>
          <p:nvPr/>
        </p:nvPicPr>
        <p:blipFill>
          <a:blip r:embed="rId2"/>
          <a:srcRect l="2630" t="21483" r="-2630" b="17865"/>
          <a:stretch>
            <a:fillRect/>
          </a:stretch>
        </p:blipFill>
        <p:spPr>
          <a:xfrm>
            <a:off x="1543611" y="0"/>
            <a:ext cx="9104777" cy="6858000"/>
          </a:xfrm>
          <a:prstGeom prst="rect">
            <a:avLst/>
          </a:prstGeom>
        </p:spPr>
      </p:pic>
    </p:spTree>
    <p:extLst>
      <p:ext uri="{BB962C8B-B14F-4D97-AF65-F5344CB8AC3E}">
        <p14:creationId xmlns:p14="http://schemas.microsoft.com/office/powerpoint/2010/main" val="3711310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B2B72-2964-B2D1-6CF9-D6BF8F281377}"/>
              </a:ext>
            </a:extLst>
          </p:cNvPr>
          <p:cNvSpPr>
            <a:spLocks noGrp="1"/>
          </p:cNvSpPr>
          <p:nvPr>
            <p:ph idx="1"/>
          </p:nvPr>
        </p:nvSpPr>
        <p:spPr/>
        <p:txBody>
          <a:bodyPr/>
          <a:lstStyle/>
          <a:p>
            <a:endParaRPr lang="en-CA"/>
          </a:p>
        </p:txBody>
      </p:sp>
      <p:pic>
        <p:nvPicPr>
          <p:cNvPr id="5" name="Picture 4" descr="Mild to Moderate Acne – What Does It Look Like &amp; How To Treat It?">
            <a:extLst>
              <a:ext uri="{FF2B5EF4-FFF2-40B4-BE49-F238E27FC236}">
                <a16:creationId xmlns:a16="http://schemas.microsoft.com/office/drawing/2014/main" id="{7292342A-2D01-4C41-8DAD-49F70523F154}"/>
              </a:ext>
            </a:extLst>
          </p:cNvPr>
          <p:cNvPicPr>
            <a:picLocks noChangeAspect="1"/>
          </p:cNvPicPr>
          <p:nvPr/>
        </p:nvPicPr>
        <p:blipFill>
          <a:blip r:embed="rId3"/>
          <a:srcRect t="12168" b="27561"/>
          <a:stretch>
            <a:fillRect/>
          </a:stretch>
        </p:blipFill>
        <p:spPr>
          <a:xfrm>
            <a:off x="285785" y="1438507"/>
            <a:ext cx="11690625" cy="3988977"/>
          </a:xfrm>
          <a:prstGeom prst="rect">
            <a:avLst/>
          </a:prstGeom>
        </p:spPr>
      </p:pic>
    </p:spTree>
    <p:extLst>
      <p:ext uri="{BB962C8B-B14F-4D97-AF65-F5344CB8AC3E}">
        <p14:creationId xmlns:p14="http://schemas.microsoft.com/office/powerpoint/2010/main" val="2289305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8332-AA7F-B4ED-E002-9737FD14C36E}"/>
              </a:ext>
            </a:extLst>
          </p:cNvPr>
          <p:cNvSpPr>
            <a:spLocks noGrp="1"/>
          </p:cNvSpPr>
          <p:nvPr>
            <p:ph type="title"/>
          </p:nvPr>
        </p:nvSpPr>
        <p:spPr/>
        <p:txBody>
          <a:bodyPr>
            <a:normAutofit/>
          </a:bodyPr>
          <a:lstStyle/>
          <a:p>
            <a:pPr algn="ctr"/>
            <a:r>
              <a:rPr lang="en-CA" sz="4000" dirty="0">
                <a:solidFill>
                  <a:srgbClr val="595959"/>
                </a:solidFill>
              </a:rPr>
              <a:t>BREAKOUT ACTIVITY </a:t>
            </a:r>
          </a:p>
        </p:txBody>
      </p:sp>
      <p:sp>
        <p:nvSpPr>
          <p:cNvPr id="3" name="Content Placeholder 2">
            <a:extLst>
              <a:ext uri="{FF2B5EF4-FFF2-40B4-BE49-F238E27FC236}">
                <a16:creationId xmlns:a16="http://schemas.microsoft.com/office/drawing/2014/main" id="{7A29F330-95D3-2B04-730C-CE7C15AB2F44}"/>
              </a:ext>
            </a:extLst>
          </p:cNvPr>
          <p:cNvSpPr>
            <a:spLocks noGrp="1"/>
          </p:cNvSpPr>
          <p:nvPr>
            <p:ph idx="1"/>
          </p:nvPr>
        </p:nvSpPr>
        <p:spPr/>
        <p:txBody>
          <a:bodyPr>
            <a:normAutofit/>
          </a:bodyPr>
          <a:lstStyle/>
          <a:p>
            <a:pPr marL="457200" indent="-457200">
              <a:buFont typeface="+mj-lt"/>
              <a:buAutoNum type="arabicPeriod"/>
            </a:pPr>
            <a:r>
              <a:rPr lang="en-CA" sz="2400" dirty="0"/>
              <a:t>4 Groups </a:t>
            </a:r>
          </a:p>
          <a:p>
            <a:pPr marL="457200" indent="-457200">
              <a:buFont typeface="+mj-lt"/>
              <a:buAutoNum type="arabicPeriod"/>
            </a:pPr>
            <a:r>
              <a:rPr lang="en-CA" sz="2400" dirty="0"/>
              <a:t>You will be given a card with a list of conditions, grouped by etiology categories</a:t>
            </a:r>
          </a:p>
          <a:p>
            <a:pPr marL="457200" indent="-457200">
              <a:buFont typeface="+mj-lt"/>
              <a:buAutoNum type="arabicPeriod"/>
            </a:pPr>
            <a:r>
              <a:rPr lang="en-CA" sz="2400" dirty="0"/>
              <a:t>Create a short PowerPoint presentation to teach your peers about 2 of the  listed conditions (or groups of conditions)</a:t>
            </a:r>
          </a:p>
          <a:p>
            <a:pPr marL="457200" indent="-457200">
              <a:buFont typeface="+mj-lt"/>
              <a:buAutoNum type="arabicPeriod"/>
            </a:pPr>
            <a:r>
              <a:rPr lang="en-CA" sz="2400" dirty="0"/>
              <a:t>I have made a Google Slides template for you to fill in : </a:t>
            </a:r>
            <a:r>
              <a:rPr lang="en-CA" sz="2400" dirty="0">
                <a:hlinkClick r:id="rId3"/>
              </a:rPr>
              <a:t>https://docs.google.com/presentation/d/1uPQDRpgzUXrrNhGIOnUZVeuIA84RaJNUrpSOiQXH7jE/edit?usp=sharing</a:t>
            </a:r>
            <a:r>
              <a:rPr lang="en-CA" sz="2400" dirty="0"/>
              <a:t> </a:t>
            </a:r>
          </a:p>
          <a:p>
            <a:pPr marL="457200" indent="-457200">
              <a:buFont typeface="+mj-lt"/>
              <a:buAutoNum type="arabicPeriod"/>
            </a:pPr>
            <a:r>
              <a:rPr lang="en-CA" sz="2400" dirty="0"/>
              <a:t>You will then present to the rest of the class( ~ 5 minute per condition ) </a:t>
            </a:r>
          </a:p>
        </p:txBody>
      </p:sp>
    </p:spTree>
    <p:extLst>
      <p:ext uri="{BB962C8B-B14F-4D97-AF65-F5344CB8AC3E}">
        <p14:creationId xmlns:p14="http://schemas.microsoft.com/office/powerpoint/2010/main" val="3364503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28D6F-E5CB-BD06-E026-0882E4BAAB6B}"/>
              </a:ext>
            </a:extLst>
          </p:cNvPr>
          <p:cNvSpPr>
            <a:spLocks noGrp="1"/>
          </p:cNvSpPr>
          <p:nvPr>
            <p:ph type="title"/>
          </p:nvPr>
        </p:nvSpPr>
        <p:spPr>
          <a:xfrm>
            <a:off x="871442" y="779797"/>
            <a:ext cx="10870792" cy="790130"/>
          </a:xfrm>
        </p:spPr>
        <p:txBody>
          <a:bodyPr anchor="b">
            <a:normAutofit/>
          </a:bodyPr>
          <a:lstStyle/>
          <a:p>
            <a:pPr algn="ctr"/>
            <a:r>
              <a:rPr lang="en-CA" sz="4000" dirty="0">
                <a:solidFill>
                  <a:srgbClr val="595959"/>
                </a:solidFill>
              </a:rPr>
              <a:t>Prep Questions/Exam Practice</a:t>
            </a:r>
          </a:p>
        </p:txBody>
      </p:sp>
      <p:sp>
        <p:nvSpPr>
          <p:cNvPr id="3" name="Content Placeholder 2">
            <a:extLst>
              <a:ext uri="{FF2B5EF4-FFF2-40B4-BE49-F238E27FC236}">
                <a16:creationId xmlns:a16="http://schemas.microsoft.com/office/drawing/2014/main" id="{F3A88778-66A1-8BB5-943E-8EDF53A58910}"/>
              </a:ext>
            </a:extLst>
          </p:cNvPr>
          <p:cNvSpPr>
            <a:spLocks noGrp="1"/>
          </p:cNvSpPr>
          <p:nvPr>
            <p:ph idx="1"/>
          </p:nvPr>
        </p:nvSpPr>
        <p:spPr>
          <a:xfrm>
            <a:off x="871442" y="2447337"/>
            <a:ext cx="4353116" cy="3770434"/>
          </a:xfrm>
        </p:spPr>
        <p:txBody>
          <a:bodyPr anchor="t">
            <a:normAutofit/>
          </a:bodyPr>
          <a:lstStyle/>
          <a:p>
            <a:pPr marL="0" indent="0">
              <a:buNone/>
            </a:pPr>
            <a:r>
              <a:rPr lang="en-US" sz="2400" b="1" dirty="0">
                <a:solidFill>
                  <a:srgbClr val="595959"/>
                </a:solidFill>
              </a:rPr>
              <a:t>Question 1:</a:t>
            </a:r>
            <a:br>
              <a:rPr lang="en-US" sz="2400" dirty="0">
                <a:solidFill>
                  <a:srgbClr val="595959"/>
                </a:solidFill>
              </a:rPr>
            </a:br>
            <a:br>
              <a:rPr lang="en-US" sz="2400" dirty="0">
                <a:solidFill>
                  <a:srgbClr val="595959"/>
                </a:solidFill>
              </a:rPr>
            </a:br>
            <a:r>
              <a:rPr lang="en-US" sz="2400" dirty="0">
                <a:solidFill>
                  <a:srgbClr val="595959"/>
                </a:solidFill>
              </a:rPr>
              <a:t>What organism causes a wart?</a:t>
            </a:r>
          </a:p>
          <a:p>
            <a:pPr marL="0" indent="0">
              <a:buNone/>
            </a:pPr>
            <a:r>
              <a:rPr lang="en-US" sz="2400" dirty="0">
                <a:solidFill>
                  <a:srgbClr val="595959"/>
                </a:solidFill>
              </a:rPr>
              <a:t>a) bacteria</a:t>
            </a:r>
          </a:p>
          <a:p>
            <a:pPr marL="0" indent="0">
              <a:buNone/>
            </a:pPr>
            <a:r>
              <a:rPr lang="en-US" sz="2400" dirty="0">
                <a:solidFill>
                  <a:srgbClr val="595959"/>
                </a:solidFill>
              </a:rPr>
              <a:t>b) virus</a:t>
            </a:r>
          </a:p>
          <a:p>
            <a:pPr marL="0" indent="0">
              <a:buNone/>
            </a:pPr>
            <a:r>
              <a:rPr lang="en-US" sz="2400" dirty="0">
                <a:solidFill>
                  <a:srgbClr val="595959"/>
                </a:solidFill>
              </a:rPr>
              <a:t>c) fungus</a:t>
            </a:r>
          </a:p>
          <a:p>
            <a:pPr marL="0" indent="0">
              <a:buNone/>
            </a:pPr>
            <a:r>
              <a:rPr lang="en-US" sz="2400" dirty="0">
                <a:solidFill>
                  <a:srgbClr val="595959"/>
                </a:solidFill>
              </a:rPr>
              <a:t>d) just an overgrowth of the skin</a:t>
            </a:r>
            <a:endParaRPr lang="en-CA" sz="2400" dirty="0">
              <a:solidFill>
                <a:srgbClr val="595959"/>
              </a:solidFill>
            </a:endParaRPr>
          </a:p>
        </p:txBody>
      </p:sp>
      <p:pic>
        <p:nvPicPr>
          <p:cNvPr id="1028" name="Picture 4" descr="Warts - Richmond Dermatology">
            <a:extLst>
              <a:ext uri="{FF2B5EF4-FFF2-40B4-BE49-F238E27FC236}">
                <a16:creationId xmlns:a16="http://schemas.microsoft.com/office/drawing/2014/main" id="{AC3E87B8-06B3-2D77-B7EF-93E6A2D3B22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67444" y="2152185"/>
            <a:ext cx="3616069" cy="3926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806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E6CF-CF74-AF08-155F-9B2AC1CFE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D6198-7EE4-D7B3-B665-56A1CD9A03D6}"/>
              </a:ext>
            </a:extLst>
          </p:cNvPr>
          <p:cNvSpPr>
            <a:spLocks noGrp="1"/>
          </p:cNvSpPr>
          <p:nvPr>
            <p:ph type="title"/>
          </p:nvPr>
        </p:nvSpPr>
        <p:spPr>
          <a:xfrm>
            <a:off x="228600" y="274178"/>
            <a:ext cx="11346366" cy="1392046"/>
          </a:xfrm>
        </p:spPr>
        <p:txBody>
          <a:bodyPr vert="horz" lIns="91440" tIns="45720" rIns="91440" bIns="45720" rtlCol="0" anchor="b">
            <a:noAutofit/>
          </a:bodyPr>
          <a:lstStyle/>
          <a:p>
            <a:pPr algn="ctr"/>
            <a:r>
              <a:rPr lang="en-US" sz="4000" kern="1200" dirty="0">
                <a:solidFill>
                  <a:srgbClr val="595959"/>
                </a:solidFill>
                <a:latin typeface="+mj-lt"/>
                <a:ea typeface="+mj-ea"/>
                <a:cs typeface="+mj-cs"/>
              </a:rPr>
              <a:t>Prep Questions/Exam Practice</a:t>
            </a:r>
          </a:p>
        </p:txBody>
      </p:sp>
      <p:sp>
        <p:nvSpPr>
          <p:cNvPr id="3" name="Content Placeholder 2">
            <a:extLst>
              <a:ext uri="{FF2B5EF4-FFF2-40B4-BE49-F238E27FC236}">
                <a16:creationId xmlns:a16="http://schemas.microsoft.com/office/drawing/2014/main" id="{A45332A9-AE31-956E-C789-C2297127DB93}"/>
              </a:ext>
            </a:extLst>
          </p:cNvPr>
          <p:cNvSpPr>
            <a:spLocks noGrp="1"/>
          </p:cNvSpPr>
          <p:nvPr>
            <p:ph idx="1"/>
          </p:nvPr>
        </p:nvSpPr>
        <p:spPr>
          <a:xfrm>
            <a:off x="377190" y="2922756"/>
            <a:ext cx="3771900" cy="2266463"/>
          </a:xfrm>
        </p:spPr>
        <p:txBody>
          <a:bodyPr vert="horz" lIns="91440" tIns="45720" rIns="91440" bIns="45720" rtlCol="0" anchor="t">
            <a:noAutofit/>
          </a:bodyPr>
          <a:lstStyle/>
          <a:p>
            <a:pPr marL="0" indent="0">
              <a:buNone/>
            </a:pPr>
            <a:r>
              <a:rPr lang="en-US" sz="2400" b="1" kern="1200" dirty="0">
                <a:solidFill>
                  <a:srgbClr val="595959"/>
                </a:solidFill>
                <a:latin typeface="+mn-lt"/>
                <a:ea typeface="+mn-ea"/>
                <a:cs typeface="+mn-cs"/>
              </a:rPr>
              <a:t>Question 2:</a:t>
            </a:r>
            <a:br>
              <a:rPr lang="en-US" sz="2400" kern="1200" dirty="0">
                <a:solidFill>
                  <a:srgbClr val="595959"/>
                </a:solidFill>
                <a:latin typeface="+mn-lt"/>
                <a:ea typeface="+mn-ea"/>
                <a:cs typeface="+mn-cs"/>
              </a:rPr>
            </a:br>
            <a:br>
              <a:rPr lang="en-US" sz="2400" kern="1200" dirty="0">
                <a:solidFill>
                  <a:srgbClr val="595959"/>
                </a:solidFill>
                <a:latin typeface="+mn-lt"/>
                <a:ea typeface="+mn-ea"/>
                <a:cs typeface="+mn-cs"/>
              </a:rPr>
            </a:br>
            <a:r>
              <a:rPr lang="en-US" sz="2400" kern="1200" dirty="0">
                <a:solidFill>
                  <a:srgbClr val="595959"/>
                </a:solidFill>
                <a:latin typeface="+mn-lt"/>
                <a:ea typeface="+mn-ea"/>
                <a:cs typeface="+mn-cs"/>
              </a:rPr>
              <a:t>What are the clinical features of tinea corporis?</a:t>
            </a:r>
          </a:p>
        </p:txBody>
      </p:sp>
      <p:pic>
        <p:nvPicPr>
          <p:cNvPr id="2050" name="Picture 2" descr="Types of Tinea (Capitis, Corporis, Cruris, Versicolor) - Dr. Michele Green  M.D.">
            <a:extLst>
              <a:ext uri="{FF2B5EF4-FFF2-40B4-BE49-F238E27FC236}">
                <a16:creationId xmlns:a16="http://schemas.microsoft.com/office/drawing/2014/main" id="{CDAC8E5C-4815-EB41-0549-721091A7F42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73442" y="2922756"/>
            <a:ext cx="4145353" cy="27670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inea Corporis: Make the Diagnosis Before You Treat | Published in Journal  of the Mississippi State Medical Association">
            <a:extLst>
              <a:ext uri="{FF2B5EF4-FFF2-40B4-BE49-F238E27FC236}">
                <a16:creationId xmlns:a16="http://schemas.microsoft.com/office/drawing/2014/main" id="{3ED0CED2-CA26-17E8-C373-D3882C1F80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149090" y="2085068"/>
            <a:ext cx="3371810" cy="4469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70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DE031-F358-307C-41DC-464EE13B7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DED01-5BD9-B7A6-AC24-6FC4FFEC4B14}"/>
              </a:ext>
            </a:extLst>
          </p:cNvPr>
          <p:cNvSpPr>
            <a:spLocks noGrp="1"/>
          </p:cNvSpPr>
          <p:nvPr>
            <p:ph type="title"/>
          </p:nvPr>
        </p:nvSpPr>
        <p:spPr>
          <a:xfrm>
            <a:off x="871442" y="640229"/>
            <a:ext cx="10246324" cy="1108906"/>
          </a:xfrm>
        </p:spPr>
        <p:txBody>
          <a:bodyPr anchor="b">
            <a:normAutofit/>
          </a:bodyPr>
          <a:lstStyle/>
          <a:p>
            <a:pPr algn="ctr"/>
            <a:r>
              <a:rPr lang="en-CA" sz="4000" dirty="0">
                <a:solidFill>
                  <a:srgbClr val="595959"/>
                </a:solidFill>
              </a:rPr>
              <a:t>Prep Questions/Exam Practice</a:t>
            </a:r>
          </a:p>
        </p:txBody>
      </p:sp>
      <p:sp>
        <p:nvSpPr>
          <p:cNvPr id="3" name="Content Placeholder 2">
            <a:extLst>
              <a:ext uri="{FF2B5EF4-FFF2-40B4-BE49-F238E27FC236}">
                <a16:creationId xmlns:a16="http://schemas.microsoft.com/office/drawing/2014/main" id="{107A3224-34D0-5603-B687-4F8734219DE0}"/>
              </a:ext>
            </a:extLst>
          </p:cNvPr>
          <p:cNvSpPr>
            <a:spLocks noGrp="1"/>
          </p:cNvSpPr>
          <p:nvPr>
            <p:ph idx="1"/>
          </p:nvPr>
        </p:nvSpPr>
        <p:spPr>
          <a:xfrm>
            <a:off x="871442" y="2447337"/>
            <a:ext cx="4793076" cy="3770434"/>
          </a:xfrm>
        </p:spPr>
        <p:txBody>
          <a:bodyPr anchor="t">
            <a:normAutofit/>
          </a:bodyPr>
          <a:lstStyle/>
          <a:p>
            <a:pPr marL="0" indent="0">
              <a:buNone/>
            </a:pPr>
            <a:r>
              <a:rPr lang="en-US" sz="2400" b="1" dirty="0">
                <a:solidFill>
                  <a:srgbClr val="595959"/>
                </a:solidFill>
              </a:rPr>
              <a:t>Question 3:</a:t>
            </a:r>
            <a:br>
              <a:rPr lang="en-US" sz="2400" dirty="0">
                <a:solidFill>
                  <a:srgbClr val="595959"/>
                </a:solidFill>
              </a:rPr>
            </a:br>
            <a:br>
              <a:rPr lang="en-US" sz="2400" dirty="0">
                <a:solidFill>
                  <a:srgbClr val="595959"/>
                </a:solidFill>
              </a:rPr>
            </a:br>
            <a:r>
              <a:rPr lang="en-US" sz="2400" dirty="0"/>
              <a:t>Acne flares can be associated with the menstrual cycle?</a:t>
            </a:r>
          </a:p>
          <a:p>
            <a:pPr marL="0" indent="0">
              <a:buNone/>
            </a:pPr>
            <a:endParaRPr lang="en-US" sz="2400" dirty="0"/>
          </a:p>
          <a:p>
            <a:pPr marL="0" indent="0">
              <a:buNone/>
            </a:pPr>
            <a:r>
              <a:rPr lang="en-US" sz="2400" dirty="0"/>
              <a:t>True or false</a:t>
            </a:r>
            <a:endParaRPr lang="en-CA" sz="2400" dirty="0">
              <a:solidFill>
                <a:srgbClr val="595959"/>
              </a:solidFill>
            </a:endParaRPr>
          </a:p>
        </p:txBody>
      </p:sp>
      <p:pic>
        <p:nvPicPr>
          <p:cNvPr id="3074" name="Picture 2" descr="Acne Vulgaris - Symptoms, Causes and ...">
            <a:extLst>
              <a:ext uri="{FF2B5EF4-FFF2-40B4-BE49-F238E27FC236}">
                <a16:creationId xmlns:a16="http://schemas.microsoft.com/office/drawing/2014/main" id="{AD520395-22C8-5DF3-C30A-47CD29DF2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4449" y="2681091"/>
            <a:ext cx="5770404" cy="330292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2635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2A32-FDC7-4CBF-48EF-1F401BE0846D}"/>
              </a:ext>
            </a:extLst>
          </p:cNvPr>
          <p:cNvSpPr>
            <a:spLocks noGrp="1"/>
          </p:cNvSpPr>
          <p:nvPr>
            <p:ph type="title"/>
          </p:nvPr>
        </p:nvSpPr>
        <p:spPr/>
        <p:txBody>
          <a:bodyPr/>
          <a:lstStyle/>
          <a:p>
            <a:r>
              <a:rPr lang="en-US" dirty="0">
                <a:solidFill>
                  <a:srgbClr val="595959"/>
                </a:solidFill>
              </a:rPr>
              <a:t>Practice Rash 1</a:t>
            </a:r>
          </a:p>
        </p:txBody>
      </p:sp>
      <p:pic>
        <p:nvPicPr>
          <p:cNvPr id="4" name="Content Placeholder 3">
            <a:extLst>
              <a:ext uri="{FF2B5EF4-FFF2-40B4-BE49-F238E27FC236}">
                <a16:creationId xmlns:a16="http://schemas.microsoft.com/office/drawing/2014/main" id="{E731BA66-6A8C-EB5C-1D94-DB4F1291C933}"/>
              </a:ext>
            </a:extLst>
          </p:cNvPr>
          <p:cNvPicPr>
            <a:picLocks noGrp="1" noChangeAspect="1"/>
          </p:cNvPicPr>
          <p:nvPr>
            <p:ph idx="1"/>
          </p:nvPr>
        </p:nvPicPr>
        <p:blipFill>
          <a:blip r:embed="rId3"/>
          <a:stretch>
            <a:fillRect/>
          </a:stretch>
        </p:blipFill>
        <p:spPr>
          <a:xfrm>
            <a:off x="7325250" y="2248249"/>
            <a:ext cx="3862090" cy="4351338"/>
          </a:xfrm>
          <a:prstGeom prst="rect">
            <a:avLst/>
          </a:prstGeom>
        </p:spPr>
      </p:pic>
      <p:pic>
        <p:nvPicPr>
          <p:cNvPr id="5" name="Picture 4">
            <a:extLst>
              <a:ext uri="{FF2B5EF4-FFF2-40B4-BE49-F238E27FC236}">
                <a16:creationId xmlns:a16="http://schemas.microsoft.com/office/drawing/2014/main" id="{8E6883B9-90CA-3129-BDD1-4588874316C6}"/>
              </a:ext>
            </a:extLst>
          </p:cNvPr>
          <p:cNvPicPr>
            <a:picLocks noChangeAspect="1"/>
          </p:cNvPicPr>
          <p:nvPr/>
        </p:nvPicPr>
        <p:blipFill>
          <a:blip r:embed="rId4"/>
          <a:stretch>
            <a:fillRect/>
          </a:stretch>
        </p:blipFill>
        <p:spPr>
          <a:xfrm>
            <a:off x="451643" y="2190049"/>
            <a:ext cx="5644357" cy="4467738"/>
          </a:xfrm>
          <a:prstGeom prst="rect">
            <a:avLst/>
          </a:prstGeom>
        </p:spPr>
      </p:pic>
    </p:spTree>
    <p:extLst>
      <p:ext uri="{BB962C8B-B14F-4D97-AF65-F5344CB8AC3E}">
        <p14:creationId xmlns:p14="http://schemas.microsoft.com/office/powerpoint/2010/main" val="3733206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DBF74-8A0D-E5DC-8ABF-D8A8750D2B84}"/>
              </a:ext>
            </a:extLst>
          </p:cNvPr>
          <p:cNvSpPr>
            <a:spLocks noGrp="1"/>
          </p:cNvSpPr>
          <p:nvPr>
            <p:ph type="title"/>
          </p:nvPr>
        </p:nvSpPr>
        <p:spPr/>
        <p:txBody>
          <a:bodyPr/>
          <a:lstStyle/>
          <a:p>
            <a:r>
              <a:rPr lang="en-US" dirty="0">
                <a:solidFill>
                  <a:srgbClr val="595959"/>
                </a:solidFill>
              </a:rPr>
              <a:t>Practice Rash 2</a:t>
            </a:r>
          </a:p>
        </p:txBody>
      </p:sp>
      <p:pic>
        <p:nvPicPr>
          <p:cNvPr id="3" name="Picture 2" descr="Scabies: more than just an itch – Intercare Hospital's Health Blog">
            <a:extLst>
              <a:ext uri="{FF2B5EF4-FFF2-40B4-BE49-F238E27FC236}">
                <a16:creationId xmlns:a16="http://schemas.microsoft.com/office/drawing/2014/main" id="{66CF8855-C02B-23F9-8EBE-22011E0E83EA}"/>
              </a:ext>
            </a:extLst>
          </p:cNvPr>
          <p:cNvPicPr>
            <a:picLocks noChangeAspect="1"/>
          </p:cNvPicPr>
          <p:nvPr/>
        </p:nvPicPr>
        <p:blipFill>
          <a:blip r:embed="rId3"/>
          <a:stretch>
            <a:fillRect/>
          </a:stretch>
        </p:blipFill>
        <p:spPr>
          <a:xfrm>
            <a:off x="838200" y="2632344"/>
            <a:ext cx="5458334" cy="3640666"/>
          </a:xfrm>
          <a:prstGeom prst="rect">
            <a:avLst/>
          </a:prstGeom>
        </p:spPr>
      </p:pic>
      <p:pic>
        <p:nvPicPr>
          <p:cNvPr id="8" name="Picture 7" descr="Frontiers | Itch in Scabies—What Do We Know?">
            <a:extLst>
              <a:ext uri="{FF2B5EF4-FFF2-40B4-BE49-F238E27FC236}">
                <a16:creationId xmlns:a16="http://schemas.microsoft.com/office/drawing/2014/main" id="{8C627ABF-FDBA-A90D-C005-378967C13F90}"/>
              </a:ext>
            </a:extLst>
          </p:cNvPr>
          <p:cNvPicPr>
            <a:picLocks noChangeAspect="1"/>
          </p:cNvPicPr>
          <p:nvPr/>
        </p:nvPicPr>
        <p:blipFill>
          <a:blip r:embed="rId4"/>
          <a:srcRect t="16119" b="13158"/>
          <a:stretch>
            <a:fillRect/>
          </a:stretch>
        </p:blipFill>
        <p:spPr>
          <a:xfrm>
            <a:off x="6890289" y="2547985"/>
            <a:ext cx="3854268" cy="3640666"/>
          </a:xfrm>
          <a:prstGeom prst="rect">
            <a:avLst/>
          </a:prstGeom>
        </p:spPr>
      </p:pic>
    </p:spTree>
    <p:extLst>
      <p:ext uri="{BB962C8B-B14F-4D97-AF65-F5344CB8AC3E}">
        <p14:creationId xmlns:p14="http://schemas.microsoft.com/office/powerpoint/2010/main" val="2107623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D4F7-4E00-4058-0144-4E4CBE63B242}"/>
              </a:ext>
            </a:extLst>
          </p:cNvPr>
          <p:cNvSpPr>
            <a:spLocks noGrp="1"/>
          </p:cNvSpPr>
          <p:nvPr>
            <p:ph type="title"/>
          </p:nvPr>
        </p:nvSpPr>
        <p:spPr/>
        <p:txBody>
          <a:bodyPr/>
          <a:lstStyle/>
          <a:p>
            <a:r>
              <a:rPr lang="en-US" dirty="0">
                <a:solidFill>
                  <a:srgbClr val="595959"/>
                </a:solidFill>
              </a:rPr>
              <a:t>Practice Rash 3</a:t>
            </a:r>
          </a:p>
        </p:txBody>
      </p:sp>
      <p:pic>
        <p:nvPicPr>
          <p:cNvPr id="4" name="Content Placeholder 3">
            <a:extLst>
              <a:ext uri="{FF2B5EF4-FFF2-40B4-BE49-F238E27FC236}">
                <a16:creationId xmlns:a16="http://schemas.microsoft.com/office/drawing/2014/main" id="{C169C89B-0110-2C9C-E7E5-C91F3E9217ED}"/>
              </a:ext>
            </a:extLst>
          </p:cNvPr>
          <p:cNvPicPr>
            <a:picLocks noGrp="1" noChangeAspect="1"/>
          </p:cNvPicPr>
          <p:nvPr>
            <p:ph idx="1"/>
          </p:nvPr>
        </p:nvPicPr>
        <p:blipFill>
          <a:blip r:embed="rId3"/>
          <a:stretch>
            <a:fillRect/>
          </a:stretch>
        </p:blipFill>
        <p:spPr>
          <a:xfrm>
            <a:off x="622839" y="2652696"/>
            <a:ext cx="6049308" cy="3710803"/>
          </a:xfrm>
          <a:prstGeom prst="rect">
            <a:avLst/>
          </a:prstGeom>
        </p:spPr>
      </p:pic>
      <p:pic>
        <p:nvPicPr>
          <p:cNvPr id="6" name="Picture 5">
            <a:extLst>
              <a:ext uri="{FF2B5EF4-FFF2-40B4-BE49-F238E27FC236}">
                <a16:creationId xmlns:a16="http://schemas.microsoft.com/office/drawing/2014/main" id="{60A3D7C6-7211-9978-A134-8C61CCF5BF9F}"/>
              </a:ext>
            </a:extLst>
          </p:cNvPr>
          <p:cNvPicPr>
            <a:picLocks noChangeAspect="1"/>
          </p:cNvPicPr>
          <p:nvPr/>
        </p:nvPicPr>
        <p:blipFill>
          <a:blip r:embed="rId4"/>
          <a:stretch>
            <a:fillRect/>
          </a:stretch>
        </p:blipFill>
        <p:spPr>
          <a:xfrm>
            <a:off x="6962505" y="2604540"/>
            <a:ext cx="4842379" cy="3668470"/>
          </a:xfrm>
          <a:prstGeom prst="rect">
            <a:avLst/>
          </a:prstGeom>
        </p:spPr>
      </p:pic>
    </p:spTree>
    <p:extLst>
      <p:ext uri="{BB962C8B-B14F-4D97-AF65-F5344CB8AC3E}">
        <p14:creationId xmlns:p14="http://schemas.microsoft.com/office/powerpoint/2010/main" val="18946761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8B783-28EA-136B-95F3-4B9F7B177EA0}"/>
              </a:ext>
            </a:extLst>
          </p:cNvPr>
          <p:cNvSpPr>
            <a:spLocks noGrp="1"/>
          </p:cNvSpPr>
          <p:nvPr>
            <p:ph type="title"/>
          </p:nvPr>
        </p:nvSpPr>
        <p:spPr/>
        <p:txBody>
          <a:bodyPr/>
          <a:lstStyle/>
          <a:p>
            <a:r>
              <a:rPr lang="en-US" dirty="0">
                <a:solidFill>
                  <a:srgbClr val="595959"/>
                </a:solidFill>
              </a:rPr>
              <a:t>Practice Rash 4</a:t>
            </a:r>
          </a:p>
        </p:txBody>
      </p:sp>
      <p:pic>
        <p:nvPicPr>
          <p:cNvPr id="4" name="Content Placeholder 3">
            <a:extLst>
              <a:ext uri="{FF2B5EF4-FFF2-40B4-BE49-F238E27FC236}">
                <a16:creationId xmlns:a16="http://schemas.microsoft.com/office/drawing/2014/main" id="{C8215A42-5C13-98CD-E2C7-E5F14C443610}"/>
              </a:ext>
            </a:extLst>
          </p:cNvPr>
          <p:cNvPicPr>
            <a:picLocks noGrp="1" noChangeAspect="1"/>
          </p:cNvPicPr>
          <p:nvPr>
            <p:ph idx="1"/>
          </p:nvPr>
        </p:nvPicPr>
        <p:blipFill>
          <a:blip r:embed="rId3"/>
          <a:stretch>
            <a:fillRect/>
          </a:stretch>
        </p:blipFill>
        <p:spPr>
          <a:xfrm>
            <a:off x="922592" y="2286211"/>
            <a:ext cx="5087915" cy="3986799"/>
          </a:xfrm>
          <a:prstGeom prst="rect">
            <a:avLst/>
          </a:prstGeom>
        </p:spPr>
      </p:pic>
      <p:pic>
        <p:nvPicPr>
          <p:cNvPr id="5" name="Picture 4">
            <a:extLst>
              <a:ext uri="{FF2B5EF4-FFF2-40B4-BE49-F238E27FC236}">
                <a16:creationId xmlns:a16="http://schemas.microsoft.com/office/drawing/2014/main" id="{A82C54B2-1FD4-C740-9022-7739CA85BCDD}"/>
              </a:ext>
            </a:extLst>
          </p:cNvPr>
          <p:cNvPicPr>
            <a:picLocks noChangeAspect="1"/>
          </p:cNvPicPr>
          <p:nvPr/>
        </p:nvPicPr>
        <p:blipFill>
          <a:blip r:embed="rId4"/>
          <a:stretch>
            <a:fillRect/>
          </a:stretch>
        </p:blipFill>
        <p:spPr>
          <a:xfrm>
            <a:off x="6476422" y="2286210"/>
            <a:ext cx="5039315" cy="3986800"/>
          </a:xfrm>
          <a:prstGeom prst="rect">
            <a:avLst/>
          </a:prstGeom>
        </p:spPr>
      </p:pic>
    </p:spTree>
    <p:extLst>
      <p:ext uri="{BB962C8B-B14F-4D97-AF65-F5344CB8AC3E}">
        <p14:creationId xmlns:p14="http://schemas.microsoft.com/office/powerpoint/2010/main" val="697063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49309-EC79-00A0-4A90-842020F79D93}"/>
              </a:ext>
            </a:extLst>
          </p:cNvPr>
          <p:cNvSpPr>
            <a:spLocks noGrp="1"/>
          </p:cNvSpPr>
          <p:nvPr>
            <p:ph type="title"/>
          </p:nvPr>
        </p:nvSpPr>
        <p:spPr/>
        <p:txBody>
          <a:bodyPr/>
          <a:lstStyle/>
          <a:p>
            <a:r>
              <a:rPr lang="en-CA" dirty="0">
                <a:solidFill>
                  <a:srgbClr val="595959"/>
                </a:solidFill>
              </a:rPr>
              <a:t>Practice Rash 5</a:t>
            </a:r>
          </a:p>
        </p:txBody>
      </p:sp>
      <p:pic>
        <p:nvPicPr>
          <p:cNvPr id="4" name="Picture 3" descr="Tinea Versicolor: Causes, Symptoms, and Treatments">
            <a:extLst>
              <a:ext uri="{FF2B5EF4-FFF2-40B4-BE49-F238E27FC236}">
                <a16:creationId xmlns:a16="http://schemas.microsoft.com/office/drawing/2014/main" id="{3A40BA06-C268-5AF9-B385-B2C1A7EE1CBF}"/>
              </a:ext>
            </a:extLst>
          </p:cNvPr>
          <p:cNvPicPr>
            <a:picLocks noChangeAspect="1"/>
          </p:cNvPicPr>
          <p:nvPr/>
        </p:nvPicPr>
        <p:blipFill>
          <a:blip r:embed="rId3"/>
          <a:stretch>
            <a:fillRect/>
          </a:stretch>
        </p:blipFill>
        <p:spPr>
          <a:xfrm>
            <a:off x="983166" y="2372366"/>
            <a:ext cx="4933244" cy="3699933"/>
          </a:xfrm>
          <a:prstGeom prst="rect">
            <a:avLst/>
          </a:prstGeom>
        </p:spPr>
      </p:pic>
      <p:pic>
        <p:nvPicPr>
          <p:cNvPr id="5" name="Picture 4" descr="Treatments and Home Remedies for Tinea Versicolor">
            <a:extLst>
              <a:ext uri="{FF2B5EF4-FFF2-40B4-BE49-F238E27FC236}">
                <a16:creationId xmlns:a16="http://schemas.microsoft.com/office/drawing/2014/main" id="{F0413599-AE70-3DAD-F011-0D87E64A3B59}"/>
              </a:ext>
            </a:extLst>
          </p:cNvPr>
          <p:cNvPicPr>
            <a:picLocks noChangeAspect="1"/>
          </p:cNvPicPr>
          <p:nvPr/>
        </p:nvPicPr>
        <p:blipFill>
          <a:blip r:embed="rId4"/>
          <a:stretch>
            <a:fillRect/>
          </a:stretch>
        </p:blipFill>
        <p:spPr>
          <a:xfrm>
            <a:off x="7339960" y="2146354"/>
            <a:ext cx="3237178" cy="4316237"/>
          </a:xfrm>
          <a:prstGeom prst="rect">
            <a:avLst/>
          </a:prstGeom>
        </p:spPr>
      </p:pic>
    </p:spTree>
    <p:extLst>
      <p:ext uri="{BB962C8B-B14F-4D97-AF65-F5344CB8AC3E}">
        <p14:creationId xmlns:p14="http://schemas.microsoft.com/office/powerpoint/2010/main" val="3660431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1172-3D6C-C15D-8A86-4060FD67A69F}"/>
              </a:ext>
            </a:extLst>
          </p:cNvPr>
          <p:cNvSpPr>
            <a:spLocks noGrp="1"/>
          </p:cNvSpPr>
          <p:nvPr>
            <p:ph type="title"/>
          </p:nvPr>
        </p:nvSpPr>
        <p:spPr/>
        <p:txBody>
          <a:bodyPr/>
          <a:lstStyle/>
          <a:p>
            <a:r>
              <a:rPr lang="en-US" dirty="0">
                <a:solidFill>
                  <a:srgbClr val="595959"/>
                </a:solidFill>
              </a:rPr>
              <a:t>Practice Rash 6</a:t>
            </a:r>
          </a:p>
        </p:txBody>
      </p:sp>
      <p:pic>
        <p:nvPicPr>
          <p:cNvPr id="4" name="Content Placeholder 3">
            <a:extLst>
              <a:ext uri="{FF2B5EF4-FFF2-40B4-BE49-F238E27FC236}">
                <a16:creationId xmlns:a16="http://schemas.microsoft.com/office/drawing/2014/main" id="{93315E41-8450-3998-27FF-FEFD2FD03A4F}"/>
              </a:ext>
            </a:extLst>
          </p:cNvPr>
          <p:cNvPicPr>
            <a:picLocks noGrp="1" noChangeAspect="1"/>
          </p:cNvPicPr>
          <p:nvPr>
            <p:ph idx="1"/>
          </p:nvPr>
        </p:nvPicPr>
        <p:blipFill>
          <a:blip r:embed="rId3"/>
          <a:stretch>
            <a:fillRect/>
          </a:stretch>
        </p:blipFill>
        <p:spPr>
          <a:xfrm>
            <a:off x="501805" y="2130783"/>
            <a:ext cx="5304263" cy="4142227"/>
          </a:xfrm>
          <a:prstGeom prst="rect">
            <a:avLst/>
          </a:prstGeom>
        </p:spPr>
      </p:pic>
      <p:pic>
        <p:nvPicPr>
          <p:cNvPr id="3" name="Picture 2">
            <a:extLst>
              <a:ext uri="{FF2B5EF4-FFF2-40B4-BE49-F238E27FC236}">
                <a16:creationId xmlns:a16="http://schemas.microsoft.com/office/drawing/2014/main" id="{628C6BAC-A8F0-2A6B-3F29-548B7915BA61}"/>
              </a:ext>
            </a:extLst>
          </p:cNvPr>
          <p:cNvPicPr>
            <a:picLocks noChangeAspect="1"/>
          </p:cNvPicPr>
          <p:nvPr/>
        </p:nvPicPr>
        <p:blipFill>
          <a:blip r:embed="rId4"/>
          <a:stretch>
            <a:fillRect/>
          </a:stretch>
        </p:blipFill>
        <p:spPr>
          <a:xfrm>
            <a:off x="6300438" y="2130783"/>
            <a:ext cx="5490118" cy="4112289"/>
          </a:xfrm>
          <a:prstGeom prst="rect">
            <a:avLst/>
          </a:prstGeom>
        </p:spPr>
      </p:pic>
    </p:spTree>
    <p:extLst>
      <p:ext uri="{BB962C8B-B14F-4D97-AF65-F5344CB8AC3E}">
        <p14:creationId xmlns:p14="http://schemas.microsoft.com/office/powerpoint/2010/main" val="14455180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1172-3D6C-C15D-8A86-4060FD67A69F}"/>
              </a:ext>
            </a:extLst>
          </p:cNvPr>
          <p:cNvSpPr>
            <a:spLocks noGrp="1"/>
          </p:cNvSpPr>
          <p:nvPr>
            <p:ph type="title"/>
          </p:nvPr>
        </p:nvSpPr>
        <p:spPr/>
        <p:txBody>
          <a:bodyPr/>
          <a:lstStyle/>
          <a:p>
            <a:r>
              <a:rPr lang="en-US" dirty="0">
                <a:solidFill>
                  <a:srgbClr val="595959"/>
                </a:solidFill>
              </a:rPr>
              <a:t>Practice Rash 7</a:t>
            </a:r>
          </a:p>
        </p:txBody>
      </p:sp>
      <p:pic>
        <p:nvPicPr>
          <p:cNvPr id="14338" name="Picture 2" descr="Shingles Treatment and Causes | U.S. Dermatology Partners">
            <a:extLst>
              <a:ext uri="{FF2B5EF4-FFF2-40B4-BE49-F238E27FC236}">
                <a16:creationId xmlns:a16="http://schemas.microsoft.com/office/drawing/2014/main" id="{B25CF4CE-D32E-5301-2DF9-FFB4018F9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387" y="2133591"/>
            <a:ext cx="6602266" cy="438431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Shingles - Wikipedia">
            <a:extLst>
              <a:ext uri="{FF2B5EF4-FFF2-40B4-BE49-F238E27FC236}">
                <a16:creationId xmlns:a16="http://schemas.microsoft.com/office/drawing/2014/main" id="{A4E3EF6B-5128-4590-B8FF-DBDC092E22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935" y="1949577"/>
            <a:ext cx="3564259" cy="4752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6191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B0002-665E-12F3-22CB-62D73A398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DA239-B611-7B14-96FC-A18DAD34B308}"/>
              </a:ext>
            </a:extLst>
          </p:cNvPr>
          <p:cNvSpPr>
            <a:spLocks noGrp="1"/>
          </p:cNvSpPr>
          <p:nvPr>
            <p:ph type="title"/>
          </p:nvPr>
        </p:nvSpPr>
        <p:spPr/>
        <p:txBody>
          <a:bodyPr/>
          <a:lstStyle/>
          <a:p>
            <a:r>
              <a:rPr lang="en-US" dirty="0">
                <a:solidFill>
                  <a:srgbClr val="595959"/>
                </a:solidFill>
              </a:rPr>
              <a:t>Practice Rash 8</a:t>
            </a:r>
          </a:p>
        </p:txBody>
      </p:sp>
      <p:pic>
        <p:nvPicPr>
          <p:cNvPr id="15368" name="Picture 8" descr="Types of Lyme Rashes - Project Lyme">
            <a:extLst>
              <a:ext uri="{FF2B5EF4-FFF2-40B4-BE49-F238E27FC236}">
                <a16:creationId xmlns:a16="http://schemas.microsoft.com/office/drawing/2014/main" id="{FBBB2B99-A07F-491A-2783-15164752E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50" y="2720897"/>
            <a:ext cx="5361547" cy="3002466"/>
          </a:xfrm>
          <a:prstGeom prst="rect">
            <a:avLst/>
          </a:prstGeom>
          <a:noFill/>
          <a:extLst>
            <a:ext uri="{909E8E84-426E-40DD-AFC4-6F175D3DCCD1}">
              <a14:hiddenFill xmlns:a14="http://schemas.microsoft.com/office/drawing/2010/main">
                <a:solidFill>
                  <a:srgbClr val="FFFFFF"/>
                </a:solidFill>
              </a14:hiddenFill>
            </a:ext>
          </a:extLst>
        </p:spPr>
      </p:pic>
      <p:pic>
        <p:nvPicPr>
          <p:cNvPr id="15370" name="Picture 10" descr="chronic fatigue syndrome ...">
            <a:extLst>
              <a:ext uri="{FF2B5EF4-FFF2-40B4-BE49-F238E27FC236}">
                <a16:creationId xmlns:a16="http://schemas.microsoft.com/office/drawing/2014/main" id="{DEF47AE9-CD98-F259-73A8-AEA234ED5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253" y="2720897"/>
            <a:ext cx="5361547" cy="3002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777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Abscess, Furuncle (“Boil”) and Carbuncle</a:t>
            </a:r>
            <a:endParaRPr lang="en-CA" dirty="0"/>
          </a:p>
        </p:txBody>
      </p:sp>
      <p:sp>
        <p:nvSpPr>
          <p:cNvPr id="3" name="Content Placeholder 2"/>
          <p:cNvSpPr>
            <a:spLocks noGrp="1"/>
          </p:cNvSpPr>
          <p:nvPr>
            <p:ph idx="1"/>
          </p:nvPr>
        </p:nvSpPr>
        <p:spPr/>
        <p:txBody>
          <a:bodyPr/>
          <a:lstStyle/>
          <a:p>
            <a:r>
              <a:rPr lang="en-CA" b="1" dirty="0"/>
              <a:t>Abscess</a:t>
            </a:r>
            <a:r>
              <a:rPr lang="en-CA" dirty="0"/>
              <a:t> = pus collection anywhere, fluctuant</a:t>
            </a:r>
          </a:p>
          <a:p>
            <a:r>
              <a:rPr lang="en-CA" b="1" dirty="0"/>
              <a:t>Furuncle</a:t>
            </a:r>
            <a:r>
              <a:rPr lang="en-CA" dirty="0"/>
              <a:t> = one hair follicle, small “boil.”</a:t>
            </a:r>
          </a:p>
          <a:p>
            <a:r>
              <a:rPr lang="en-CA" b="1" dirty="0"/>
              <a:t>Carbuncle</a:t>
            </a:r>
            <a:r>
              <a:rPr lang="en-CA" dirty="0"/>
              <a:t> = cluster of furuncles, larger, systemic symptoms possible.</a:t>
            </a:r>
          </a:p>
          <a:p>
            <a:endParaRPr lang="en-US" dirty="0"/>
          </a:p>
        </p:txBody>
      </p:sp>
      <p:pic>
        <p:nvPicPr>
          <p:cNvPr id="4" name="Picture 3"/>
          <p:cNvPicPr>
            <a:picLocks noChangeAspect="1"/>
          </p:cNvPicPr>
          <p:nvPr/>
        </p:nvPicPr>
        <p:blipFill>
          <a:blip r:embed="rId3"/>
          <a:stretch>
            <a:fillRect/>
          </a:stretch>
        </p:blipFill>
        <p:spPr>
          <a:xfrm>
            <a:off x="1085145" y="4042576"/>
            <a:ext cx="3038475" cy="2275923"/>
          </a:xfrm>
          <a:prstGeom prst="rect">
            <a:avLst/>
          </a:prstGeom>
        </p:spPr>
      </p:pic>
      <p:pic>
        <p:nvPicPr>
          <p:cNvPr id="1028" name="Picture 4" descr="Boils - American Osteopathic College of ...">
            <a:extLst>
              <a:ext uri="{FF2B5EF4-FFF2-40B4-BE49-F238E27FC236}">
                <a16:creationId xmlns:a16="http://schemas.microsoft.com/office/drawing/2014/main" id="{6944D2C0-2227-634D-0FC9-67A4BA2EF0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074" y="4042576"/>
            <a:ext cx="3389145" cy="22759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sease Carbuncle | AI Care">
            <a:extLst>
              <a:ext uri="{FF2B5EF4-FFF2-40B4-BE49-F238E27FC236}">
                <a16:creationId xmlns:a16="http://schemas.microsoft.com/office/drawing/2014/main" id="{1F8591FC-8567-61CB-2666-6D11ECEA28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9673" y="4042576"/>
            <a:ext cx="3014127" cy="22693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CD05DF-71DB-E200-2F3E-0E3D693221AA}"/>
              </a:ext>
            </a:extLst>
          </p:cNvPr>
          <p:cNvSpPr txBox="1"/>
          <p:nvPr/>
        </p:nvSpPr>
        <p:spPr>
          <a:xfrm>
            <a:off x="5677613" y="6318498"/>
            <a:ext cx="1636889" cy="369332"/>
          </a:xfrm>
          <a:prstGeom prst="rect">
            <a:avLst/>
          </a:prstGeom>
          <a:noFill/>
        </p:spPr>
        <p:txBody>
          <a:bodyPr wrap="square" rtlCol="0">
            <a:spAutoFit/>
          </a:bodyPr>
          <a:lstStyle/>
          <a:p>
            <a:r>
              <a:rPr lang="en-CA" dirty="0"/>
              <a:t>Furuncle</a:t>
            </a:r>
          </a:p>
        </p:txBody>
      </p:sp>
      <p:sp>
        <p:nvSpPr>
          <p:cNvPr id="8" name="TextBox 7">
            <a:extLst>
              <a:ext uri="{FF2B5EF4-FFF2-40B4-BE49-F238E27FC236}">
                <a16:creationId xmlns:a16="http://schemas.microsoft.com/office/drawing/2014/main" id="{DEDD1C30-6A82-0CE8-B9FD-DEAA4C22A8DD}"/>
              </a:ext>
            </a:extLst>
          </p:cNvPr>
          <p:cNvSpPr txBox="1"/>
          <p:nvPr/>
        </p:nvSpPr>
        <p:spPr>
          <a:xfrm>
            <a:off x="2077170" y="6308209"/>
            <a:ext cx="1636889" cy="369332"/>
          </a:xfrm>
          <a:prstGeom prst="rect">
            <a:avLst/>
          </a:prstGeom>
          <a:noFill/>
        </p:spPr>
        <p:txBody>
          <a:bodyPr wrap="square" rtlCol="0">
            <a:spAutoFit/>
          </a:bodyPr>
          <a:lstStyle/>
          <a:p>
            <a:r>
              <a:rPr lang="en-CA" dirty="0"/>
              <a:t>Abscess</a:t>
            </a:r>
          </a:p>
        </p:txBody>
      </p:sp>
      <p:sp>
        <p:nvSpPr>
          <p:cNvPr id="9" name="TextBox 8">
            <a:extLst>
              <a:ext uri="{FF2B5EF4-FFF2-40B4-BE49-F238E27FC236}">
                <a16:creationId xmlns:a16="http://schemas.microsoft.com/office/drawing/2014/main" id="{B1E040F1-0FAE-3386-8A07-687E6C6213C6}"/>
              </a:ext>
            </a:extLst>
          </p:cNvPr>
          <p:cNvSpPr txBox="1"/>
          <p:nvPr/>
        </p:nvSpPr>
        <p:spPr>
          <a:xfrm>
            <a:off x="9278056" y="6318498"/>
            <a:ext cx="1636889" cy="369332"/>
          </a:xfrm>
          <a:prstGeom prst="rect">
            <a:avLst/>
          </a:prstGeom>
          <a:noFill/>
        </p:spPr>
        <p:txBody>
          <a:bodyPr wrap="square" rtlCol="0">
            <a:spAutoFit/>
          </a:bodyPr>
          <a:lstStyle/>
          <a:p>
            <a:r>
              <a:rPr lang="en-CA" dirty="0"/>
              <a:t>Carbuncle</a:t>
            </a:r>
          </a:p>
        </p:txBody>
      </p:sp>
    </p:spTree>
    <p:extLst>
      <p:ext uri="{BB962C8B-B14F-4D97-AF65-F5344CB8AC3E}">
        <p14:creationId xmlns:p14="http://schemas.microsoft.com/office/powerpoint/2010/main" val="16071310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7F75-3855-5081-F644-4029AF29A7D4}"/>
              </a:ext>
            </a:extLst>
          </p:cNvPr>
          <p:cNvSpPr>
            <a:spLocks noGrp="1"/>
          </p:cNvSpPr>
          <p:nvPr>
            <p:ph type="title"/>
          </p:nvPr>
        </p:nvSpPr>
        <p:spPr/>
        <p:txBody>
          <a:bodyPr/>
          <a:lstStyle/>
          <a:p>
            <a:r>
              <a:rPr lang="en-CA" dirty="0"/>
              <a:t>Epidermoid Cyst, Sebaceous Cyst</a:t>
            </a:r>
          </a:p>
        </p:txBody>
      </p:sp>
      <p:pic>
        <p:nvPicPr>
          <p:cNvPr id="2050" name="Picture 2" descr="Epidermoid cyst">
            <a:extLst>
              <a:ext uri="{FF2B5EF4-FFF2-40B4-BE49-F238E27FC236}">
                <a16:creationId xmlns:a16="http://schemas.microsoft.com/office/drawing/2014/main" id="{C80433EB-E267-2854-86FD-C64772E79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3631" y="2496806"/>
            <a:ext cx="3953580" cy="296136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baceous Cyst Removal London (#1 Rated Dermatology Clinic)">
            <a:extLst>
              <a:ext uri="{FF2B5EF4-FFF2-40B4-BE49-F238E27FC236}">
                <a16:creationId xmlns:a16="http://schemas.microsoft.com/office/drawing/2014/main" id="{DFDA6A69-7694-7478-41B8-AD51C64271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96807"/>
            <a:ext cx="4219951" cy="2961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826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BA31-A1E1-7AB4-6B86-8E8B2809C031}"/>
              </a:ext>
            </a:extLst>
          </p:cNvPr>
          <p:cNvSpPr>
            <a:spLocks noGrp="1"/>
          </p:cNvSpPr>
          <p:nvPr>
            <p:ph type="title"/>
          </p:nvPr>
        </p:nvSpPr>
        <p:spPr/>
        <p:txBody>
          <a:bodyPr/>
          <a:lstStyle/>
          <a:p>
            <a:r>
              <a:rPr lang="en-CA" dirty="0"/>
              <a:t>Add rosacea</a:t>
            </a:r>
          </a:p>
        </p:txBody>
      </p:sp>
      <p:sp>
        <p:nvSpPr>
          <p:cNvPr id="3" name="Content Placeholder 2">
            <a:extLst>
              <a:ext uri="{FF2B5EF4-FFF2-40B4-BE49-F238E27FC236}">
                <a16:creationId xmlns:a16="http://schemas.microsoft.com/office/drawing/2014/main" id="{96479F7D-C03B-11A1-1B89-E1303EC94E8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119786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2F81-74FA-80FE-F611-C32D045FBF6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FCE29D2-614C-8A2F-826E-C371B040604A}"/>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307CDC4F-2D6E-3327-3883-D84D8AA60B8F}"/>
              </a:ext>
            </a:extLst>
          </p:cNvPr>
          <p:cNvPicPr>
            <a:picLocks noChangeAspect="1"/>
          </p:cNvPicPr>
          <p:nvPr/>
        </p:nvPicPr>
        <p:blipFill>
          <a:blip r:embed="rId3"/>
          <a:stretch>
            <a:fillRect/>
          </a:stretch>
        </p:blipFill>
        <p:spPr>
          <a:xfrm>
            <a:off x="3969" y="0"/>
            <a:ext cx="12184062" cy="6858000"/>
          </a:xfrm>
          <a:prstGeom prst="rect">
            <a:avLst/>
          </a:prstGeom>
        </p:spPr>
      </p:pic>
    </p:spTree>
    <p:extLst>
      <p:ext uri="{BB962C8B-B14F-4D97-AF65-F5344CB8AC3E}">
        <p14:creationId xmlns:p14="http://schemas.microsoft.com/office/powerpoint/2010/main" val="2093363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018EC81F-3598-2AE9-D578-4553FBE06B02}"/>
              </a:ext>
            </a:extLst>
          </p:cNvPr>
          <p:cNvPicPr>
            <a:picLocks noChangeAspect="1"/>
          </p:cNvPicPr>
          <p:nvPr/>
        </p:nvPicPr>
        <p:blipFill>
          <a:blip r:embed="rId3">
            <a:duotone>
              <a:schemeClr val="bg2">
                <a:shade val="45000"/>
                <a:satMod val="135000"/>
              </a:schemeClr>
              <a:prstClr val="white"/>
            </a:duotone>
          </a:blip>
          <a:srcRect t="15279" b="45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4609A03-1BF8-73BA-D424-810EC14D8F02}"/>
              </a:ext>
            </a:extLst>
          </p:cNvPr>
          <p:cNvSpPr>
            <a:spLocks noGrp="1"/>
          </p:cNvSpPr>
          <p:nvPr>
            <p:ph type="title"/>
          </p:nvPr>
        </p:nvSpPr>
        <p:spPr/>
        <p:txBody>
          <a:bodyPr>
            <a:normAutofit fontScale="90000"/>
          </a:bodyPr>
          <a:lstStyle/>
          <a:p>
            <a:pPr algn="ctr"/>
            <a:r>
              <a:rPr lang="en-CA" dirty="0"/>
              <a:t>Derm Manifestations of Chronic Disease</a:t>
            </a:r>
          </a:p>
        </p:txBody>
      </p:sp>
      <p:graphicFrame>
        <p:nvGraphicFramePr>
          <p:cNvPr id="28" name="Content Placeholder 2">
            <a:extLst>
              <a:ext uri="{FF2B5EF4-FFF2-40B4-BE49-F238E27FC236}">
                <a16:creationId xmlns:a16="http://schemas.microsoft.com/office/drawing/2014/main" id="{6958CB91-F08D-A741-8E5E-C544E47F80C3}"/>
              </a:ext>
            </a:extLst>
          </p:cNvPr>
          <p:cNvGraphicFramePr>
            <a:graphicFrameLocks noGrp="1"/>
          </p:cNvGraphicFramePr>
          <p:nvPr>
            <p:ph idx="1"/>
            <p:extLst>
              <p:ext uri="{D42A27DB-BD31-4B8C-83A1-F6EECF244321}">
                <p14:modId xmlns:p14="http://schemas.microsoft.com/office/powerpoint/2010/main" val="459140789"/>
              </p:ext>
            </p:extLst>
          </p:nvPr>
        </p:nvGraphicFramePr>
        <p:xfrm>
          <a:off x="358697" y="1405055"/>
          <a:ext cx="11474605" cy="5087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26021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873AA-DAFF-9821-375A-0DEE290B719A}"/>
              </a:ext>
            </a:extLst>
          </p:cNvPr>
          <p:cNvSpPr>
            <a:spLocks noGrp="1"/>
          </p:cNvSpPr>
          <p:nvPr>
            <p:ph type="title"/>
          </p:nvPr>
        </p:nvSpPr>
        <p:spPr>
          <a:xfrm>
            <a:off x="1616054" y="372775"/>
            <a:ext cx="8959893" cy="888360"/>
          </a:xfrm>
        </p:spPr>
        <p:txBody>
          <a:bodyPr anchor="b">
            <a:normAutofit/>
          </a:bodyPr>
          <a:lstStyle/>
          <a:p>
            <a:pPr algn="ctr"/>
            <a:r>
              <a:rPr lang="en-CA" sz="3500" dirty="0">
                <a:solidFill>
                  <a:schemeClr val="tx1">
                    <a:lumMod val="65000"/>
                    <a:lumOff val="35000"/>
                  </a:schemeClr>
                </a:solidFill>
              </a:rPr>
              <a:t>OSCE Practice</a:t>
            </a:r>
          </a:p>
        </p:txBody>
      </p:sp>
      <p:sp>
        <p:nvSpPr>
          <p:cNvPr id="3" name="Content Placeholder 2">
            <a:extLst>
              <a:ext uri="{FF2B5EF4-FFF2-40B4-BE49-F238E27FC236}">
                <a16:creationId xmlns:a16="http://schemas.microsoft.com/office/drawing/2014/main" id="{08DA87E9-2FE1-5974-469A-3AE11EAB5AA5}"/>
              </a:ext>
            </a:extLst>
          </p:cNvPr>
          <p:cNvSpPr>
            <a:spLocks noGrp="1"/>
          </p:cNvSpPr>
          <p:nvPr>
            <p:ph idx="1"/>
          </p:nvPr>
        </p:nvSpPr>
        <p:spPr>
          <a:xfrm>
            <a:off x="1616054" y="2427383"/>
            <a:ext cx="8959892" cy="3169482"/>
          </a:xfrm>
        </p:spPr>
        <p:txBody>
          <a:bodyPr anchor="t">
            <a:normAutofit/>
          </a:bodyPr>
          <a:lstStyle/>
          <a:p>
            <a:r>
              <a:rPr lang="en-US" sz="2400" dirty="0">
                <a:solidFill>
                  <a:schemeClr val="tx1">
                    <a:lumMod val="65000"/>
                    <a:lumOff val="35000"/>
                  </a:schemeClr>
                </a:solidFill>
              </a:rPr>
              <a:t>3 Stations for Today </a:t>
            </a:r>
          </a:p>
          <a:p>
            <a:r>
              <a:rPr lang="en-US" sz="2400" dirty="0">
                <a:solidFill>
                  <a:schemeClr val="tx1">
                    <a:lumMod val="65000"/>
                    <a:lumOff val="35000"/>
                  </a:schemeClr>
                </a:solidFill>
              </a:rPr>
              <a:t>Remember your OPQRSTUVW and important history questions</a:t>
            </a:r>
          </a:p>
          <a:p>
            <a:r>
              <a:rPr lang="en-US" sz="2400" dirty="0">
                <a:solidFill>
                  <a:schemeClr val="tx1">
                    <a:lumMod val="65000"/>
                    <a:lumOff val="35000"/>
                  </a:schemeClr>
                </a:solidFill>
              </a:rPr>
              <a:t>Please complete a hands-on physical examination </a:t>
            </a:r>
          </a:p>
          <a:p>
            <a:r>
              <a:rPr lang="en-US" sz="2400" dirty="0">
                <a:solidFill>
                  <a:schemeClr val="tx1">
                    <a:lumMod val="65000"/>
                    <a:lumOff val="35000"/>
                  </a:schemeClr>
                </a:solidFill>
              </a:rPr>
              <a:t>Debrief after each station </a:t>
            </a:r>
          </a:p>
          <a:p>
            <a:endParaRPr lang="en-CA" sz="2000" dirty="0">
              <a:solidFill>
                <a:schemeClr val="tx1">
                  <a:lumMod val="65000"/>
                  <a:lumOff val="35000"/>
                </a:schemeClr>
              </a:solidFill>
            </a:endParaRPr>
          </a:p>
        </p:txBody>
      </p:sp>
    </p:spTree>
    <p:extLst>
      <p:ext uri="{BB962C8B-B14F-4D97-AF65-F5344CB8AC3E}">
        <p14:creationId xmlns:p14="http://schemas.microsoft.com/office/powerpoint/2010/main" val="3663572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F1FC-441C-0C36-A291-BCE6B437E259}"/>
              </a:ext>
            </a:extLst>
          </p:cNvPr>
          <p:cNvSpPr>
            <a:spLocks noGrp="1"/>
          </p:cNvSpPr>
          <p:nvPr>
            <p:ph type="title"/>
          </p:nvPr>
        </p:nvSpPr>
        <p:spPr/>
        <p:txBody>
          <a:bodyPr/>
          <a:lstStyle/>
          <a:p>
            <a:r>
              <a:rPr lang="en-CA" dirty="0"/>
              <a:t>OSCE 1</a:t>
            </a:r>
          </a:p>
        </p:txBody>
      </p:sp>
      <p:pic>
        <p:nvPicPr>
          <p:cNvPr id="4098" name="Picture 2" descr="Hot tub folliculitis: Pictures, causes ...">
            <a:extLst>
              <a:ext uri="{FF2B5EF4-FFF2-40B4-BE49-F238E27FC236}">
                <a16:creationId xmlns:a16="http://schemas.microsoft.com/office/drawing/2014/main" id="{03FD0770-2DDF-B27A-25BD-AF9B5D0BC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4798" y="2382196"/>
            <a:ext cx="6202403" cy="3473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6239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F183-F180-D7C2-B5BC-AAB3C628CFF0}"/>
              </a:ext>
            </a:extLst>
          </p:cNvPr>
          <p:cNvSpPr>
            <a:spLocks noGrp="1"/>
          </p:cNvSpPr>
          <p:nvPr>
            <p:ph type="title"/>
          </p:nvPr>
        </p:nvSpPr>
        <p:spPr/>
        <p:txBody>
          <a:bodyPr/>
          <a:lstStyle/>
          <a:p>
            <a:r>
              <a:rPr lang="en-CA" dirty="0"/>
              <a:t>OSCE 2</a:t>
            </a:r>
          </a:p>
        </p:txBody>
      </p:sp>
      <p:sp>
        <p:nvSpPr>
          <p:cNvPr id="6" name="AutoShape 6" descr="Image preview">
            <a:extLst>
              <a:ext uri="{FF2B5EF4-FFF2-40B4-BE49-F238E27FC236}">
                <a16:creationId xmlns:a16="http://schemas.microsoft.com/office/drawing/2014/main" id="{B89E30AC-82E4-F1B3-46E5-C7B58D21B03F}"/>
              </a:ext>
            </a:extLst>
          </p:cNvPr>
          <p:cNvSpPr>
            <a:spLocks noChangeAspect="1" noChangeArrowheads="1"/>
          </p:cNvSpPr>
          <p:nvPr/>
        </p:nvSpPr>
        <p:spPr bwMode="auto">
          <a:xfrm>
            <a:off x="3791415" y="1124415"/>
            <a:ext cx="2456985" cy="2456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8" name="Picture 7" descr="Close-up of a person's face&#10;&#10;AI-generated content may be incorrect.">
            <a:extLst>
              <a:ext uri="{FF2B5EF4-FFF2-40B4-BE49-F238E27FC236}">
                <a16:creationId xmlns:a16="http://schemas.microsoft.com/office/drawing/2014/main" id="{7C72DF11-AF31-0977-23AE-1BBE4C36B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8060" y="2313709"/>
            <a:ext cx="5435879" cy="4115011"/>
          </a:xfrm>
          <a:prstGeom prst="rect">
            <a:avLst/>
          </a:prstGeom>
        </p:spPr>
      </p:pic>
    </p:spTree>
    <p:extLst>
      <p:ext uri="{BB962C8B-B14F-4D97-AF65-F5344CB8AC3E}">
        <p14:creationId xmlns:p14="http://schemas.microsoft.com/office/powerpoint/2010/main" val="41745855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EE3D5-71E9-8F97-0AE5-5D7C8E6752CB}"/>
              </a:ext>
            </a:extLst>
          </p:cNvPr>
          <p:cNvSpPr>
            <a:spLocks noGrp="1"/>
          </p:cNvSpPr>
          <p:nvPr>
            <p:ph type="title"/>
          </p:nvPr>
        </p:nvSpPr>
        <p:spPr/>
        <p:txBody>
          <a:bodyPr/>
          <a:lstStyle/>
          <a:p>
            <a:r>
              <a:rPr lang="en-CA" dirty="0"/>
              <a:t>OSCE 3</a:t>
            </a:r>
          </a:p>
        </p:txBody>
      </p:sp>
      <p:pic>
        <p:nvPicPr>
          <p:cNvPr id="5" name="Content Placeholder 4" descr="A person with red rash on their back&#10;&#10;AI-generated content may be incorrect.">
            <a:extLst>
              <a:ext uri="{FF2B5EF4-FFF2-40B4-BE49-F238E27FC236}">
                <a16:creationId xmlns:a16="http://schemas.microsoft.com/office/drawing/2014/main" id="{BE7B4950-A03F-26E9-47CF-930A06D3E7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8766" y="2062163"/>
            <a:ext cx="5254467" cy="4114800"/>
          </a:xfrm>
        </p:spPr>
      </p:pic>
    </p:spTree>
    <p:extLst>
      <p:ext uri="{BB962C8B-B14F-4D97-AF65-F5344CB8AC3E}">
        <p14:creationId xmlns:p14="http://schemas.microsoft.com/office/powerpoint/2010/main" val="13681856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993A6-0E7A-16EB-1E10-0B37765F4A8C}"/>
              </a:ext>
            </a:extLst>
          </p:cNvPr>
          <p:cNvSpPr>
            <a:spLocks noGrp="1"/>
          </p:cNvSpPr>
          <p:nvPr>
            <p:ph type="title"/>
          </p:nvPr>
        </p:nvSpPr>
        <p:spPr>
          <a:xfrm>
            <a:off x="1616053" y="490285"/>
            <a:ext cx="8959893" cy="1004836"/>
          </a:xfrm>
        </p:spPr>
        <p:txBody>
          <a:bodyPr anchor="ctr">
            <a:normAutofit/>
          </a:bodyPr>
          <a:lstStyle/>
          <a:p>
            <a:pPr algn="ctr"/>
            <a:r>
              <a:rPr lang="en-CA" sz="4000" dirty="0">
                <a:solidFill>
                  <a:srgbClr val="595959"/>
                </a:solidFill>
              </a:rPr>
              <a:t>Next week</a:t>
            </a:r>
          </a:p>
        </p:txBody>
      </p:sp>
      <p:sp>
        <p:nvSpPr>
          <p:cNvPr id="3" name="Content Placeholder 2">
            <a:extLst>
              <a:ext uri="{FF2B5EF4-FFF2-40B4-BE49-F238E27FC236}">
                <a16:creationId xmlns:a16="http://schemas.microsoft.com/office/drawing/2014/main" id="{44CACA65-275D-0C2C-0084-9CEC2D3599E7}"/>
              </a:ext>
            </a:extLst>
          </p:cNvPr>
          <p:cNvSpPr>
            <a:spLocks noGrp="1"/>
          </p:cNvSpPr>
          <p:nvPr>
            <p:ph idx="1"/>
          </p:nvPr>
        </p:nvSpPr>
        <p:spPr>
          <a:xfrm>
            <a:off x="1616054" y="2074985"/>
            <a:ext cx="8959892" cy="3957825"/>
          </a:xfrm>
        </p:spPr>
        <p:txBody>
          <a:bodyPr numCol="2" anchor="t">
            <a:normAutofit/>
          </a:bodyPr>
          <a:lstStyle/>
          <a:p>
            <a:r>
              <a:rPr lang="en-CA" sz="2400" dirty="0">
                <a:solidFill>
                  <a:schemeClr val="tx1">
                    <a:lumMod val="65000"/>
                    <a:lumOff val="35000"/>
                  </a:schemeClr>
                </a:solidFill>
              </a:rPr>
              <a:t>Wounds</a:t>
            </a:r>
          </a:p>
          <a:p>
            <a:r>
              <a:rPr lang="en-CA" sz="2400" dirty="0">
                <a:solidFill>
                  <a:schemeClr val="tx1">
                    <a:lumMod val="65000"/>
                    <a:lumOff val="35000"/>
                  </a:schemeClr>
                </a:solidFill>
              </a:rPr>
              <a:t>PVD, PAD</a:t>
            </a:r>
          </a:p>
          <a:p>
            <a:r>
              <a:rPr lang="en-CA" sz="2400" dirty="0">
                <a:solidFill>
                  <a:schemeClr val="tx1">
                    <a:lumMod val="65000"/>
                    <a:lumOff val="35000"/>
                  </a:schemeClr>
                </a:solidFill>
              </a:rPr>
              <a:t>ABI</a:t>
            </a:r>
          </a:p>
          <a:p>
            <a:r>
              <a:rPr lang="en-CA" sz="2400" dirty="0">
                <a:solidFill>
                  <a:schemeClr val="tx1">
                    <a:lumMod val="65000"/>
                    <a:lumOff val="35000"/>
                  </a:schemeClr>
                </a:solidFill>
              </a:rPr>
              <a:t>Skin cancers</a:t>
            </a:r>
          </a:p>
          <a:p>
            <a:r>
              <a:rPr lang="en-CA" sz="2400" dirty="0">
                <a:solidFill>
                  <a:schemeClr val="tx1">
                    <a:lumMod val="65000"/>
                    <a:lumOff val="35000"/>
                  </a:schemeClr>
                </a:solidFill>
              </a:rPr>
              <a:t>Burns </a:t>
            </a:r>
          </a:p>
          <a:p>
            <a:r>
              <a:rPr lang="en-CA" sz="2400" dirty="0">
                <a:solidFill>
                  <a:schemeClr val="tx1">
                    <a:lumMod val="65000"/>
                    <a:lumOff val="35000"/>
                  </a:schemeClr>
                </a:solidFill>
              </a:rPr>
              <a:t>Biopsies</a:t>
            </a:r>
          </a:p>
          <a:p>
            <a:r>
              <a:rPr lang="en-CA" sz="2400" dirty="0">
                <a:solidFill>
                  <a:schemeClr val="tx1">
                    <a:lumMod val="65000"/>
                    <a:lumOff val="35000"/>
                  </a:schemeClr>
                </a:solidFill>
              </a:rPr>
              <a:t>Suturing</a:t>
            </a:r>
          </a:p>
          <a:p>
            <a:r>
              <a:rPr lang="en-CA" sz="2400" b="1" dirty="0">
                <a:solidFill>
                  <a:schemeClr val="tx1">
                    <a:lumMod val="65000"/>
                    <a:lumOff val="35000"/>
                  </a:schemeClr>
                </a:solidFill>
              </a:rPr>
              <a:t>Reminder – learning plans tomorrow (Sept 25)</a:t>
            </a:r>
          </a:p>
          <a:p>
            <a:r>
              <a:rPr lang="en-CA" sz="2400" b="1" dirty="0">
                <a:solidFill>
                  <a:schemeClr val="tx1">
                    <a:lumMod val="65000"/>
                    <a:lumOff val="35000"/>
                  </a:schemeClr>
                </a:solidFill>
              </a:rPr>
              <a:t>Critique of Assessment Tool Due Oct. 9</a:t>
            </a:r>
          </a:p>
        </p:txBody>
      </p:sp>
    </p:spTree>
    <p:extLst>
      <p:ext uri="{BB962C8B-B14F-4D97-AF65-F5344CB8AC3E}">
        <p14:creationId xmlns:p14="http://schemas.microsoft.com/office/powerpoint/2010/main" val="2552865090"/>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9997</TotalTime>
  <Words>3421</Words>
  <Application>Microsoft Office PowerPoint</Application>
  <PresentationFormat>Widescreen</PresentationFormat>
  <Paragraphs>400</Paragraphs>
  <Slides>64</Slides>
  <Notes>54</Notes>
  <HiddenSlides>8</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Archway</vt:lpstr>
      <vt:lpstr>Module 3: Integumentary I</vt:lpstr>
      <vt:lpstr>Reminders</vt:lpstr>
      <vt:lpstr>Learning Outcomes</vt:lpstr>
      <vt:lpstr>Agenda</vt:lpstr>
      <vt:lpstr>Resource</vt:lpstr>
      <vt:lpstr>Common Diagnoses</vt:lpstr>
      <vt:lpstr>History Taking</vt:lpstr>
      <vt:lpstr>Things to Remember</vt:lpstr>
      <vt:lpstr>A Thorough History is Vital!</vt:lpstr>
      <vt:lpstr>Morphological Classifications </vt:lpstr>
      <vt:lpstr>Physical Exam</vt:lpstr>
      <vt:lpstr>Characterization of Lesion</vt:lpstr>
      <vt:lpstr>Characterization of Lesion</vt:lpstr>
      <vt:lpstr>Primary Morphology</vt:lpstr>
      <vt:lpstr>Primary Morphology</vt:lpstr>
      <vt:lpstr>PowerPoint Presentation</vt:lpstr>
      <vt:lpstr>Describing Lesions &amp; Rashes</vt:lpstr>
      <vt:lpstr>PowerPoint Presentation</vt:lpstr>
      <vt:lpstr>PowerPoint Presentation</vt:lpstr>
      <vt:lpstr>PowerPoint Presentation</vt:lpstr>
      <vt:lpstr>Laboratory and Diagnostic Investigations</vt:lpstr>
      <vt:lpstr>Diascopy (aka Glass Test)</vt:lpstr>
      <vt:lpstr>Integumentary Red Flags</vt:lpstr>
      <vt:lpstr>Angioedema</vt:lpstr>
      <vt:lpstr>Meningococcemia</vt:lpstr>
      <vt:lpstr>Steven Johnson Syndrome/ Toxic Epidermal Necrolysis</vt:lpstr>
      <vt:lpstr>Case Study: Martha</vt:lpstr>
      <vt:lpstr>Case Study: Martha</vt:lpstr>
      <vt:lpstr>Case Study Continued</vt:lpstr>
      <vt:lpstr>Prep Questions/Exam Practice</vt:lpstr>
      <vt:lpstr>Prep Questions/Exam Practice</vt:lpstr>
      <vt:lpstr>Dermatitis-  Atopic (Eczema) , Contact (Allergic) , Seborrheic </vt:lpstr>
      <vt:lpstr>Dermatitis vs. Psoriasis</vt:lpstr>
      <vt:lpstr>Atopic Dermatitis </vt:lpstr>
      <vt:lpstr>Case Study: Paul</vt:lpstr>
      <vt:lpstr>Cellulitis </vt:lpstr>
      <vt:lpstr>Case Study: Reid</vt:lpstr>
      <vt:lpstr>Case Study: Reid Continued</vt:lpstr>
      <vt:lpstr>Acne Vulgaris</vt:lpstr>
      <vt:lpstr>Acne Vulgaris</vt:lpstr>
      <vt:lpstr>PowerPoint Presentation</vt:lpstr>
      <vt:lpstr>PowerPoint Presentation</vt:lpstr>
      <vt:lpstr>BREAKOUT ACTIVITY </vt:lpstr>
      <vt:lpstr>Prep Questions/Exam Practice</vt:lpstr>
      <vt:lpstr>Prep Questions/Exam Practice</vt:lpstr>
      <vt:lpstr>Prep Questions/Exam Practice</vt:lpstr>
      <vt:lpstr>Practice Rash 1</vt:lpstr>
      <vt:lpstr>Practice Rash 2</vt:lpstr>
      <vt:lpstr>Practice Rash 3</vt:lpstr>
      <vt:lpstr>Practice Rash 4</vt:lpstr>
      <vt:lpstr>Practice Rash 5</vt:lpstr>
      <vt:lpstr>Practice Rash 6</vt:lpstr>
      <vt:lpstr>Practice Rash 7</vt:lpstr>
      <vt:lpstr>Practice Rash 8</vt:lpstr>
      <vt:lpstr>Abscess, Furuncle (“Boil”) and Carbuncle</vt:lpstr>
      <vt:lpstr>Epidermoid Cyst, Sebaceous Cyst</vt:lpstr>
      <vt:lpstr>Add rosacea</vt:lpstr>
      <vt:lpstr>PowerPoint Presentation</vt:lpstr>
      <vt:lpstr>Derm Manifestations of Chronic Disease</vt:lpstr>
      <vt:lpstr>OSCE Practice</vt:lpstr>
      <vt:lpstr>OSCE 1</vt:lpstr>
      <vt:lpstr>OSCE 2</vt:lpstr>
      <vt:lpstr>OSCE 3</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Stacy Crown-Martin</dc:creator>
  <cp:lastModifiedBy>Gabrielle Heil</cp:lastModifiedBy>
  <cp:revision>6</cp:revision>
  <dcterms:created xsi:type="dcterms:W3CDTF">2025-09-10T13:28:53Z</dcterms:created>
  <dcterms:modified xsi:type="dcterms:W3CDTF">2026-09-27T13:22:46Z</dcterms:modified>
</cp:coreProperties>
</file>