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66" r:id="rId3"/>
    <p:sldId id="274" r:id="rId4"/>
    <p:sldId id="258" r:id="rId5"/>
    <p:sldId id="269" r:id="rId6"/>
    <p:sldId id="267" r:id="rId7"/>
    <p:sldId id="265" r:id="rId8"/>
    <p:sldId id="270" r:id="rId9"/>
    <p:sldId id="260" r:id="rId10"/>
    <p:sldId id="272" r:id="rId11"/>
    <p:sldId id="271" r:id="rId12"/>
    <p:sldId id="261" r:id="rId13"/>
    <p:sldId id="273" r:id="rId14"/>
    <p:sldId id="262" r:id="rId15"/>
    <p:sldId id="263" r:id="rId16"/>
    <p:sldId id="275" r:id="rId17"/>
    <p:sldId id="276" r:id="rId18"/>
    <p:sldId id="257"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A90277-87A1-477C-AB30-D0936C6656BF}" v="15" dt="2026-09-16T17:16:06.4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577" autoAdjust="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le Heil" userId="6400cc85-5dd7-4dd9-b99e-6ce8cb687a6b" providerId="ADAL" clId="{77BA8CD7-B3FB-413A-8DDD-02C30933949C}"/>
    <pc:docChg chg="modSld sldOrd">
      <pc:chgData name="Gabrielle Heil" userId="6400cc85-5dd7-4dd9-b99e-6ce8cb687a6b" providerId="ADAL" clId="{77BA8CD7-B3FB-413A-8DDD-02C30933949C}" dt="2026-09-16T17:16:06.444" v="29"/>
      <pc:docMkLst>
        <pc:docMk/>
      </pc:docMkLst>
      <pc:sldChg chg="addSp modSp">
        <pc:chgData name="Gabrielle Heil" userId="6400cc85-5dd7-4dd9-b99e-6ce8cb687a6b" providerId="ADAL" clId="{77BA8CD7-B3FB-413A-8DDD-02C30933949C}" dt="2026-09-16T16:55:41.678" v="6"/>
        <pc:sldMkLst>
          <pc:docMk/>
          <pc:sldMk cId="4056985555" sldId="265"/>
        </pc:sldMkLst>
        <pc:picChg chg="add">
          <ac:chgData name="Gabrielle Heil" userId="6400cc85-5dd7-4dd9-b99e-6ce8cb687a6b" providerId="ADAL" clId="{77BA8CD7-B3FB-413A-8DDD-02C30933949C}" dt="2026-09-16T16:49:17.568" v="1"/>
          <ac:picMkLst>
            <pc:docMk/>
            <pc:sldMk cId="4056985555" sldId="265"/>
            <ac:picMk id="8" creationId="{9A279C5D-DF6C-24CB-5A3E-26C315A6B246}"/>
          </ac:picMkLst>
        </pc:picChg>
        <pc:picChg chg="add">
          <ac:chgData name="Gabrielle Heil" userId="6400cc85-5dd7-4dd9-b99e-6ce8cb687a6b" providerId="ADAL" clId="{77BA8CD7-B3FB-413A-8DDD-02C30933949C}" dt="2026-09-16T16:50:10" v="2"/>
          <ac:picMkLst>
            <pc:docMk/>
            <pc:sldMk cId="4056985555" sldId="265"/>
            <ac:picMk id="11" creationId="{C4A0EC2C-E45F-6A28-996D-21E2B1C80744}"/>
          </ac:picMkLst>
        </pc:picChg>
        <pc:picChg chg="add">
          <ac:chgData name="Gabrielle Heil" userId="6400cc85-5dd7-4dd9-b99e-6ce8cb687a6b" providerId="ADAL" clId="{77BA8CD7-B3FB-413A-8DDD-02C30933949C}" dt="2026-09-16T16:52:21.437" v="4"/>
          <ac:picMkLst>
            <pc:docMk/>
            <pc:sldMk cId="4056985555" sldId="265"/>
            <ac:picMk id="14" creationId="{A8E551EC-9680-FA23-36FC-048349630BA0}"/>
          </ac:picMkLst>
        </pc:picChg>
        <pc:picChg chg="add">
          <ac:chgData name="Gabrielle Heil" userId="6400cc85-5dd7-4dd9-b99e-6ce8cb687a6b" providerId="ADAL" clId="{77BA8CD7-B3FB-413A-8DDD-02C30933949C}" dt="2026-09-16T16:54:50.301" v="5"/>
          <ac:picMkLst>
            <pc:docMk/>
            <pc:sldMk cId="4056985555" sldId="265"/>
            <ac:picMk id="25" creationId="{628AF17B-EF4C-A296-2BF4-8A1E174C4696}"/>
          </ac:picMkLst>
        </pc:picChg>
        <pc:cxnChg chg="add mod">
          <ac:chgData name="Gabrielle Heil" userId="6400cc85-5dd7-4dd9-b99e-6ce8cb687a6b" providerId="ADAL" clId="{77BA8CD7-B3FB-413A-8DDD-02C30933949C}" dt="2026-09-16T16:55:41.678" v="6"/>
          <ac:cxnSpMkLst>
            <pc:docMk/>
            <pc:sldMk cId="4056985555" sldId="265"/>
            <ac:cxnSpMk id="28" creationId="{14271B6B-9AE4-0696-C798-EA1D64F4DBFF}"/>
          </ac:cxnSpMkLst>
        </pc:cxnChg>
      </pc:sldChg>
      <pc:sldChg chg="addSp delSp modSp">
        <pc:chgData name="Gabrielle Heil" userId="6400cc85-5dd7-4dd9-b99e-6ce8cb687a6b" providerId="ADAL" clId="{77BA8CD7-B3FB-413A-8DDD-02C30933949C}" dt="2026-09-16T17:00:32.779" v="11"/>
        <pc:sldMkLst>
          <pc:docMk/>
          <pc:sldMk cId="1628552752" sldId="266"/>
        </pc:sldMkLst>
        <pc:spChg chg="del">
          <ac:chgData name="Gabrielle Heil" userId="6400cc85-5dd7-4dd9-b99e-6ce8cb687a6b" providerId="ADAL" clId="{77BA8CD7-B3FB-413A-8DDD-02C30933949C}" dt="2026-09-16T17:00:32.779" v="11"/>
          <ac:spMkLst>
            <pc:docMk/>
            <pc:sldMk cId="1628552752" sldId="266"/>
            <ac:spMk id="9" creationId="{2D1F51A0-F48C-7DD3-8929-6E8F1C49FC89}"/>
          </ac:spMkLst>
        </pc:spChg>
        <pc:spChg chg="add mod">
          <ac:chgData name="Gabrielle Heil" userId="6400cc85-5dd7-4dd9-b99e-6ce8cb687a6b" providerId="ADAL" clId="{77BA8CD7-B3FB-413A-8DDD-02C30933949C}" dt="2026-09-16T16:59:09.055" v="9"/>
          <ac:spMkLst>
            <pc:docMk/>
            <pc:sldMk cId="1628552752" sldId="266"/>
            <ac:spMk id="10" creationId="{2DBF531D-F799-8CEE-F964-80C76FFD2E37}"/>
          </ac:spMkLst>
        </pc:spChg>
        <pc:picChg chg="add">
          <ac:chgData name="Gabrielle Heil" userId="6400cc85-5dd7-4dd9-b99e-6ce8cb687a6b" providerId="ADAL" clId="{77BA8CD7-B3FB-413A-8DDD-02C30933949C}" dt="2026-09-16T16:48:32.376" v="0"/>
          <ac:picMkLst>
            <pc:docMk/>
            <pc:sldMk cId="1628552752" sldId="266"/>
            <ac:picMk id="4" creationId="{C3AE18DF-4D5A-F1B5-ABFD-B26407F79F4E}"/>
          </ac:picMkLst>
        </pc:picChg>
        <pc:picChg chg="add">
          <ac:chgData name="Gabrielle Heil" userId="6400cc85-5dd7-4dd9-b99e-6ce8cb687a6b" providerId="ADAL" clId="{77BA8CD7-B3FB-413A-8DDD-02C30933949C}" dt="2026-09-16T16:50:50.132" v="3"/>
          <ac:picMkLst>
            <pc:docMk/>
            <pc:sldMk cId="1628552752" sldId="266"/>
            <ac:picMk id="7" creationId="{CF7082E9-66D6-C998-0A75-84F9B08C9253}"/>
          </ac:picMkLst>
        </pc:picChg>
        <pc:picChg chg="add">
          <ac:chgData name="Gabrielle Heil" userId="6400cc85-5dd7-4dd9-b99e-6ce8cb687a6b" providerId="ADAL" clId="{77BA8CD7-B3FB-413A-8DDD-02C30933949C}" dt="2026-09-16T16:59:52.522" v="10"/>
          <ac:picMkLst>
            <pc:docMk/>
            <pc:sldMk cId="1628552752" sldId="266"/>
            <ac:picMk id="11" creationId="{06E0254D-BCE2-06AA-62D2-28C6D8EBA9DD}"/>
          </ac:picMkLst>
        </pc:picChg>
      </pc:sldChg>
      <pc:sldChg chg="ord">
        <pc:chgData name="Gabrielle Heil" userId="6400cc85-5dd7-4dd9-b99e-6ce8cb687a6b" providerId="ADAL" clId="{77BA8CD7-B3FB-413A-8DDD-02C30933949C}" dt="2026-09-16T16:56:56.737" v="7"/>
        <pc:sldMkLst>
          <pc:docMk/>
          <pc:sldMk cId="2660986345" sldId="270"/>
        </pc:sldMkLst>
      </pc:sldChg>
      <pc:sldChg chg="ord">
        <pc:chgData name="Gabrielle Heil" userId="6400cc85-5dd7-4dd9-b99e-6ce8cb687a6b" providerId="ADAL" clId="{77BA8CD7-B3FB-413A-8DDD-02C30933949C}" dt="2026-09-16T16:57:15.657" v="8"/>
        <pc:sldMkLst>
          <pc:docMk/>
          <pc:sldMk cId="393885348" sldId="271"/>
        </pc:sldMkLst>
      </pc:sldChg>
      <pc:sldChg chg="addSp modAnim">
        <pc:chgData name="Gabrielle Heil" userId="6400cc85-5dd7-4dd9-b99e-6ce8cb687a6b" providerId="ADAL" clId="{77BA8CD7-B3FB-413A-8DDD-02C30933949C}" dt="2026-09-16T17:06:18.972" v="22"/>
        <pc:sldMkLst>
          <pc:docMk/>
          <pc:sldMk cId="4176938408" sldId="272"/>
        </pc:sldMkLst>
        <pc:picChg chg="add">
          <ac:chgData name="Gabrielle Heil" userId="6400cc85-5dd7-4dd9-b99e-6ce8cb687a6b" providerId="ADAL" clId="{77BA8CD7-B3FB-413A-8DDD-02C30933949C}" dt="2026-09-16T17:03:02.503" v="12"/>
          <ac:picMkLst>
            <pc:docMk/>
            <pc:sldMk cId="4176938408" sldId="272"/>
            <ac:picMk id="4" creationId="{8ACBD7FB-962D-5AC9-A168-1AC0F1514AE4}"/>
          </ac:picMkLst>
        </pc:picChg>
        <pc:picChg chg="add">
          <ac:chgData name="Gabrielle Heil" userId="6400cc85-5dd7-4dd9-b99e-6ce8cb687a6b" providerId="ADAL" clId="{77BA8CD7-B3FB-413A-8DDD-02C30933949C}" dt="2026-09-16T17:03:55.611" v="13"/>
          <ac:picMkLst>
            <pc:docMk/>
            <pc:sldMk cId="4176938408" sldId="272"/>
            <ac:picMk id="5" creationId="{0578A2CA-8D0F-26E3-A802-68EC0B2CD9F3}"/>
          </ac:picMkLst>
        </pc:picChg>
        <pc:picChg chg="add">
          <ac:chgData name="Gabrielle Heil" userId="6400cc85-5dd7-4dd9-b99e-6ce8cb687a6b" providerId="ADAL" clId="{77BA8CD7-B3FB-413A-8DDD-02C30933949C}" dt="2026-09-16T17:04:07.305" v="14"/>
          <ac:picMkLst>
            <pc:docMk/>
            <pc:sldMk cId="4176938408" sldId="272"/>
            <ac:picMk id="6" creationId="{DFE685AD-6DD1-2B1D-EB8F-2C10E4C9ED1D}"/>
          </ac:picMkLst>
        </pc:picChg>
        <pc:picChg chg="add">
          <ac:chgData name="Gabrielle Heil" userId="6400cc85-5dd7-4dd9-b99e-6ce8cb687a6b" providerId="ADAL" clId="{77BA8CD7-B3FB-413A-8DDD-02C30933949C}" dt="2026-09-16T17:04:21.119" v="15"/>
          <ac:picMkLst>
            <pc:docMk/>
            <pc:sldMk cId="4176938408" sldId="272"/>
            <ac:picMk id="7" creationId="{023285BE-4696-C860-8608-A8348582A324}"/>
          </ac:picMkLst>
        </pc:picChg>
        <pc:picChg chg="add">
          <ac:chgData name="Gabrielle Heil" userId="6400cc85-5dd7-4dd9-b99e-6ce8cb687a6b" providerId="ADAL" clId="{77BA8CD7-B3FB-413A-8DDD-02C30933949C}" dt="2026-09-16T17:04:30.039" v="16"/>
          <ac:picMkLst>
            <pc:docMk/>
            <pc:sldMk cId="4176938408" sldId="272"/>
            <ac:picMk id="8" creationId="{212B82A2-1882-EA2B-35AA-89BBB5AF4E0D}"/>
          </ac:picMkLst>
        </pc:picChg>
      </pc:sldChg>
      <pc:sldChg chg="addSp">
        <pc:chgData name="Gabrielle Heil" userId="6400cc85-5dd7-4dd9-b99e-6ce8cb687a6b" providerId="ADAL" clId="{77BA8CD7-B3FB-413A-8DDD-02C30933949C}" dt="2026-09-16T17:12:33.265" v="28"/>
        <pc:sldMkLst>
          <pc:docMk/>
          <pc:sldMk cId="4061994576" sldId="273"/>
        </pc:sldMkLst>
        <pc:picChg chg="add">
          <ac:chgData name="Gabrielle Heil" userId="6400cc85-5dd7-4dd9-b99e-6ce8cb687a6b" providerId="ADAL" clId="{77BA8CD7-B3FB-413A-8DDD-02C30933949C}" dt="2026-09-16T17:09:51.255" v="23"/>
          <ac:picMkLst>
            <pc:docMk/>
            <pc:sldMk cId="4061994576" sldId="273"/>
            <ac:picMk id="4" creationId="{CFD6915C-59C0-AFB5-904B-46B7F19E529D}"/>
          </ac:picMkLst>
        </pc:picChg>
        <pc:picChg chg="add">
          <ac:chgData name="Gabrielle Heil" userId="6400cc85-5dd7-4dd9-b99e-6ce8cb687a6b" providerId="ADAL" clId="{77BA8CD7-B3FB-413A-8DDD-02C30933949C}" dt="2026-09-16T17:10:48.106" v="24"/>
          <ac:picMkLst>
            <pc:docMk/>
            <pc:sldMk cId="4061994576" sldId="273"/>
            <ac:picMk id="5" creationId="{376EC4DE-FEAD-17FC-7F96-E5EA1A049C3E}"/>
          </ac:picMkLst>
        </pc:picChg>
        <pc:picChg chg="add">
          <ac:chgData name="Gabrielle Heil" userId="6400cc85-5dd7-4dd9-b99e-6ce8cb687a6b" providerId="ADAL" clId="{77BA8CD7-B3FB-413A-8DDD-02C30933949C}" dt="2026-09-16T17:12:11.046" v="26"/>
          <ac:picMkLst>
            <pc:docMk/>
            <pc:sldMk cId="4061994576" sldId="273"/>
            <ac:picMk id="6" creationId="{8CCDF2E2-DD32-76DB-88EF-73502D3E02D6}"/>
          </ac:picMkLst>
        </pc:picChg>
        <pc:picChg chg="add">
          <ac:chgData name="Gabrielle Heil" userId="6400cc85-5dd7-4dd9-b99e-6ce8cb687a6b" providerId="ADAL" clId="{77BA8CD7-B3FB-413A-8DDD-02C30933949C}" dt="2026-09-16T17:12:22.126" v="27"/>
          <ac:picMkLst>
            <pc:docMk/>
            <pc:sldMk cId="4061994576" sldId="273"/>
            <ac:picMk id="7" creationId="{A5F8E8E6-FA4F-8979-1C29-FA4D177E6488}"/>
          </ac:picMkLst>
        </pc:picChg>
        <pc:picChg chg="add">
          <ac:chgData name="Gabrielle Heil" userId="6400cc85-5dd7-4dd9-b99e-6ce8cb687a6b" providerId="ADAL" clId="{77BA8CD7-B3FB-413A-8DDD-02C30933949C}" dt="2026-09-16T17:12:33.265" v="28"/>
          <ac:picMkLst>
            <pc:docMk/>
            <pc:sldMk cId="4061994576" sldId="273"/>
            <ac:picMk id="8" creationId="{05CF01D9-4F62-B52E-073F-2A34C6F88E9A}"/>
          </ac:picMkLst>
        </pc:picChg>
      </pc:sldChg>
      <pc:sldChg chg="addSp">
        <pc:chgData name="Gabrielle Heil" userId="6400cc85-5dd7-4dd9-b99e-6ce8cb687a6b" providerId="ADAL" clId="{77BA8CD7-B3FB-413A-8DDD-02C30933949C}" dt="2026-09-16T17:11:36.714" v="25"/>
        <pc:sldMkLst>
          <pc:docMk/>
          <pc:sldMk cId="3545618772" sldId="274"/>
        </pc:sldMkLst>
        <pc:picChg chg="add">
          <ac:chgData name="Gabrielle Heil" userId="6400cc85-5dd7-4dd9-b99e-6ce8cb687a6b" providerId="ADAL" clId="{77BA8CD7-B3FB-413A-8DDD-02C30933949C}" dt="2026-09-16T17:11:36.714" v="25"/>
          <ac:picMkLst>
            <pc:docMk/>
            <pc:sldMk cId="3545618772" sldId="274"/>
            <ac:picMk id="6" creationId="{C5F03F58-2DE1-19C7-C974-DCC1955C64DD}"/>
          </ac:picMkLst>
        </pc:picChg>
      </pc:sldChg>
      <pc:sldChg chg="addSp modSp">
        <pc:chgData name="Gabrielle Heil" userId="6400cc85-5dd7-4dd9-b99e-6ce8cb687a6b" providerId="ADAL" clId="{77BA8CD7-B3FB-413A-8DDD-02C30933949C}" dt="2026-09-16T17:16:06.444" v="29"/>
        <pc:sldMkLst>
          <pc:docMk/>
          <pc:sldMk cId="3882639390" sldId="275"/>
        </pc:sldMkLst>
        <pc:spChg chg="add mod">
          <ac:chgData name="Gabrielle Heil" userId="6400cc85-5dd7-4dd9-b99e-6ce8cb687a6b" providerId="ADAL" clId="{77BA8CD7-B3FB-413A-8DDD-02C30933949C}" dt="2026-09-16T17:16:06.444" v="29"/>
          <ac:spMkLst>
            <pc:docMk/>
            <pc:sldMk cId="3882639390" sldId="275"/>
            <ac:spMk id="4" creationId="{CF2CE291-19B3-63DA-BBA9-7A6743C077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807D17-B5DC-4742-B43B-D7E5FD78FA0D}" type="datetimeFigureOut">
              <a:rPr lang="en-CA" smtClean="0"/>
              <a:t>2026-09-16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21A69C-F939-4783-8228-BB83F49BCAAD}" type="slidenum">
              <a:rPr lang="en-CA" smtClean="0"/>
              <a:t>‹#›</a:t>
            </a:fld>
            <a:endParaRPr lang="en-CA"/>
          </a:p>
        </p:txBody>
      </p:sp>
    </p:spTree>
    <p:extLst>
      <p:ext uri="{BB962C8B-B14F-4D97-AF65-F5344CB8AC3E}">
        <p14:creationId xmlns:p14="http://schemas.microsoft.com/office/powerpoint/2010/main" val="2749924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ediatrics.wisc.edu/education/acute-otitis-media/tympanic-membrane-anatomy/"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CA" sz="1200" b="0" i="0" kern="1200" dirty="0">
                <a:solidFill>
                  <a:schemeClr val="tx1"/>
                </a:solidFill>
                <a:effectLst/>
                <a:latin typeface="+mn-lt"/>
                <a:ea typeface="+mn-ea"/>
                <a:cs typeface="+mn-cs"/>
              </a:rPr>
              <a:t>A – Pars </a:t>
            </a:r>
            <a:r>
              <a:rPr lang="en-CA" sz="1200" b="0" i="0" kern="1200" dirty="0" err="1">
                <a:solidFill>
                  <a:schemeClr val="tx1"/>
                </a:solidFill>
                <a:effectLst/>
                <a:latin typeface="+mn-lt"/>
                <a:ea typeface="+mn-ea"/>
                <a:cs typeface="+mn-cs"/>
              </a:rPr>
              <a:t>flaccida</a:t>
            </a:r>
            <a:endParaRPr lang="en-CA" sz="1200" b="0" i="0" kern="1200" dirty="0">
              <a:solidFill>
                <a:schemeClr val="tx1"/>
              </a:solidFill>
              <a:effectLst/>
              <a:latin typeface="+mn-lt"/>
              <a:ea typeface="+mn-ea"/>
              <a:cs typeface="+mn-cs"/>
            </a:endParaRPr>
          </a:p>
          <a:p>
            <a:pPr fontAlgn="base"/>
            <a:r>
              <a:rPr lang="en-CA" sz="1200" b="0" i="0" kern="1200" dirty="0">
                <a:solidFill>
                  <a:schemeClr val="tx1"/>
                </a:solidFill>
                <a:effectLst/>
                <a:latin typeface="+mn-lt"/>
                <a:ea typeface="+mn-ea"/>
                <a:cs typeface="+mn-cs"/>
              </a:rPr>
              <a:t>B  – Short process of malleus</a:t>
            </a:r>
          </a:p>
          <a:p>
            <a:pPr fontAlgn="base"/>
            <a:r>
              <a:rPr lang="en-CA" sz="1200" b="0" i="0" kern="1200" dirty="0">
                <a:solidFill>
                  <a:schemeClr val="tx1"/>
                </a:solidFill>
                <a:effectLst/>
                <a:latin typeface="+mn-lt"/>
                <a:ea typeface="+mn-ea"/>
                <a:cs typeface="+mn-cs"/>
              </a:rPr>
              <a:t>C – Pars </a:t>
            </a:r>
            <a:r>
              <a:rPr lang="en-CA" sz="1200" b="0" i="0" kern="1200" dirty="0" err="1">
                <a:solidFill>
                  <a:schemeClr val="tx1"/>
                </a:solidFill>
                <a:effectLst/>
                <a:latin typeface="+mn-lt"/>
                <a:ea typeface="+mn-ea"/>
                <a:cs typeface="+mn-cs"/>
              </a:rPr>
              <a:t>Tensa</a:t>
            </a:r>
            <a:r>
              <a:rPr lang="en-CA" sz="1200" b="0" i="0" kern="1200" dirty="0">
                <a:solidFill>
                  <a:schemeClr val="tx1"/>
                </a:solidFill>
                <a:effectLst/>
                <a:latin typeface="+mn-lt"/>
                <a:ea typeface="+mn-ea"/>
                <a:cs typeface="+mn-cs"/>
              </a:rPr>
              <a:t> (anterior superior quadrant)</a:t>
            </a:r>
          </a:p>
          <a:p>
            <a:pPr fontAlgn="base"/>
            <a:r>
              <a:rPr lang="en-CA" sz="1200" b="0" i="0" kern="1200" dirty="0">
                <a:solidFill>
                  <a:schemeClr val="tx1"/>
                </a:solidFill>
                <a:effectLst/>
                <a:latin typeface="+mn-lt"/>
                <a:ea typeface="+mn-ea"/>
                <a:cs typeface="+mn-cs"/>
              </a:rPr>
              <a:t>D – Manubrium of malleus</a:t>
            </a:r>
          </a:p>
          <a:p>
            <a:pPr fontAlgn="base"/>
            <a:r>
              <a:rPr lang="en-CA" sz="1200" b="0" i="0" kern="1200" dirty="0">
                <a:solidFill>
                  <a:schemeClr val="tx1"/>
                </a:solidFill>
                <a:effectLst/>
                <a:latin typeface="+mn-lt"/>
                <a:ea typeface="+mn-ea"/>
                <a:cs typeface="+mn-cs"/>
              </a:rPr>
              <a:t>E – Umbo</a:t>
            </a:r>
          </a:p>
          <a:p>
            <a:pPr fontAlgn="base"/>
            <a:r>
              <a:rPr lang="en-CA" sz="1200" b="0" i="0" kern="1200" dirty="0">
                <a:solidFill>
                  <a:schemeClr val="tx1"/>
                </a:solidFill>
                <a:effectLst/>
                <a:latin typeface="+mn-lt"/>
                <a:ea typeface="+mn-ea"/>
                <a:cs typeface="+mn-cs"/>
              </a:rPr>
              <a:t>F – Light reflex</a:t>
            </a:r>
          </a:p>
          <a:p>
            <a:pPr fontAlgn="base"/>
            <a:r>
              <a:rPr lang="en-CA" sz="1200" b="0" i="0" kern="1200" dirty="0">
                <a:solidFill>
                  <a:schemeClr val="tx1"/>
                </a:solidFill>
                <a:effectLst/>
                <a:latin typeface="+mn-lt"/>
                <a:ea typeface="+mn-ea"/>
                <a:cs typeface="+mn-cs"/>
              </a:rPr>
              <a:t>G – Pars </a:t>
            </a:r>
            <a:r>
              <a:rPr lang="en-CA" sz="1200" b="0" i="0" kern="1200" dirty="0" err="1">
                <a:solidFill>
                  <a:schemeClr val="tx1"/>
                </a:solidFill>
                <a:effectLst/>
                <a:latin typeface="+mn-lt"/>
                <a:ea typeface="+mn-ea"/>
                <a:cs typeface="+mn-cs"/>
              </a:rPr>
              <a:t>Tensa</a:t>
            </a:r>
            <a:r>
              <a:rPr lang="en-CA" sz="1200" b="0" i="0" kern="1200" dirty="0">
                <a:solidFill>
                  <a:schemeClr val="tx1"/>
                </a:solidFill>
                <a:effectLst/>
                <a:latin typeface="+mn-lt"/>
                <a:ea typeface="+mn-ea"/>
                <a:cs typeface="+mn-cs"/>
              </a:rPr>
              <a:t> (anterior inferior quadrant)</a:t>
            </a:r>
          </a:p>
          <a:p>
            <a:pPr fontAlgn="base"/>
            <a:r>
              <a:rPr lang="en-CA" sz="1200" b="0" i="0" kern="1200" dirty="0">
                <a:solidFill>
                  <a:schemeClr val="tx1"/>
                </a:solidFill>
                <a:effectLst/>
                <a:latin typeface="+mn-lt"/>
                <a:ea typeface="+mn-ea"/>
                <a:cs typeface="+mn-cs"/>
              </a:rPr>
              <a:t>H – Promontory of cochlea</a:t>
            </a:r>
          </a:p>
          <a:p>
            <a:pPr fontAlgn="base"/>
            <a:r>
              <a:rPr lang="en-CA" sz="1200" b="0" i="0" kern="1200" dirty="0">
                <a:solidFill>
                  <a:schemeClr val="tx1"/>
                </a:solidFill>
                <a:effectLst/>
                <a:latin typeface="+mn-lt"/>
                <a:ea typeface="+mn-ea"/>
                <a:cs typeface="+mn-cs"/>
              </a:rPr>
              <a:t>I – Grains of sand</a:t>
            </a:r>
          </a:p>
          <a:p>
            <a:pPr fontAlgn="base"/>
            <a:r>
              <a:rPr lang="en-CA" sz="1200" b="0" i="0" kern="1200" dirty="0">
                <a:solidFill>
                  <a:schemeClr val="tx1"/>
                </a:solidFill>
                <a:effectLst/>
                <a:latin typeface="+mn-lt"/>
                <a:ea typeface="+mn-ea"/>
                <a:cs typeface="+mn-cs"/>
              </a:rPr>
              <a:t>K – Round window niche</a:t>
            </a:r>
          </a:p>
          <a:p>
            <a:pPr fontAlgn="base"/>
            <a:r>
              <a:rPr lang="en-CA" sz="1200" b="0" i="0" kern="1200" dirty="0">
                <a:solidFill>
                  <a:schemeClr val="tx1"/>
                </a:solidFill>
                <a:effectLst/>
                <a:latin typeface="+mn-lt"/>
                <a:ea typeface="+mn-ea"/>
                <a:cs typeface="+mn-cs"/>
              </a:rPr>
              <a:t>L – Pars </a:t>
            </a:r>
            <a:r>
              <a:rPr lang="en-CA" sz="1200" b="0" i="0" kern="1200" dirty="0" err="1">
                <a:solidFill>
                  <a:schemeClr val="tx1"/>
                </a:solidFill>
                <a:effectLst/>
                <a:latin typeface="+mn-lt"/>
                <a:ea typeface="+mn-ea"/>
                <a:cs typeface="+mn-cs"/>
              </a:rPr>
              <a:t>Tensa</a:t>
            </a:r>
            <a:r>
              <a:rPr lang="en-CA" sz="1200" b="0" i="0" kern="1200" dirty="0">
                <a:solidFill>
                  <a:schemeClr val="tx1"/>
                </a:solidFill>
                <a:effectLst/>
                <a:latin typeface="+mn-lt"/>
                <a:ea typeface="+mn-ea"/>
                <a:cs typeface="+mn-cs"/>
              </a:rPr>
              <a:t> (posterior inferior quadrant)</a:t>
            </a:r>
          </a:p>
          <a:p>
            <a:pPr fontAlgn="base"/>
            <a:r>
              <a:rPr lang="en-CA" sz="1200" b="0" i="0" kern="1200" dirty="0">
                <a:solidFill>
                  <a:schemeClr val="tx1"/>
                </a:solidFill>
                <a:effectLst/>
                <a:latin typeface="+mn-lt"/>
                <a:ea typeface="+mn-ea"/>
                <a:cs typeface="+mn-cs"/>
              </a:rPr>
              <a:t>M – Incus (lenticular process)</a:t>
            </a:r>
          </a:p>
          <a:p>
            <a:pPr fontAlgn="base"/>
            <a:r>
              <a:rPr lang="en-CA" sz="1200" b="0" i="0" kern="1200" dirty="0">
                <a:solidFill>
                  <a:schemeClr val="tx1"/>
                </a:solidFill>
                <a:effectLst/>
                <a:latin typeface="+mn-lt"/>
                <a:ea typeface="+mn-ea"/>
                <a:cs typeface="+mn-cs"/>
              </a:rPr>
              <a:t>N – Chorda tympani</a:t>
            </a:r>
          </a:p>
          <a:p>
            <a:pPr fontAlgn="base"/>
            <a:r>
              <a:rPr lang="en-CA" sz="1200" b="0" i="0" kern="1200" dirty="0">
                <a:solidFill>
                  <a:schemeClr val="tx1"/>
                </a:solidFill>
                <a:effectLst/>
                <a:latin typeface="+mn-lt"/>
                <a:ea typeface="+mn-ea"/>
                <a:cs typeface="+mn-cs"/>
              </a:rPr>
              <a:t>O – Incudostapedial joint</a:t>
            </a:r>
          </a:p>
          <a:p>
            <a:pPr fontAlgn="base"/>
            <a:r>
              <a:rPr lang="en-CA" sz="1200" b="0" i="0" kern="1200" dirty="0">
                <a:solidFill>
                  <a:schemeClr val="tx1"/>
                </a:solidFill>
                <a:effectLst/>
                <a:latin typeface="+mn-lt"/>
                <a:ea typeface="+mn-ea"/>
                <a:cs typeface="+mn-cs"/>
              </a:rPr>
              <a:t>P – Incus (long process)</a:t>
            </a:r>
          </a:p>
          <a:p>
            <a:pPr fontAlgn="base"/>
            <a:r>
              <a:rPr lang="en-CA" sz="1200" b="0" i="0" kern="1200" dirty="0">
                <a:solidFill>
                  <a:schemeClr val="tx1"/>
                </a:solidFill>
                <a:effectLst/>
                <a:latin typeface="+mn-lt"/>
                <a:ea typeface="+mn-ea"/>
                <a:cs typeface="+mn-cs"/>
              </a:rPr>
              <a:t>Q – Pars </a:t>
            </a:r>
            <a:r>
              <a:rPr lang="en-CA" sz="1200" b="0" i="0" kern="1200" dirty="0" err="1">
                <a:solidFill>
                  <a:schemeClr val="tx1"/>
                </a:solidFill>
                <a:effectLst/>
                <a:latin typeface="+mn-lt"/>
                <a:ea typeface="+mn-ea"/>
                <a:cs typeface="+mn-cs"/>
              </a:rPr>
              <a:t>Tensa</a:t>
            </a:r>
            <a:r>
              <a:rPr lang="en-CA" sz="1200" b="0" i="0" kern="1200" dirty="0">
                <a:solidFill>
                  <a:schemeClr val="tx1"/>
                </a:solidFill>
                <a:effectLst/>
                <a:latin typeface="+mn-lt"/>
                <a:ea typeface="+mn-ea"/>
                <a:cs typeface="+mn-cs"/>
              </a:rPr>
              <a:t> (posterior superior </a:t>
            </a:r>
            <a:r>
              <a:rPr lang="en-CA" sz="1200" b="0" i="0" kern="1200" dirty="0" err="1">
                <a:solidFill>
                  <a:schemeClr val="tx1"/>
                </a:solidFill>
                <a:effectLst/>
                <a:latin typeface="+mn-lt"/>
                <a:ea typeface="+mn-ea"/>
                <a:cs typeface="+mn-cs"/>
              </a:rPr>
              <a:t>quardrant</a:t>
            </a:r>
            <a:r>
              <a:rPr lang="en-CA" sz="1200" b="0" i="0" kern="1200" dirty="0">
                <a:solidFill>
                  <a:schemeClr val="tx1"/>
                </a:solidFill>
                <a:effectLst/>
                <a:latin typeface="+mn-lt"/>
                <a:ea typeface="+mn-ea"/>
                <a:cs typeface="+mn-cs"/>
              </a:rPr>
              <a:t>)</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hlinkClick r:id="rId3"/>
              </a:rPr>
              <a:t>https://www.pediatrics.wisc.edu/education/acute-otitis-media/tympanic-membrane-anatomy/</a:t>
            </a:r>
            <a:r>
              <a:rPr lang="en-CA" dirty="0"/>
              <a:t> </a:t>
            </a:r>
          </a:p>
          <a:p>
            <a:endParaRPr lang="en-CA" dirty="0"/>
          </a:p>
        </p:txBody>
      </p:sp>
      <p:sp>
        <p:nvSpPr>
          <p:cNvPr id="4" name="Slide Number Placeholder 3"/>
          <p:cNvSpPr>
            <a:spLocks noGrp="1"/>
          </p:cNvSpPr>
          <p:nvPr>
            <p:ph type="sldNum" sz="quarter" idx="5"/>
          </p:nvPr>
        </p:nvSpPr>
        <p:spPr/>
        <p:txBody>
          <a:bodyPr/>
          <a:lstStyle/>
          <a:p>
            <a:fld id="{FA21A69C-F939-4783-8228-BB83F49BCAAD}" type="slidenum">
              <a:rPr lang="en-CA" smtClean="0"/>
              <a:t>2</a:t>
            </a:fld>
            <a:endParaRPr lang="en-CA"/>
          </a:p>
        </p:txBody>
      </p:sp>
    </p:spTree>
    <p:extLst>
      <p:ext uri="{BB962C8B-B14F-4D97-AF65-F5344CB8AC3E}">
        <p14:creationId xmlns:p14="http://schemas.microsoft.com/office/powerpoint/2010/main" val="4044186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https://www.pediatrics.wisc.edu/education/acute-otitis-media/exercises/images/ </a:t>
            </a:r>
          </a:p>
        </p:txBody>
      </p:sp>
      <p:sp>
        <p:nvSpPr>
          <p:cNvPr id="4" name="Slide Number Placeholder 3"/>
          <p:cNvSpPr>
            <a:spLocks noGrp="1"/>
          </p:cNvSpPr>
          <p:nvPr>
            <p:ph type="sldNum" sz="quarter" idx="5"/>
          </p:nvPr>
        </p:nvSpPr>
        <p:spPr/>
        <p:txBody>
          <a:bodyPr/>
          <a:lstStyle/>
          <a:p>
            <a:fld id="{FA21A69C-F939-4783-8228-BB83F49BCAAD}" type="slidenum">
              <a:rPr lang="en-CA" smtClean="0"/>
              <a:t>7</a:t>
            </a:fld>
            <a:endParaRPr lang="en-CA"/>
          </a:p>
        </p:txBody>
      </p:sp>
    </p:spTree>
    <p:extLst>
      <p:ext uri="{BB962C8B-B14F-4D97-AF65-F5344CB8AC3E}">
        <p14:creationId xmlns:p14="http://schemas.microsoft.com/office/powerpoint/2010/main" val="2867023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not an ACUTE Otitis Media. </a:t>
            </a:r>
          </a:p>
          <a:p>
            <a:r>
              <a:rPr lang="en-CA" dirty="0"/>
              <a:t>Fluid accumulation is the result of poor Eustachian tube ventilation (blockage), not purulent middle ear infection fluid. </a:t>
            </a:r>
          </a:p>
          <a:p>
            <a:r>
              <a:rPr lang="en-CA" dirty="0"/>
              <a:t>It may FOLLOW an acute otitis media due to residual inflammation in the Eustachian tube</a:t>
            </a:r>
          </a:p>
        </p:txBody>
      </p:sp>
      <p:sp>
        <p:nvSpPr>
          <p:cNvPr id="4" name="Slide Number Placeholder 3"/>
          <p:cNvSpPr>
            <a:spLocks noGrp="1"/>
          </p:cNvSpPr>
          <p:nvPr>
            <p:ph type="sldNum" sz="quarter" idx="5"/>
          </p:nvPr>
        </p:nvSpPr>
        <p:spPr/>
        <p:txBody>
          <a:bodyPr/>
          <a:lstStyle/>
          <a:p>
            <a:fld id="{FA21A69C-F939-4783-8228-BB83F49BCAAD}" type="slidenum">
              <a:rPr lang="en-CA" smtClean="0"/>
              <a:t>9</a:t>
            </a:fld>
            <a:endParaRPr lang="en-CA"/>
          </a:p>
        </p:txBody>
      </p:sp>
    </p:spTree>
    <p:extLst>
      <p:ext uri="{BB962C8B-B14F-4D97-AF65-F5344CB8AC3E}">
        <p14:creationId xmlns:p14="http://schemas.microsoft.com/office/powerpoint/2010/main" val="1073270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https://med.uth.edu/orl/online-ear-disease-photo-book/chapter-4-fluid-in-the-ear/fluid-in-the-ear-images/</a:t>
            </a:r>
          </a:p>
        </p:txBody>
      </p:sp>
      <p:sp>
        <p:nvSpPr>
          <p:cNvPr id="4" name="Slide Number Placeholder 3"/>
          <p:cNvSpPr>
            <a:spLocks noGrp="1"/>
          </p:cNvSpPr>
          <p:nvPr>
            <p:ph type="sldNum" sz="quarter" idx="5"/>
          </p:nvPr>
        </p:nvSpPr>
        <p:spPr/>
        <p:txBody>
          <a:bodyPr/>
          <a:lstStyle/>
          <a:p>
            <a:fld id="{FA21A69C-F939-4783-8228-BB83F49BCAAD}" type="slidenum">
              <a:rPr lang="en-CA" smtClean="0"/>
              <a:t>10</a:t>
            </a:fld>
            <a:endParaRPr lang="en-CA"/>
          </a:p>
        </p:txBody>
      </p:sp>
    </p:spTree>
    <p:extLst>
      <p:ext uri="{BB962C8B-B14F-4D97-AF65-F5344CB8AC3E}">
        <p14:creationId xmlns:p14="http://schemas.microsoft.com/office/powerpoint/2010/main" val="1814668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a) Normal right external auditory canal, with view of the eardrum.</a:t>
            </a:r>
          </a:p>
          <a:p>
            <a:r>
              <a:rPr lang="en-CA" sz="1200" b="0" i="0" kern="1200" dirty="0">
                <a:solidFill>
                  <a:schemeClr val="tx1"/>
                </a:solidFill>
                <a:effectLst/>
                <a:latin typeface="+mn-lt"/>
                <a:ea typeface="+mn-ea"/>
                <a:cs typeface="+mn-cs"/>
              </a:rPr>
              <a:t>b) Swollen introitus of the right external auditory canal in a patient with acute otitis externa.</a:t>
            </a:r>
          </a:p>
          <a:p>
            <a:r>
              <a:rPr lang="en-CA" sz="1200" b="0" i="0" kern="1200" dirty="0">
                <a:solidFill>
                  <a:schemeClr val="tx1"/>
                </a:solidFill>
                <a:effectLst/>
                <a:latin typeface="+mn-lt"/>
                <a:ea typeface="+mn-ea"/>
                <a:cs typeface="+mn-cs"/>
              </a:rPr>
              <a:t>c) An external auditory canal affected by bacterial otitis externa.</a:t>
            </a:r>
          </a:p>
          <a:p>
            <a:r>
              <a:rPr lang="en-CA" sz="1200" b="0" i="0" kern="1200" dirty="0">
                <a:solidFill>
                  <a:schemeClr val="tx1"/>
                </a:solidFill>
                <a:effectLst/>
                <a:latin typeface="+mn-lt"/>
                <a:ea typeface="+mn-ea"/>
                <a:cs typeface="+mn-cs"/>
              </a:rPr>
              <a:t>d) Otomycosis</a:t>
            </a:r>
          </a:p>
          <a:p>
            <a:endParaRPr lang="en-CA" dirty="0"/>
          </a:p>
        </p:txBody>
      </p:sp>
      <p:sp>
        <p:nvSpPr>
          <p:cNvPr id="4" name="Slide Number Placeholder 3"/>
          <p:cNvSpPr>
            <a:spLocks noGrp="1"/>
          </p:cNvSpPr>
          <p:nvPr>
            <p:ph type="sldNum" sz="quarter" idx="5"/>
          </p:nvPr>
        </p:nvSpPr>
        <p:spPr/>
        <p:txBody>
          <a:bodyPr/>
          <a:lstStyle/>
          <a:p>
            <a:fld id="{FA21A69C-F939-4783-8228-BB83F49BCAAD}" type="slidenum">
              <a:rPr lang="en-CA" smtClean="0"/>
              <a:t>13</a:t>
            </a:fld>
            <a:endParaRPr lang="en-CA"/>
          </a:p>
        </p:txBody>
      </p:sp>
    </p:spTree>
    <p:extLst>
      <p:ext uri="{BB962C8B-B14F-4D97-AF65-F5344CB8AC3E}">
        <p14:creationId xmlns:p14="http://schemas.microsoft.com/office/powerpoint/2010/main" val="202882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A21A69C-F939-4783-8228-BB83F49BCAAD}" type="slidenum">
              <a:rPr lang="en-CA" smtClean="0"/>
              <a:t>16</a:t>
            </a:fld>
            <a:endParaRPr lang="en-CA"/>
          </a:p>
        </p:txBody>
      </p:sp>
    </p:spTree>
    <p:extLst>
      <p:ext uri="{BB962C8B-B14F-4D97-AF65-F5344CB8AC3E}">
        <p14:creationId xmlns:p14="http://schemas.microsoft.com/office/powerpoint/2010/main" val="2518462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850C6-FFD7-B35E-3AD2-9C38E6BF7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D7A41-7930-3513-E2D0-316D00753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9097C-98C7-29EE-E181-5AAD8335A3BB}"/>
              </a:ext>
            </a:extLst>
          </p:cNvPr>
          <p:cNvSpPr>
            <a:spLocks noGrp="1"/>
          </p:cNvSpPr>
          <p:nvPr>
            <p:ph type="body" idx="1"/>
          </p:nvPr>
        </p:nvSpPr>
        <p:spPr/>
        <p:txBody>
          <a:bodyPr/>
          <a:lstStyle/>
          <a:p>
            <a:r>
              <a:rPr lang="en-CA" dirty="0"/>
              <a:t>What are the risks of missing this diagnosis?</a:t>
            </a:r>
          </a:p>
          <a:p>
            <a:r>
              <a:rPr lang="en-CA" dirty="0"/>
              <a:t>- Can lead to osteomyelitis, meningitis, or </a:t>
            </a:r>
            <a:r>
              <a:rPr lang="en-CA"/>
              <a:t>brain abscess </a:t>
            </a:r>
            <a:endParaRPr lang="en-CA" dirty="0"/>
          </a:p>
        </p:txBody>
      </p:sp>
      <p:sp>
        <p:nvSpPr>
          <p:cNvPr id="4" name="Slide Number Placeholder 3">
            <a:extLst>
              <a:ext uri="{FF2B5EF4-FFF2-40B4-BE49-F238E27FC236}">
                <a16:creationId xmlns:a16="http://schemas.microsoft.com/office/drawing/2014/main" id="{F40AC2D1-02F3-81B4-A27E-CD057011E818}"/>
              </a:ext>
            </a:extLst>
          </p:cNvPr>
          <p:cNvSpPr>
            <a:spLocks noGrp="1"/>
          </p:cNvSpPr>
          <p:nvPr>
            <p:ph type="sldNum" sz="quarter" idx="5"/>
          </p:nvPr>
        </p:nvSpPr>
        <p:spPr/>
        <p:txBody>
          <a:bodyPr/>
          <a:lstStyle/>
          <a:p>
            <a:fld id="{FA21A69C-F939-4783-8228-BB83F49BCAAD}" type="slidenum">
              <a:rPr lang="en-CA" smtClean="0"/>
              <a:t>17</a:t>
            </a:fld>
            <a:endParaRPr lang="en-CA"/>
          </a:p>
        </p:txBody>
      </p:sp>
    </p:spTree>
    <p:extLst>
      <p:ext uri="{BB962C8B-B14F-4D97-AF65-F5344CB8AC3E}">
        <p14:creationId xmlns:p14="http://schemas.microsoft.com/office/powerpoint/2010/main" val="2977874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Including practicing physical examinations </a:t>
            </a:r>
          </a:p>
        </p:txBody>
      </p:sp>
      <p:sp>
        <p:nvSpPr>
          <p:cNvPr id="4" name="Slide Number Placeholder 3"/>
          <p:cNvSpPr>
            <a:spLocks noGrp="1"/>
          </p:cNvSpPr>
          <p:nvPr>
            <p:ph type="sldNum" sz="quarter" idx="5"/>
          </p:nvPr>
        </p:nvSpPr>
        <p:spPr/>
        <p:txBody>
          <a:bodyPr/>
          <a:lstStyle/>
          <a:p>
            <a:fld id="{FA21A69C-F939-4783-8228-BB83F49BCAAD}" type="slidenum">
              <a:rPr lang="en-CA" smtClean="0"/>
              <a:t>19</a:t>
            </a:fld>
            <a:endParaRPr lang="en-CA"/>
          </a:p>
        </p:txBody>
      </p:sp>
    </p:spTree>
    <p:extLst>
      <p:ext uri="{BB962C8B-B14F-4D97-AF65-F5344CB8AC3E}">
        <p14:creationId xmlns:p14="http://schemas.microsoft.com/office/powerpoint/2010/main" val="2530888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CA"/>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8C936EBA-2070-4ABC-AF67-27E8800D7B8C}" type="slidenum">
              <a:rPr lang="en-CA" smtClean="0"/>
              <a:t>‹#›</a:t>
            </a:fld>
            <a:endParaRPr lang="en-CA"/>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110300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CA"/>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2060011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CA"/>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8C936EBA-2070-4ABC-AF67-27E8800D7B8C}" type="slidenum">
              <a:rPr lang="en-CA" smtClean="0"/>
              <a:t>‹#›</a:t>
            </a:fld>
            <a:endParaRPr lang="en-CA"/>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22239538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CA"/>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8C936EBA-2070-4ABC-AF67-27E8800D7B8C}" type="slidenum">
              <a:rPr lang="en-CA" smtClean="0"/>
              <a:t>‹#›</a:t>
            </a:fld>
            <a:endParaRPr lang="en-CA"/>
          </a:p>
        </p:txBody>
      </p:sp>
    </p:spTree>
    <p:extLst>
      <p:ext uri="{BB962C8B-B14F-4D97-AF65-F5344CB8AC3E}">
        <p14:creationId xmlns:p14="http://schemas.microsoft.com/office/powerpoint/2010/main" val="16006048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1158070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CA"/>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8C936EBA-2070-4ABC-AF67-27E8800D7B8C}" type="slidenum">
              <a:rPr lang="en-CA" smtClean="0"/>
              <a:t>‹#›</a:t>
            </a:fld>
            <a:endParaRPr lang="en-CA"/>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183142499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CA"/>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8C936EBA-2070-4ABC-AF67-27E8800D7B8C}" type="slidenum">
              <a:rPr lang="en-CA" smtClean="0"/>
              <a:t>‹#›</a:t>
            </a:fld>
            <a:endParaRPr lang="en-CA"/>
          </a:p>
        </p:txBody>
      </p:sp>
    </p:spTree>
    <p:extLst>
      <p:ext uri="{BB962C8B-B14F-4D97-AF65-F5344CB8AC3E}">
        <p14:creationId xmlns:p14="http://schemas.microsoft.com/office/powerpoint/2010/main" val="2523644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913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4230158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A0735D34-C17B-49F2-80B1-57C1C1161067}" type="datetimeFigureOut">
              <a:rPr lang="en-CA" smtClean="0"/>
              <a:t>2026-09-16</a:t>
            </a:fld>
            <a:endParaRPr lang="en-CA"/>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4408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87959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218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10239497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8C936EBA-2070-4ABC-AF67-27E8800D7B8C}" type="slidenum">
              <a:rPr lang="en-CA" smtClean="0"/>
              <a:t>‹#›</a:t>
            </a:fld>
            <a:endParaRPr lang="en-CA"/>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054491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8C936EBA-2070-4ABC-AF67-27E8800D7B8C}" type="slidenum">
              <a:rPr lang="en-CA" smtClean="0"/>
              <a:t>‹#›</a:t>
            </a:fld>
            <a:endParaRPr lang="en-CA"/>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77577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8C936EBA-2070-4ABC-AF67-27E8800D7B8C}" type="slidenum">
              <a:rPr lang="en-CA" smtClean="0"/>
              <a:t>‹#›</a:t>
            </a:fld>
            <a:endParaRPr lang="en-CA"/>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1978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3180034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8C936EBA-2070-4ABC-AF67-27E8800D7B8C}" type="slidenum">
              <a:rPr lang="en-CA" smtClean="0"/>
              <a:t>‹#›</a:t>
            </a:fld>
            <a:endParaRPr lang="en-CA"/>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6748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8C936EBA-2070-4ABC-AF67-27E8800D7B8C}" type="slidenum">
              <a:rPr lang="en-CA" smtClean="0"/>
              <a:t>‹#›</a:t>
            </a:fld>
            <a:endParaRPr lang="en-CA"/>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845776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8C936EBA-2070-4ABC-AF67-27E8800D7B8C}" type="slidenum">
              <a:rPr lang="en-CA" smtClean="0"/>
              <a:t>‹#›</a:t>
            </a:fld>
            <a:endParaRPr lang="en-CA"/>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8750831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8C936EBA-2070-4ABC-AF67-27E8800D7B8C}" type="slidenum">
              <a:rPr lang="en-CA" smtClean="0"/>
              <a:t>‹#›</a:t>
            </a:fld>
            <a:endParaRPr lang="en-CA"/>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977720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CA"/>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3334360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CA"/>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3961380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CA"/>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37492090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CA"/>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813001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8C936EBA-2070-4ABC-AF67-27E8800D7B8C}" type="slidenum">
              <a:rPr lang="en-CA" smtClean="0"/>
              <a:t>‹#›</a:t>
            </a:fld>
            <a:endParaRPr lang="en-CA"/>
          </a:p>
        </p:txBody>
      </p:sp>
    </p:spTree>
    <p:extLst>
      <p:ext uri="{BB962C8B-B14F-4D97-AF65-F5344CB8AC3E}">
        <p14:creationId xmlns:p14="http://schemas.microsoft.com/office/powerpoint/2010/main" val="79075173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CA"/>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8C936EBA-2070-4ABC-AF67-27E8800D7B8C}" type="slidenum">
              <a:rPr lang="en-CA" smtClean="0"/>
              <a:t>‹#›</a:t>
            </a:fld>
            <a:endParaRPr lang="en-CA"/>
          </a:p>
        </p:txBody>
      </p:sp>
    </p:spTree>
    <p:extLst>
      <p:ext uri="{BB962C8B-B14F-4D97-AF65-F5344CB8AC3E}">
        <p14:creationId xmlns:p14="http://schemas.microsoft.com/office/powerpoint/2010/main" val="2546567796"/>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B4591-4A54-0280-347E-8B9B7292E9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601074C-02B7-1478-D23A-6CA6787CFA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CC40FD4B-A467-544D-3790-6A9D451A79B9}"/>
              </a:ext>
            </a:extLst>
          </p:cNvPr>
          <p:cNvSpPr>
            <a:spLocks noGrp="1"/>
          </p:cNvSpPr>
          <p:nvPr>
            <p:ph type="dt" sz="half" idx="10"/>
          </p:nvPr>
        </p:nvSpPr>
        <p:spPr/>
        <p:txBody>
          <a:bodyPr/>
          <a:lstStyle/>
          <a:p>
            <a:fld id="{A0735D34-C17B-49F2-80B1-57C1C1161067}" type="datetimeFigureOut">
              <a:rPr lang="en-CA" smtClean="0"/>
              <a:t>2026-09-16</a:t>
            </a:fld>
            <a:endParaRPr lang="en-CA"/>
          </a:p>
        </p:txBody>
      </p:sp>
      <p:sp>
        <p:nvSpPr>
          <p:cNvPr id="5" name="Footer Placeholder 4">
            <a:extLst>
              <a:ext uri="{FF2B5EF4-FFF2-40B4-BE49-F238E27FC236}">
                <a16:creationId xmlns:a16="http://schemas.microsoft.com/office/drawing/2014/main" id="{3D572D4E-6388-AB21-4333-2FF8D2903E4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0400286-7BB9-D367-503C-E6558BEED9CE}"/>
              </a:ext>
            </a:extLst>
          </p:cNvPr>
          <p:cNvSpPr>
            <a:spLocks noGrp="1"/>
          </p:cNvSpPr>
          <p:nvPr>
            <p:ph type="sldNum" sz="quarter" idx="12"/>
          </p:nvPr>
        </p:nvSpPr>
        <p:spPr/>
        <p:txBody>
          <a:bodyPr/>
          <a:lstStyle/>
          <a:p>
            <a:fld id="{8C936EBA-2070-4ABC-AF67-27E8800D7B8C}" type="slidenum">
              <a:rPr lang="en-CA" smtClean="0"/>
              <a:t>‹#›</a:t>
            </a:fld>
            <a:endParaRPr lang="en-CA"/>
          </a:p>
        </p:txBody>
      </p:sp>
    </p:spTree>
    <p:extLst>
      <p:ext uri="{BB962C8B-B14F-4D97-AF65-F5344CB8AC3E}">
        <p14:creationId xmlns:p14="http://schemas.microsoft.com/office/powerpoint/2010/main" val="471996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CA"/>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A0735D34-C17B-49F2-80B1-57C1C1161067}" type="datetimeFigureOut">
              <a:rPr lang="en-CA" smtClean="0"/>
              <a:t>2026-09-16</a:t>
            </a:fld>
            <a:endParaRPr lang="en-CA"/>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8C936EBA-2070-4ABC-AF67-27E8800D7B8C}" type="slidenum">
              <a:rPr lang="en-CA" smtClean="0"/>
              <a:t>‹#›</a:t>
            </a:fld>
            <a:endParaRPr lang="en-CA"/>
          </a:p>
        </p:txBody>
      </p:sp>
    </p:spTree>
    <p:extLst>
      <p:ext uri="{BB962C8B-B14F-4D97-AF65-F5344CB8AC3E}">
        <p14:creationId xmlns:p14="http://schemas.microsoft.com/office/powerpoint/2010/main" val="1932428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56255-BBDA-0286-0577-E71C92C1F443}"/>
              </a:ext>
            </a:extLst>
          </p:cNvPr>
          <p:cNvSpPr>
            <a:spLocks noGrp="1"/>
          </p:cNvSpPr>
          <p:nvPr>
            <p:ph type="ctrTitle"/>
          </p:nvPr>
        </p:nvSpPr>
        <p:spPr/>
        <p:txBody>
          <a:bodyPr/>
          <a:lstStyle/>
          <a:p>
            <a:r>
              <a:rPr lang="en-CA" dirty="0"/>
              <a:t>Common Ear Conditions</a:t>
            </a:r>
          </a:p>
        </p:txBody>
      </p:sp>
      <p:sp>
        <p:nvSpPr>
          <p:cNvPr id="3" name="Subtitle 2">
            <a:extLst>
              <a:ext uri="{FF2B5EF4-FFF2-40B4-BE49-F238E27FC236}">
                <a16:creationId xmlns:a16="http://schemas.microsoft.com/office/drawing/2014/main" id="{DA0B11C7-6D71-D559-8D2A-32ACC192EC8D}"/>
              </a:ext>
            </a:extLst>
          </p:cNvPr>
          <p:cNvSpPr>
            <a:spLocks noGrp="1"/>
          </p:cNvSpPr>
          <p:nvPr>
            <p:ph type="subTitle" idx="1"/>
          </p:nvPr>
        </p:nvSpPr>
        <p:spPr/>
        <p:txBody>
          <a:bodyPr>
            <a:normAutofit fontScale="77500" lnSpcReduction="20000"/>
          </a:bodyPr>
          <a:lstStyle/>
          <a:p>
            <a:r>
              <a:rPr lang="en-CA" dirty="0"/>
              <a:t>AHAD 1</a:t>
            </a:r>
          </a:p>
          <a:p>
            <a:endParaRPr lang="en-CA" dirty="0"/>
          </a:p>
          <a:p>
            <a:r>
              <a:rPr lang="en-CA" dirty="0"/>
              <a:t>Gabrielle Heil, MN, NP </a:t>
            </a:r>
          </a:p>
          <a:p>
            <a:r>
              <a:rPr lang="en-CA" dirty="0"/>
              <a:t>Sept 17, 2026</a:t>
            </a:r>
          </a:p>
        </p:txBody>
      </p:sp>
    </p:spTree>
    <p:extLst>
      <p:ext uri="{BB962C8B-B14F-4D97-AF65-F5344CB8AC3E}">
        <p14:creationId xmlns:p14="http://schemas.microsoft.com/office/powerpoint/2010/main" val="254684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2DBF531D-F799-8CEE-F964-80C76FFD2E37}"/>
              </a:ext>
            </a:extLst>
          </p:cNvPr>
          <p:cNvSpPr txBox="1">
            <a:spLocks/>
          </p:cNvSpPr>
          <p:nvPr/>
        </p:nvSpPr>
        <p:spPr>
          <a:xfrm>
            <a:off x="838200" y="-323833"/>
            <a:ext cx="10515600" cy="1325563"/>
          </a:xfrm>
          <a:prstGeom prst="rect">
            <a:avLst/>
          </a:prstGeom>
        </p:spPr>
        <p:txBody>
          <a:bodyPr vert="horz" lIns="91440" tIns="45720" rIns="91440" bIns="45720" rtlCol="0" anchor="b">
            <a:normAutofit/>
          </a:bodyPr>
          <a:lstStyle>
            <a:lvl1pPr algn="ctr" defTabSz="914400" rtl="0" eaLnBrk="1" latinLnBrk="0" hangingPunct="1">
              <a:lnSpc>
                <a:spcPct val="55000"/>
              </a:lnSpc>
              <a:spcBef>
                <a:spcPct val="0"/>
              </a:spcBef>
              <a:buNone/>
              <a:defRPr sz="6000" b="1" kern="1200" spc="-30" baseline="0">
                <a:solidFill>
                  <a:schemeClr val="tx2"/>
                </a:solidFill>
                <a:latin typeface="+mj-lt"/>
                <a:ea typeface="+mj-ea"/>
                <a:cs typeface="+mj-cs"/>
              </a:defRPr>
            </a:lvl1pPr>
          </a:lstStyle>
          <a:p>
            <a:r>
              <a:rPr lang="en-CA" dirty="0"/>
              <a:t>Normal Tympanic Membrane Anatomy</a:t>
            </a:r>
          </a:p>
        </p:txBody>
      </p:sp>
      <p:pic>
        <p:nvPicPr>
          <p:cNvPr id="11" name="Picture 10">
            <a:extLst>
              <a:ext uri="{FF2B5EF4-FFF2-40B4-BE49-F238E27FC236}">
                <a16:creationId xmlns:a16="http://schemas.microsoft.com/office/drawing/2014/main" id="{06E0254D-BCE2-06AA-62D2-28C6D8EBA9DD}"/>
              </a:ext>
            </a:extLst>
          </p:cNvPr>
          <p:cNvPicPr>
            <a:picLocks noChangeAspect="1"/>
          </p:cNvPicPr>
          <p:nvPr/>
        </p:nvPicPr>
        <p:blipFill>
          <a:blip r:embed="rId3"/>
          <a:stretch>
            <a:fillRect/>
          </a:stretch>
        </p:blipFill>
        <p:spPr>
          <a:xfrm>
            <a:off x="2753474" y="1216077"/>
            <a:ext cx="6174769" cy="4425845"/>
          </a:xfrm>
          <a:prstGeom prst="rect">
            <a:avLst/>
          </a:prstGeom>
        </p:spPr>
      </p:pic>
    </p:spTree>
    <p:extLst>
      <p:ext uri="{BB962C8B-B14F-4D97-AF65-F5344CB8AC3E}">
        <p14:creationId xmlns:p14="http://schemas.microsoft.com/office/powerpoint/2010/main" val="1628552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ormal Tympanic Membrane">
            <a:extLst>
              <a:ext uri="{FF2B5EF4-FFF2-40B4-BE49-F238E27FC236}">
                <a16:creationId xmlns:a16="http://schemas.microsoft.com/office/drawing/2014/main" id="{F0F8EEFF-F317-5F56-F9DA-A17F7AA5421D}"/>
              </a:ext>
            </a:extLst>
          </p:cNvPr>
          <p:cNvPicPr>
            <a:picLocks noChangeAspect="1"/>
          </p:cNvPicPr>
          <p:nvPr/>
        </p:nvPicPr>
        <p:blipFill>
          <a:blip r:embed="rId2"/>
          <a:stretch>
            <a:fillRect/>
          </a:stretch>
        </p:blipFill>
        <p:spPr>
          <a:xfrm>
            <a:off x="6339157" y="142018"/>
            <a:ext cx="4930472" cy="6573963"/>
          </a:xfrm>
          <a:prstGeom prst="rect">
            <a:avLst/>
          </a:prstGeom>
        </p:spPr>
      </p:pic>
      <p:pic>
        <p:nvPicPr>
          <p:cNvPr id="6" name="Picture 5" descr="Acute otitis media in adults - UpToDate">
            <a:extLst>
              <a:ext uri="{FF2B5EF4-FFF2-40B4-BE49-F238E27FC236}">
                <a16:creationId xmlns:a16="http://schemas.microsoft.com/office/drawing/2014/main" id="{C5F03F58-2DE1-19C7-C974-DCC1955C64DD}"/>
              </a:ext>
            </a:extLst>
          </p:cNvPr>
          <p:cNvPicPr>
            <a:picLocks noChangeAspect="1"/>
          </p:cNvPicPr>
          <p:nvPr/>
        </p:nvPicPr>
        <p:blipFill>
          <a:blip r:embed="rId3"/>
          <a:stretch>
            <a:fillRect/>
          </a:stretch>
        </p:blipFill>
        <p:spPr>
          <a:xfrm>
            <a:off x="102741" y="1134357"/>
            <a:ext cx="6102899" cy="4589283"/>
          </a:xfrm>
          <a:prstGeom prst="rect">
            <a:avLst/>
          </a:prstGeom>
        </p:spPr>
      </p:pic>
    </p:spTree>
    <p:extLst>
      <p:ext uri="{BB962C8B-B14F-4D97-AF65-F5344CB8AC3E}">
        <p14:creationId xmlns:p14="http://schemas.microsoft.com/office/powerpoint/2010/main" val="3545618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56B2-FD48-5338-A5A8-5922FE6C7F9C}"/>
              </a:ext>
            </a:extLst>
          </p:cNvPr>
          <p:cNvSpPr>
            <a:spLocks noGrp="1"/>
          </p:cNvSpPr>
          <p:nvPr>
            <p:ph type="title"/>
          </p:nvPr>
        </p:nvSpPr>
        <p:spPr>
          <a:xfrm>
            <a:off x="375863" y="-477945"/>
            <a:ext cx="10515600" cy="1325563"/>
          </a:xfrm>
        </p:spPr>
        <p:txBody>
          <a:bodyPr/>
          <a:lstStyle/>
          <a:p>
            <a:r>
              <a:rPr lang="en-CA" dirty="0"/>
              <a:t>Acute Otitis Media (AOM) </a:t>
            </a:r>
          </a:p>
        </p:txBody>
      </p:sp>
      <p:sp>
        <p:nvSpPr>
          <p:cNvPr id="3" name="Content Placeholder 2">
            <a:extLst>
              <a:ext uri="{FF2B5EF4-FFF2-40B4-BE49-F238E27FC236}">
                <a16:creationId xmlns:a16="http://schemas.microsoft.com/office/drawing/2014/main" id="{418245CB-078B-2596-C81E-FAE4D1D5A56E}"/>
              </a:ext>
            </a:extLst>
          </p:cNvPr>
          <p:cNvSpPr>
            <a:spLocks noGrp="1"/>
          </p:cNvSpPr>
          <p:nvPr>
            <p:ph idx="1"/>
          </p:nvPr>
        </p:nvSpPr>
        <p:spPr>
          <a:xfrm>
            <a:off x="622871" y="1054082"/>
            <a:ext cx="10946258" cy="4749836"/>
          </a:xfrm>
        </p:spPr>
        <p:txBody>
          <a:bodyPr>
            <a:noAutofit/>
          </a:bodyPr>
          <a:lstStyle/>
          <a:p>
            <a:pPr marL="0" indent="0">
              <a:spcBef>
                <a:spcPts val="0"/>
              </a:spcBef>
              <a:buNone/>
            </a:pPr>
            <a:r>
              <a:rPr lang="en-CA" sz="1800" b="1" dirty="0"/>
              <a:t>Definition:</a:t>
            </a:r>
            <a:endParaRPr lang="en-CA" sz="1200" dirty="0"/>
          </a:p>
          <a:p>
            <a:pPr marL="0" indent="0">
              <a:spcBef>
                <a:spcPts val="0"/>
              </a:spcBef>
              <a:buNone/>
            </a:pPr>
            <a:r>
              <a:rPr lang="en-CA" sz="1800" b="1" dirty="0"/>
              <a:t>Risks:</a:t>
            </a:r>
            <a:endParaRPr lang="en-CA" sz="1200" dirty="0"/>
          </a:p>
          <a:p>
            <a:pPr marL="0" indent="0">
              <a:spcBef>
                <a:spcPts val="0"/>
              </a:spcBef>
              <a:buNone/>
            </a:pPr>
            <a:r>
              <a:rPr lang="en-CA" sz="1800" b="1" dirty="0"/>
              <a:t>Symptoms: </a:t>
            </a:r>
          </a:p>
          <a:p>
            <a:pPr marL="0" indent="0">
              <a:spcBef>
                <a:spcPts val="0"/>
              </a:spcBef>
              <a:buNone/>
            </a:pPr>
            <a:r>
              <a:rPr lang="en-CA" sz="1800" b="1" dirty="0"/>
              <a:t>Signs: </a:t>
            </a:r>
          </a:p>
          <a:p>
            <a:pPr marL="0" indent="0">
              <a:spcBef>
                <a:spcPts val="0"/>
              </a:spcBef>
              <a:buNone/>
            </a:pPr>
            <a:r>
              <a:rPr lang="en-CA" sz="1800" dirty="0"/>
              <a:t>Physical Examinations: </a:t>
            </a:r>
          </a:p>
          <a:p>
            <a:pPr marL="0" indent="0">
              <a:spcBef>
                <a:spcPts val="0"/>
              </a:spcBef>
              <a:buNone/>
            </a:pPr>
            <a:endParaRPr lang="en-CA" sz="1200" b="1" dirty="0"/>
          </a:p>
          <a:p>
            <a:pPr marL="0" indent="0">
              <a:spcBef>
                <a:spcPts val="0"/>
              </a:spcBef>
              <a:buNone/>
            </a:pPr>
            <a:r>
              <a:rPr lang="en-CA" sz="1800" b="1" dirty="0"/>
              <a:t>Confirmatory Diagnostics:</a:t>
            </a:r>
            <a:r>
              <a:rPr lang="en-CA" sz="1800" dirty="0"/>
              <a:t> </a:t>
            </a:r>
          </a:p>
        </p:txBody>
      </p:sp>
    </p:spTree>
    <p:extLst>
      <p:ext uri="{BB962C8B-B14F-4D97-AF65-F5344CB8AC3E}">
        <p14:creationId xmlns:p14="http://schemas.microsoft.com/office/powerpoint/2010/main" val="2170072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2CE2E-0D75-F881-848E-20CC42809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0A430-F16E-B91D-1C77-81C721D5060A}"/>
              </a:ext>
            </a:extLst>
          </p:cNvPr>
          <p:cNvSpPr>
            <a:spLocks noGrp="1"/>
          </p:cNvSpPr>
          <p:nvPr>
            <p:ph type="title"/>
          </p:nvPr>
        </p:nvSpPr>
        <p:spPr>
          <a:xfrm>
            <a:off x="232025" y="-426575"/>
            <a:ext cx="10515600" cy="1325563"/>
          </a:xfrm>
        </p:spPr>
        <p:txBody>
          <a:bodyPr/>
          <a:lstStyle/>
          <a:p>
            <a:r>
              <a:rPr lang="en-CA" dirty="0"/>
              <a:t>Acute Otitis Media (AOM) </a:t>
            </a:r>
          </a:p>
        </p:txBody>
      </p:sp>
      <p:sp>
        <p:nvSpPr>
          <p:cNvPr id="3" name="Content Placeholder 2">
            <a:extLst>
              <a:ext uri="{FF2B5EF4-FFF2-40B4-BE49-F238E27FC236}">
                <a16:creationId xmlns:a16="http://schemas.microsoft.com/office/drawing/2014/main" id="{9988E025-FD2A-1869-2BCD-AA38D12484CE}"/>
              </a:ext>
            </a:extLst>
          </p:cNvPr>
          <p:cNvSpPr>
            <a:spLocks noGrp="1"/>
          </p:cNvSpPr>
          <p:nvPr>
            <p:ph idx="1"/>
          </p:nvPr>
        </p:nvSpPr>
        <p:spPr>
          <a:xfrm>
            <a:off x="622871" y="1054082"/>
            <a:ext cx="10946258" cy="4749836"/>
          </a:xfrm>
        </p:spPr>
        <p:txBody>
          <a:bodyPr>
            <a:noAutofit/>
          </a:bodyPr>
          <a:lstStyle/>
          <a:p>
            <a:pPr marL="0" indent="0">
              <a:spcBef>
                <a:spcPts val="0"/>
              </a:spcBef>
              <a:buNone/>
            </a:pPr>
            <a:r>
              <a:rPr lang="en-CA" sz="1800" b="1" dirty="0"/>
              <a:t>Definition: </a:t>
            </a:r>
            <a:r>
              <a:rPr lang="en-CA" sz="1800" dirty="0"/>
              <a:t>infection of the middle ear (media = middle)</a:t>
            </a:r>
          </a:p>
          <a:p>
            <a:pPr marL="0" indent="0">
              <a:spcBef>
                <a:spcPts val="0"/>
              </a:spcBef>
              <a:buNone/>
            </a:pPr>
            <a:endParaRPr lang="en-CA" sz="1200" dirty="0"/>
          </a:p>
          <a:p>
            <a:pPr marL="0" indent="0">
              <a:spcBef>
                <a:spcPts val="0"/>
              </a:spcBef>
              <a:buNone/>
            </a:pPr>
            <a:r>
              <a:rPr lang="en-CA" sz="1800" b="1" dirty="0"/>
              <a:t>Risks: </a:t>
            </a:r>
            <a:r>
              <a:rPr lang="en-CA" sz="1800" dirty="0"/>
              <a:t>&lt;6 years old, smoke exposure, recent URI</a:t>
            </a:r>
          </a:p>
          <a:p>
            <a:pPr marL="0" indent="0">
              <a:spcBef>
                <a:spcPts val="0"/>
              </a:spcBef>
              <a:buNone/>
            </a:pPr>
            <a:endParaRPr lang="en-CA" sz="1200" dirty="0"/>
          </a:p>
          <a:p>
            <a:pPr marL="0" indent="0">
              <a:spcBef>
                <a:spcPts val="0"/>
              </a:spcBef>
              <a:buNone/>
            </a:pPr>
            <a:r>
              <a:rPr lang="en-CA" sz="1800" b="1" dirty="0"/>
              <a:t>Symptoms: </a:t>
            </a:r>
            <a:r>
              <a:rPr lang="en-CA" sz="1800" dirty="0"/>
              <a:t>pain is unilateral (usually), deep or blocked feeling; sleep interference possible; hearing difficulty &amp; possible tinnitus or dizziness (esp. in children)</a:t>
            </a:r>
          </a:p>
          <a:p>
            <a:pPr lvl="1">
              <a:spcBef>
                <a:spcPts val="0"/>
              </a:spcBef>
            </a:pPr>
            <a:r>
              <a:rPr lang="en-CA" sz="1800" dirty="0"/>
              <a:t>For infants: crying with sucking, fussiness when lying down (increased vascular pressure = TM bulge)</a:t>
            </a:r>
          </a:p>
          <a:p>
            <a:pPr marL="0" indent="0">
              <a:spcBef>
                <a:spcPts val="0"/>
              </a:spcBef>
              <a:buNone/>
            </a:pPr>
            <a:r>
              <a:rPr lang="en-CA" sz="1800" b="1" dirty="0"/>
              <a:t>Signs: </a:t>
            </a:r>
          </a:p>
          <a:p>
            <a:pPr marL="0" indent="0">
              <a:spcBef>
                <a:spcPts val="0"/>
              </a:spcBef>
              <a:buNone/>
            </a:pPr>
            <a:r>
              <a:rPr lang="en-CA" sz="1800" dirty="0"/>
              <a:t>Physical Examinations: </a:t>
            </a:r>
          </a:p>
          <a:p>
            <a:pPr lvl="1">
              <a:spcBef>
                <a:spcPts val="0"/>
              </a:spcBef>
            </a:pPr>
            <a:r>
              <a:rPr lang="en-CA" sz="1800" dirty="0"/>
              <a:t>Visual inspection (otoscope): discharge possible if TM rupture, myringitis (localized redness &amp; inflammation of the TM), bulging TM, opaque TM, decreased/absent light reflex; decreased TM mobility</a:t>
            </a:r>
          </a:p>
          <a:p>
            <a:pPr lvl="1">
              <a:spcBef>
                <a:spcPts val="0"/>
              </a:spcBef>
            </a:pPr>
            <a:r>
              <a:rPr lang="en-CA" sz="1800" dirty="0"/>
              <a:t>Fever</a:t>
            </a:r>
          </a:p>
          <a:p>
            <a:pPr lvl="1">
              <a:spcBef>
                <a:spcPts val="0"/>
              </a:spcBef>
            </a:pPr>
            <a:r>
              <a:rPr lang="en-CA" sz="1800" dirty="0"/>
              <a:t>Swelling of preauricular node, sometimes in children </a:t>
            </a:r>
          </a:p>
          <a:p>
            <a:pPr lvl="1">
              <a:spcBef>
                <a:spcPts val="0"/>
              </a:spcBef>
            </a:pPr>
            <a:r>
              <a:rPr lang="en-CA" sz="1800" dirty="0"/>
              <a:t>Not associated with pain on pinna/auricle manipulation (this would be otitis externa)</a:t>
            </a:r>
          </a:p>
          <a:p>
            <a:pPr marL="0" indent="0">
              <a:spcBef>
                <a:spcPts val="0"/>
              </a:spcBef>
              <a:buNone/>
            </a:pPr>
            <a:endParaRPr lang="en-CA" sz="1200" b="1" dirty="0"/>
          </a:p>
          <a:p>
            <a:pPr marL="0" indent="0">
              <a:spcBef>
                <a:spcPts val="0"/>
              </a:spcBef>
              <a:buNone/>
            </a:pPr>
            <a:r>
              <a:rPr lang="en-CA" sz="1800" b="1" dirty="0"/>
              <a:t>Confirmatory Diagnostics:</a:t>
            </a:r>
            <a:r>
              <a:rPr lang="en-CA" sz="1800" dirty="0"/>
              <a:t> None</a:t>
            </a:r>
          </a:p>
        </p:txBody>
      </p:sp>
    </p:spTree>
    <p:extLst>
      <p:ext uri="{BB962C8B-B14F-4D97-AF65-F5344CB8AC3E}">
        <p14:creationId xmlns:p14="http://schemas.microsoft.com/office/powerpoint/2010/main" val="4242368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OM diagram">
            <a:extLst>
              <a:ext uri="{FF2B5EF4-FFF2-40B4-BE49-F238E27FC236}">
                <a16:creationId xmlns:a16="http://schemas.microsoft.com/office/drawing/2014/main" id="{CA9F06B1-35D0-35B1-36EE-38BB50D39256}"/>
              </a:ext>
            </a:extLst>
          </p:cNvPr>
          <p:cNvPicPr>
            <a:picLocks noChangeAspect="1"/>
          </p:cNvPicPr>
          <p:nvPr/>
        </p:nvPicPr>
        <p:blipFill>
          <a:blip r:embed="rId2"/>
          <a:stretch>
            <a:fillRect/>
          </a:stretch>
        </p:blipFill>
        <p:spPr>
          <a:xfrm>
            <a:off x="2570031" y="365871"/>
            <a:ext cx="6409582" cy="5952382"/>
          </a:xfrm>
          <a:prstGeom prst="rect">
            <a:avLst/>
          </a:prstGeom>
        </p:spPr>
      </p:pic>
    </p:spTree>
    <p:extLst>
      <p:ext uri="{BB962C8B-B14F-4D97-AF65-F5344CB8AC3E}">
        <p14:creationId xmlns:p14="http://schemas.microsoft.com/office/powerpoint/2010/main" val="1258984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evere Bulging AOM">
            <a:extLst>
              <a:ext uri="{FF2B5EF4-FFF2-40B4-BE49-F238E27FC236}">
                <a16:creationId xmlns:a16="http://schemas.microsoft.com/office/drawing/2014/main" id="{D556C5C7-0DE0-7588-DDE2-53E17062CDB8}"/>
              </a:ext>
            </a:extLst>
          </p:cNvPr>
          <p:cNvPicPr>
            <a:picLocks noChangeAspect="1"/>
          </p:cNvPicPr>
          <p:nvPr/>
        </p:nvPicPr>
        <p:blipFill>
          <a:blip r:embed="rId3"/>
          <a:stretch>
            <a:fillRect/>
          </a:stretch>
        </p:blipFill>
        <p:spPr>
          <a:xfrm>
            <a:off x="8094323" y="3665853"/>
            <a:ext cx="3895619" cy="2921714"/>
          </a:xfrm>
          <a:prstGeom prst="rect">
            <a:avLst/>
          </a:prstGeom>
        </p:spPr>
      </p:pic>
      <p:sp>
        <p:nvSpPr>
          <p:cNvPr id="7" name="TextBox 6">
            <a:extLst>
              <a:ext uri="{FF2B5EF4-FFF2-40B4-BE49-F238E27FC236}">
                <a16:creationId xmlns:a16="http://schemas.microsoft.com/office/drawing/2014/main" id="{D62D7954-8336-3ABF-BFFE-E7A23012266F}"/>
              </a:ext>
            </a:extLst>
          </p:cNvPr>
          <p:cNvSpPr txBox="1"/>
          <p:nvPr/>
        </p:nvSpPr>
        <p:spPr>
          <a:xfrm>
            <a:off x="8407256" y="3231223"/>
            <a:ext cx="2406721" cy="372035"/>
          </a:xfrm>
          <a:prstGeom prst="rect">
            <a:avLst/>
          </a:prstGeom>
          <a:noFill/>
        </p:spPr>
        <p:txBody>
          <a:bodyPr wrap="square">
            <a:spAutoFit/>
          </a:bodyPr>
          <a:lstStyle/>
          <a:p>
            <a:r>
              <a:rPr lang="en-CA" sz="1800" b="0" i="0" dirty="0">
                <a:solidFill>
                  <a:schemeClr val="tx1"/>
                </a:solidFill>
                <a:effectLst/>
                <a:latin typeface="+mn-lt"/>
              </a:rPr>
              <a:t>Severe Bulging AOM</a:t>
            </a:r>
            <a:endParaRPr lang="en-CA" dirty="0"/>
          </a:p>
        </p:txBody>
      </p:sp>
      <p:pic>
        <p:nvPicPr>
          <p:cNvPr id="8" name="Picture 7" descr="AOM mild bulging">
            <a:extLst>
              <a:ext uri="{FF2B5EF4-FFF2-40B4-BE49-F238E27FC236}">
                <a16:creationId xmlns:a16="http://schemas.microsoft.com/office/drawing/2014/main" id="{9A279C5D-DF6C-24CB-5A3E-26C315A6B246}"/>
              </a:ext>
            </a:extLst>
          </p:cNvPr>
          <p:cNvPicPr>
            <a:picLocks noChangeAspect="1"/>
          </p:cNvPicPr>
          <p:nvPr/>
        </p:nvPicPr>
        <p:blipFill>
          <a:blip r:embed="rId4"/>
          <a:stretch>
            <a:fillRect/>
          </a:stretch>
        </p:blipFill>
        <p:spPr>
          <a:xfrm>
            <a:off x="4007955" y="3665853"/>
            <a:ext cx="3895619" cy="2921714"/>
          </a:xfrm>
          <a:prstGeom prst="rect">
            <a:avLst/>
          </a:prstGeom>
        </p:spPr>
      </p:pic>
      <p:sp>
        <p:nvSpPr>
          <p:cNvPr id="10" name="TextBox 9">
            <a:extLst>
              <a:ext uri="{FF2B5EF4-FFF2-40B4-BE49-F238E27FC236}">
                <a16:creationId xmlns:a16="http://schemas.microsoft.com/office/drawing/2014/main" id="{185270E0-0B88-DEBC-CA80-2BA32F5E6B00}"/>
              </a:ext>
            </a:extLst>
          </p:cNvPr>
          <p:cNvSpPr txBox="1"/>
          <p:nvPr/>
        </p:nvSpPr>
        <p:spPr>
          <a:xfrm>
            <a:off x="4427458" y="3317879"/>
            <a:ext cx="2406721" cy="372035"/>
          </a:xfrm>
          <a:prstGeom prst="rect">
            <a:avLst/>
          </a:prstGeom>
          <a:noFill/>
        </p:spPr>
        <p:txBody>
          <a:bodyPr wrap="square">
            <a:spAutoFit/>
          </a:bodyPr>
          <a:lstStyle/>
          <a:p>
            <a:r>
              <a:rPr lang="en-CA" sz="1800" b="0" i="0" dirty="0">
                <a:solidFill>
                  <a:schemeClr val="tx1"/>
                </a:solidFill>
                <a:effectLst/>
                <a:latin typeface="+mn-lt"/>
              </a:rPr>
              <a:t>Mild Bulging AOM</a:t>
            </a:r>
            <a:endParaRPr lang="en-CA" dirty="0"/>
          </a:p>
        </p:txBody>
      </p:sp>
      <p:pic>
        <p:nvPicPr>
          <p:cNvPr id="11" name="Picture 10" descr="AOM, severe bulging">
            <a:extLst>
              <a:ext uri="{FF2B5EF4-FFF2-40B4-BE49-F238E27FC236}">
                <a16:creationId xmlns:a16="http://schemas.microsoft.com/office/drawing/2014/main" id="{C4A0EC2C-E45F-6A28-996D-21E2B1C80744}"/>
              </a:ext>
            </a:extLst>
          </p:cNvPr>
          <p:cNvPicPr>
            <a:picLocks noChangeAspect="1"/>
          </p:cNvPicPr>
          <p:nvPr/>
        </p:nvPicPr>
        <p:blipFill>
          <a:blip r:embed="rId5"/>
          <a:stretch>
            <a:fillRect/>
          </a:stretch>
        </p:blipFill>
        <p:spPr>
          <a:xfrm>
            <a:off x="8094323" y="309506"/>
            <a:ext cx="3895619" cy="2921715"/>
          </a:xfrm>
          <a:prstGeom prst="rect">
            <a:avLst/>
          </a:prstGeom>
        </p:spPr>
      </p:pic>
      <p:pic>
        <p:nvPicPr>
          <p:cNvPr id="14" name="Picture 13" descr="AOM with some cobblestoning with edema of tympanic membrane">
            <a:extLst>
              <a:ext uri="{FF2B5EF4-FFF2-40B4-BE49-F238E27FC236}">
                <a16:creationId xmlns:a16="http://schemas.microsoft.com/office/drawing/2014/main" id="{A8E551EC-9680-FA23-36FC-048349630BA0}"/>
              </a:ext>
            </a:extLst>
          </p:cNvPr>
          <p:cNvPicPr>
            <a:picLocks noChangeAspect="1"/>
          </p:cNvPicPr>
          <p:nvPr/>
        </p:nvPicPr>
        <p:blipFill>
          <a:blip r:embed="rId6"/>
          <a:stretch>
            <a:fillRect/>
          </a:stretch>
        </p:blipFill>
        <p:spPr>
          <a:xfrm>
            <a:off x="4007955" y="270432"/>
            <a:ext cx="3895620" cy="2921715"/>
          </a:xfrm>
          <a:prstGeom prst="rect">
            <a:avLst/>
          </a:prstGeom>
        </p:spPr>
      </p:pic>
      <p:cxnSp>
        <p:nvCxnSpPr>
          <p:cNvPr id="16" name="Connector: Elbow 15">
            <a:extLst>
              <a:ext uri="{FF2B5EF4-FFF2-40B4-BE49-F238E27FC236}">
                <a16:creationId xmlns:a16="http://schemas.microsoft.com/office/drawing/2014/main" id="{C3BD77BF-6684-E621-8DC2-01F36F9DD7E0}"/>
              </a:ext>
            </a:extLst>
          </p:cNvPr>
          <p:cNvCxnSpPr>
            <a:cxnSpLocks/>
            <a:stCxn id="10" idx="3"/>
          </p:cNvCxnSpPr>
          <p:nvPr/>
        </p:nvCxnSpPr>
        <p:spPr>
          <a:xfrm>
            <a:off x="6834179" y="3503897"/>
            <a:ext cx="217510" cy="33282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08FBFF1B-1863-A727-2B4A-579506834785}"/>
              </a:ext>
            </a:extLst>
          </p:cNvPr>
          <p:cNvCxnSpPr/>
          <p:nvPr/>
        </p:nvCxnSpPr>
        <p:spPr>
          <a:xfrm>
            <a:off x="10900881" y="3071973"/>
            <a:ext cx="0" cy="81165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2BFA5425-4992-6EEA-EB15-B3E6710F0FBE}"/>
              </a:ext>
            </a:extLst>
          </p:cNvPr>
          <p:cNvSpPr txBox="1"/>
          <p:nvPr/>
        </p:nvSpPr>
        <p:spPr>
          <a:xfrm>
            <a:off x="119241" y="333028"/>
            <a:ext cx="3136725" cy="923330"/>
          </a:xfrm>
          <a:prstGeom prst="rect">
            <a:avLst/>
          </a:prstGeom>
          <a:noFill/>
        </p:spPr>
        <p:txBody>
          <a:bodyPr wrap="square">
            <a:spAutoFit/>
          </a:bodyPr>
          <a:lstStyle/>
          <a:p>
            <a:r>
              <a:rPr lang="en-CA" sz="1800" b="0" i="0" dirty="0">
                <a:solidFill>
                  <a:schemeClr val="tx1"/>
                </a:solidFill>
                <a:effectLst/>
                <a:latin typeface="+mn-lt"/>
              </a:rPr>
              <a:t>AOM with some </a:t>
            </a:r>
            <a:r>
              <a:rPr lang="en-CA" sz="1800" b="0" i="0" dirty="0" err="1">
                <a:solidFill>
                  <a:schemeClr val="tx1"/>
                </a:solidFill>
                <a:effectLst/>
                <a:latin typeface="+mn-lt"/>
              </a:rPr>
              <a:t>cobblestoning</a:t>
            </a:r>
            <a:r>
              <a:rPr lang="en-CA" sz="1800" b="0" i="0" dirty="0">
                <a:solidFill>
                  <a:schemeClr val="tx1"/>
                </a:solidFill>
                <a:effectLst/>
                <a:latin typeface="+mn-lt"/>
              </a:rPr>
              <a:t> with edema of tympanic membrane</a:t>
            </a:r>
            <a:endParaRPr lang="en-CA" dirty="0"/>
          </a:p>
        </p:txBody>
      </p:sp>
      <p:cxnSp>
        <p:nvCxnSpPr>
          <p:cNvPr id="23" name="Straight Arrow Connector 22">
            <a:extLst>
              <a:ext uri="{FF2B5EF4-FFF2-40B4-BE49-F238E27FC236}">
                <a16:creationId xmlns:a16="http://schemas.microsoft.com/office/drawing/2014/main" id="{D0E32FD5-CE81-AF82-A2BB-7953B933A393}"/>
              </a:ext>
            </a:extLst>
          </p:cNvPr>
          <p:cNvCxnSpPr>
            <a:cxnSpLocks/>
            <a:stCxn id="21" idx="3"/>
          </p:cNvCxnSpPr>
          <p:nvPr/>
        </p:nvCxnSpPr>
        <p:spPr>
          <a:xfrm>
            <a:off x="3255966" y="794693"/>
            <a:ext cx="8947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5" name="Picture 24" descr="Bullous AOM">
            <a:extLst>
              <a:ext uri="{FF2B5EF4-FFF2-40B4-BE49-F238E27FC236}">
                <a16:creationId xmlns:a16="http://schemas.microsoft.com/office/drawing/2014/main" id="{628AF17B-EF4C-A296-2BF4-8A1E174C4696}"/>
              </a:ext>
            </a:extLst>
          </p:cNvPr>
          <p:cNvPicPr>
            <a:picLocks noChangeAspect="1"/>
          </p:cNvPicPr>
          <p:nvPr/>
        </p:nvPicPr>
        <p:blipFill>
          <a:blip r:embed="rId7"/>
          <a:stretch>
            <a:fillRect/>
          </a:stretch>
        </p:blipFill>
        <p:spPr>
          <a:xfrm>
            <a:off x="0" y="3665852"/>
            <a:ext cx="3895620" cy="2921715"/>
          </a:xfrm>
          <a:prstGeom prst="rect">
            <a:avLst/>
          </a:prstGeom>
        </p:spPr>
      </p:pic>
      <p:sp>
        <p:nvSpPr>
          <p:cNvPr id="27" name="TextBox 26">
            <a:extLst>
              <a:ext uri="{FF2B5EF4-FFF2-40B4-BE49-F238E27FC236}">
                <a16:creationId xmlns:a16="http://schemas.microsoft.com/office/drawing/2014/main" id="{5DCCB77D-5E2B-D278-8ACF-8F511EE0D0F5}"/>
              </a:ext>
            </a:extLst>
          </p:cNvPr>
          <p:cNvSpPr txBox="1"/>
          <p:nvPr/>
        </p:nvSpPr>
        <p:spPr>
          <a:xfrm>
            <a:off x="817376" y="3242982"/>
            <a:ext cx="2406721" cy="372035"/>
          </a:xfrm>
          <a:prstGeom prst="rect">
            <a:avLst/>
          </a:prstGeom>
          <a:noFill/>
        </p:spPr>
        <p:txBody>
          <a:bodyPr wrap="square">
            <a:spAutoFit/>
          </a:bodyPr>
          <a:lstStyle/>
          <a:p>
            <a:r>
              <a:rPr lang="en-CA" sz="1800" b="0" i="0" dirty="0">
                <a:solidFill>
                  <a:schemeClr val="tx1"/>
                </a:solidFill>
                <a:effectLst/>
                <a:latin typeface="+mn-lt"/>
              </a:rPr>
              <a:t>Bullous AOM</a:t>
            </a:r>
            <a:endParaRPr lang="en-CA" dirty="0"/>
          </a:p>
        </p:txBody>
      </p:sp>
      <p:cxnSp>
        <p:nvCxnSpPr>
          <p:cNvPr id="28" name="Connector: Elbow 27">
            <a:extLst>
              <a:ext uri="{FF2B5EF4-FFF2-40B4-BE49-F238E27FC236}">
                <a16:creationId xmlns:a16="http://schemas.microsoft.com/office/drawing/2014/main" id="{14271B6B-9AE4-0696-C798-EA1D64F4DBFF}"/>
              </a:ext>
            </a:extLst>
          </p:cNvPr>
          <p:cNvCxnSpPr>
            <a:cxnSpLocks/>
          </p:cNvCxnSpPr>
          <p:nvPr/>
        </p:nvCxnSpPr>
        <p:spPr>
          <a:xfrm>
            <a:off x="2587085" y="3474021"/>
            <a:ext cx="217510" cy="33282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6985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11D3-A78A-827D-67E6-CD8713BDC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8CF5F-EEB0-7DA5-32C9-2B734C103200}"/>
              </a:ext>
            </a:extLst>
          </p:cNvPr>
          <p:cNvSpPr>
            <a:spLocks noGrp="1"/>
          </p:cNvSpPr>
          <p:nvPr>
            <p:ph type="title"/>
          </p:nvPr>
        </p:nvSpPr>
        <p:spPr>
          <a:xfrm>
            <a:off x="252573" y="-477945"/>
            <a:ext cx="10515600" cy="1325563"/>
          </a:xfrm>
        </p:spPr>
        <p:txBody>
          <a:bodyPr/>
          <a:lstStyle/>
          <a:p>
            <a:r>
              <a:rPr lang="en-CA" dirty="0"/>
              <a:t>Otitis Media with Effusion</a:t>
            </a:r>
          </a:p>
        </p:txBody>
      </p:sp>
      <p:sp>
        <p:nvSpPr>
          <p:cNvPr id="3" name="Content Placeholder 2">
            <a:extLst>
              <a:ext uri="{FF2B5EF4-FFF2-40B4-BE49-F238E27FC236}">
                <a16:creationId xmlns:a16="http://schemas.microsoft.com/office/drawing/2014/main" id="{FF929653-37BA-7D38-4D8C-7158FB6E0AC3}"/>
              </a:ext>
            </a:extLst>
          </p:cNvPr>
          <p:cNvSpPr>
            <a:spLocks noGrp="1"/>
          </p:cNvSpPr>
          <p:nvPr>
            <p:ph idx="1"/>
          </p:nvPr>
        </p:nvSpPr>
        <p:spPr>
          <a:xfrm>
            <a:off x="622871" y="1054082"/>
            <a:ext cx="10946258" cy="4749836"/>
          </a:xfrm>
        </p:spPr>
        <p:txBody>
          <a:bodyPr>
            <a:noAutofit/>
          </a:bodyPr>
          <a:lstStyle/>
          <a:p>
            <a:pPr marL="0" indent="0">
              <a:spcBef>
                <a:spcPts val="0"/>
              </a:spcBef>
              <a:buNone/>
            </a:pPr>
            <a:r>
              <a:rPr lang="en-CA" sz="1800" b="1" dirty="0"/>
              <a:t>Definition:</a:t>
            </a:r>
            <a:endParaRPr lang="en-CA" sz="1200" dirty="0"/>
          </a:p>
          <a:p>
            <a:pPr marL="0" indent="0">
              <a:spcBef>
                <a:spcPts val="0"/>
              </a:spcBef>
              <a:buNone/>
            </a:pPr>
            <a:r>
              <a:rPr lang="en-CA" sz="1800" b="1" dirty="0"/>
              <a:t>Risks:</a:t>
            </a:r>
            <a:endParaRPr lang="en-CA" sz="1200" dirty="0"/>
          </a:p>
          <a:p>
            <a:pPr marL="0" indent="0">
              <a:spcBef>
                <a:spcPts val="0"/>
              </a:spcBef>
              <a:buNone/>
            </a:pPr>
            <a:r>
              <a:rPr lang="en-CA" sz="1800" b="1" dirty="0"/>
              <a:t>Symptoms: </a:t>
            </a:r>
          </a:p>
          <a:p>
            <a:pPr marL="0" indent="0">
              <a:spcBef>
                <a:spcPts val="0"/>
              </a:spcBef>
              <a:buNone/>
            </a:pPr>
            <a:r>
              <a:rPr lang="en-CA" sz="1800" b="1" dirty="0"/>
              <a:t>Signs: </a:t>
            </a:r>
          </a:p>
          <a:p>
            <a:pPr marL="0" indent="0">
              <a:spcBef>
                <a:spcPts val="0"/>
              </a:spcBef>
              <a:buNone/>
            </a:pPr>
            <a:r>
              <a:rPr lang="en-CA" sz="1800" dirty="0"/>
              <a:t>Physical Examinations: </a:t>
            </a:r>
          </a:p>
          <a:p>
            <a:pPr marL="0" indent="0">
              <a:spcBef>
                <a:spcPts val="0"/>
              </a:spcBef>
              <a:buNone/>
            </a:pPr>
            <a:endParaRPr lang="en-CA" sz="1200" b="1" dirty="0"/>
          </a:p>
          <a:p>
            <a:pPr marL="0" indent="0">
              <a:spcBef>
                <a:spcPts val="0"/>
              </a:spcBef>
              <a:buNone/>
            </a:pPr>
            <a:r>
              <a:rPr lang="en-CA" sz="1800" b="1" dirty="0"/>
              <a:t>Confirmatory Diagnostics:</a:t>
            </a:r>
            <a:r>
              <a:rPr lang="en-CA" sz="1800" dirty="0"/>
              <a:t> </a:t>
            </a:r>
          </a:p>
        </p:txBody>
      </p:sp>
    </p:spTree>
    <p:extLst>
      <p:ext uri="{BB962C8B-B14F-4D97-AF65-F5344CB8AC3E}">
        <p14:creationId xmlns:p14="http://schemas.microsoft.com/office/powerpoint/2010/main" val="2660986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E1A83-C0CA-A4F4-FDC3-CBB94D28AC33}"/>
              </a:ext>
            </a:extLst>
          </p:cNvPr>
          <p:cNvSpPr>
            <a:spLocks noGrp="1"/>
          </p:cNvSpPr>
          <p:nvPr>
            <p:ph type="title"/>
          </p:nvPr>
        </p:nvSpPr>
        <p:spPr>
          <a:xfrm>
            <a:off x="278419" y="30603"/>
            <a:ext cx="10515600" cy="978408"/>
          </a:xfrm>
        </p:spPr>
        <p:txBody>
          <a:bodyPr/>
          <a:lstStyle/>
          <a:p>
            <a:r>
              <a:rPr lang="en-CA" dirty="0"/>
              <a:t>Otitis Media with Effusion </a:t>
            </a:r>
          </a:p>
        </p:txBody>
      </p:sp>
      <p:sp>
        <p:nvSpPr>
          <p:cNvPr id="5" name="TextBox 4">
            <a:extLst>
              <a:ext uri="{FF2B5EF4-FFF2-40B4-BE49-F238E27FC236}">
                <a16:creationId xmlns:a16="http://schemas.microsoft.com/office/drawing/2014/main" id="{3E96B276-B847-DA06-D5CC-64941D5C58EF}"/>
              </a:ext>
            </a:extLst>
          </p:cNvPr>
          <p:cNvSpPr txBox="1"/>
          <p:nvPr/>
        </p:nvSpPr>
        <p:spPr>
          <a:xfrm>
            <a:off x="720208" y="1321435"/>
            <a:ext cx="10515600" cy="5016758"/>
          </a:xfrm>
          <a:prstGeom prst="rect">
            <a:avLst/>
          </a:prstGeom>
          <a:noFill/>
        </p:spPr>
        <p:txBody>
          <a:bodyPr wrap="square">
            <a:spAutoFit/>
          </a:bodyPr>
          <a:lstStyle/>
          <a:p>
            <a:pPr marL="0" indent="0">
              <a:buNone/>
            </a:pPr>
            <a:r>
              <a:rPr lang="en-CA" sz="2000" b="1" dirty="0"/>
              <a:t>Definition: </a:t>
            </a:r>
            <a:r>
              <a:rPr lang="en-CA" sz="2000" dirty="0"/>
              <a:t>non-infected fluid behind the tympanic membrane (middle ear still) </a:t>
            </a:r>
          </a:p>
          <a:p>
            <a:pPr marL="0" indent="0">
              <a:buNone/>
            </a:pPr>
            <a:endParaRPr lang="en-CA" sz="2000" dirty="0"/>
          </a:p>
          <a:p>
            <a:pPr marL="0" indent="0">
              <a:buNone/>
            </a:pPr>
            <a:r>
              <a:rPr lang="en-CA" sz="2000" b="1" dirty="0"/>
              <a:t>Risks: </a:t>
            </a:r>
            <a:r>
              <a:rPr lang="en-CA" sz="2000" dirty="0"/>
              <a:t>children &gt; adults; for adults it is more common after an URI</a:t>
            </a:r>
          </a:p>
          <a:p>
            <a:pPr marL="0" indent="0">
              <a:buNone/>
            </a:pPr>
            <a:endParaRPr lang="en-CA" sz="2000" dirty="0"/>
          </a:p>
          <a:p>
            <a:pPr marL="0" indent="0">
              <a:buNone/>
            </a:pPr>
            <a:r>
              <a:rPr lang="en-CA" sz="2000" b="1" dirty="0"/>
              <a:t>Symptoms: </a:t>
            </a:r>
            <a:r>
              <a:rPr lang="en-CA" sz="2000" dirty="0"/>
              <a:t>may follow a URI, unilateral, with crackling/bubbling/popping sensation</a:t>
            </a:r>
          </a:p>
          <a:p>
            <a:pPr marL="0" indent="0">
              <a:buNone/>
            </a:pPr>
            <a:r>
              <a:rPr lang="en-CA" sz="2000" dirty="0"/>
              <a:t>*no pain*</a:t>
            </a:r>
          </a:p>
          <a:p>
            <a:pPr marL="0" indent="0">
              <a:buNone/>
            </a:pPr>
            <a:endParaRPr lang="en-CA" sz="2000" dirty="0"/>
          </a:p>
          <a:p>
            <a:pPr marL="0" indent="0">
              <a:buNone/>
            </a:pPr>
            <a:r>
              <a:rPr lang="en-CA" sz="2000" b="1" dirty="0"/>
              <a:t>Signs: </a:t>
            </a:r>
          </a:p>
          <a:p>
            <a:pPr marL="0" indent="0">
              <a:buNone/>
            </a:pPr>
            <a:r>
              <a:rPr lang="en-CA" sz="2000" dirty="0"/>
              <a:t>Physical Examinations: </a:t>
            </a:r>
          </a:p>
          <a:p>
            <a:pPr lvl="1"/>
            <a:r>
              <a:rPr lang="en-CA" sz="2000" dirty="0"/>
              <a:t>Visual inspection (otoscope): collection of fluid (air bubbles, fluid level, mucous) observed behind TM, hearing loss, decreased TM mobility; TM may be injected (red lines)</a:t>
            </a:r>
          </a:p>
          <a:p>
            <a:pPr lvl="1"/>
            <a:endParaRPr lang="en-CA" sz="2000" dirty="0"/>
          </a:p>
          <a:p>
            <a:r>
              <a:rPr lang="en-CA" sz="2000" b="1" dirty="0"/>
              <a:t>Confirmatory Diagnostics: </a:t>
            </a:r>
            <a:r>
              <a:rPr lang="en-CA" sz="2000" dirty="0"/>
              <a:t>pneumatic otoscopy, tympanogram (likely will refer out to audiologist or ENT for this)</a:t>
            </a:r>
          </a:p>
          <a:p>
            <a:pPr marL="0" indent="0">
              <a:buNone/>
            </a:pPr>
            <a:r>
              <a:rPr lang="en-CA" sz="2000" dirty="0"/>
              <a:t> </a:t>
            </a:r>
          </a:p>
          <a:p>
            <a:pPr marL="0" indent="0">
              <a:buNone/>
            </a:pPr>
            <a:endParaRPr lang="en-CA" sz="2000" dirty="0"/>
          </a:p>
        </p:txBody>
      </p:sp>
    </p:spTree>
    <p:extLst>
      <p:ext uri="{BB962C8B-B14F-4D97-AF65-F5344CB8AC3E}">
        <p14:creationId xmlns:p14="http://schemas.microsoft.com/office/powerpoint/2010/main" val="125744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ong standing fluid in the middle ear">
            <a:extLst>
              <a:ext uri="{FF2B5EF4-FFF2-40B4-BE49-F238E27FC236}">
                <a16:creationId xmlns:a16="http://schemas.microsoft.com/office/drawing/2014/main" id="{0578A2CA-8D0F-26E3-A802-68EC0B2CD9F3}"/>
              </a:ext>
            </a:extLst>
          </p:cNvPr>
          <p:cNvPicPr>
            <a:picLocks noChangeAspect="1"/>
          </p:cNvPicPr>
          <p:nvPr/>
        </p:nvPicPr>
        <p:blipFill>
          <a:blip r:embed="rId3"/>
          <a:stretch>
            <a:fillRect/>
          </a:stretch>
        </p:blipFill>
        <p:spPr>
          <a:xfrm>
            <a:off x="6862173" y="425789"/>
            <a:ext cx="3781854" cy="3063302"/>
          </a:xfrm>
          <a:prstGeom prst="rect">
            <a:avLst/>
          </a:prstGeom>
        </p:spPr>
      </p:pic>
      <p:pic>
        <p:nvPicPr>
          <p:cNvPr id="6" name="Picture 5" descr="fluid in the middle ear">
            <a:extLst>
              <a:ext uri="{FF2B5EF4-FFF2-40B4-BE49-F238E27FC236}">
                <a16:creationId xmlns:a16="http://schemas.microsoft.com/office/drawing/2014/main" id="{DFE685AD-6DD1-2B1D-EB8F-2C10E4C9ED1D}"/>
              </a:ext>
            </a:extLst>
          </p:cNvPr>
          <p:cNvPicPr>
            <a:picLocks noChangeAspect="1"/>
          </p:cNvPicPr>
          <p:nvPr/>
        </p:nvPicPr>
        <p:blipFill>
          <a:blip r:embed="rId4"/>
          <a:stretch>
            <a:fillRect/>
          </a:stretch>
        </p:blipFill>
        <p:spPr>
          <a:xfrm>
            <a:off x="6770669" y="3644735"/>
            <a:ext cx="3873358" cy="3137419"/>
          </a:xfrm>
          <a:prstGeom prst="rect">
            <a:avLst/>
          </a:prstGeom>
        </p:spPr>
      </p:pic>
      <p:pic>
        <p:nvPicPr>
          <p:cNvPr id="7" name="Picture 6" descr="Adult with air bubbles in the middle ear">
            <a:extLst>
              <a:ext uri="{FF2B5EF4-FFF2-40B4-BE49-F238E27FC236}">
                <a16:creationId xmlns:a16="http://schemas.microsoft.com/office/drawing/2014/main" id="{023285BE-4696-C860-8608-A8348582A324}"/>
              </a:ext>
            </a:extLst>
          </p:cNvPr>
          <p:cNvPicPr>
            <a:picLocks noChangeAspect="1"/>
          </p:cNvPicPr>
          <p:nvPr/>
        </p:nvPicPr>
        <p:blipFill>
          <a:blip r:embed="rId5"/>
          <a:stretch>
            <a:fillRect/>
          </a:stretch>
        </p:blipFill>
        <p:spPr>
          <a:xfrm>
            <a:off x="1209567" y="425789"/>
            <a:ext cx="3781853" cy="3025483"/>
          </a:xfrm>
          <a:prstGeom prst="rect">
            <a:avLst/>
          </a:prstGeom>
        </p:spPr>
      </p:pic>
      <p:pic>
        <p:nvPicPr>
          <p:cNvPr id="8" name="Picture 7" descr="adult with a P.E. tube">
            <a:extLst>
              <a:ext uri="{FF2B5EF4-FFF2-40B4-BE49-F238E27FC236}">
                <a16:creationId xmlns:a16="http://schemas.microsoft.com/office/drawing/2014/main" id="{212B82A2-1882-EA2B-35AA-89BBB5AF4E0D}"/>
              </a:ext>
            </a:extLst>
          </p:cNvPr>
          <p:cNvPicPr>
            <a:picLocks noChangeAspect="1"/>
          </p:cNvPicPr>
          <p:nvPr/>
        </p:nvPicPr>
        <p:blipFill>
          <a:blip r:embed="rId6"/>
          <a:stretch>
            <a:fillRect/>
          </a:stretch>
        </p:blipFill>
        <p:spPr>
          <a:xfrm>
            <a:off x="1209567" y="3644734"/>
            <a:ext cx="3873357" cy="3137419"/>
          </a:xfrm>
          <a:prstGeom prst="rect">
            <a:avLst/>
          </a:prstGeom>
        </p:spPr>
      </p:pic>
    </p:spTree>
    <p:extLst>
      <p:ext uri="{BB962C8B-B14F-4D97-AF65-F5344CB8AC3E}">
        <p14:creationId xmlns:p14="http://schemas.microsoft.com/office/powerpoint/2010/main" val="417693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20301-864C-BC0C-C2C7-1AD6265667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42396-EDC1-8941-9FDD-5325DD89964C}"/>
              </a:ext>
            </a:extLst>
          </p:cNvPr>
          <p:cNvSpPr>
            <a:spLocks noGrp="1"/>
          </p:cNvSpPr>
          <p:nvPr>
            <p:ph type="title"/>
          </p:nvPr>
        </p:nvSpPr>
        <p:spPr>
          <a:xfrm>
            <a:off x="201203" y="-519042"/>
            <a:ext cx="10515600" cy="1325563"/>
          </a:xfrm>
        </p:spPr>
        <p:txBody>
          <a:bodyPr/>
          <a:lstStyle/>
          <a:p>
            <a:r>
              <a:rPr lang="en-CA" dirty="0"/>
              <a:t>Otitis Externa (External Otitis)</a:t>
            </a:r>
          </a:p>
        </p:txBody>
      </p:sp>
      <p:sp>
        <p:nvSpPr>
          <p:cNvPr id="3" name="Content Placeholder 2">
            <a:extLst>
              <a:ext uri="{FF2B5EF4-FFF2-40B4-BE49-F238E27FC236}">
                <a16:creationId xmlns:a16="http://schemas.microsoft.com/office/drawing/2014/main" id="{826BC2EF-ED2D-0BB3-9389-AE2CB54B3D3F}"/>
              </a:ext>
            </a:extLst>
          </p:cNvPr>
          <p:cNvSpPr>
            <a:spLocks noGrp="1"/>
          </p:cNvSpPr>
          <p:nvPr>
            <p:ph idx="1"/>
          </p:nvPr>
        </p:nvSpPr>
        <p:spPr>
          <a:xfrm>
            <a:off x="622871" y="1054082"/>
            <a:ext cx="10946258" cy="4749836"/>
          </a:xfrm>
        </p:spPr>
        <p:txBody>
          <a:bodyPr>
            <a:noAutofit/>
          </a:bodyPr>
          <a:lstStyle/>
          <a:p>
            <a:pPr marL="0" indent="0">
              <a:spcBef>
                <a:spcPts val="0"/>
              </a:spcBef>
              <a:buNone/>
            </a:pPr>
            <a:r>
              <a:rPr lang="en-CA" sz="1800" b="1" dirty="0"/>
              <a:t>Definition:</a:t>
            </a:r>
            <a:endParaRPr lang="en-CA" sz="1200" dirty="0"/>
          </a:p>
          <a:p>
            <a:pPr marL="0" indent="0">
              <a:spcBef>
                <a:spcPts val="0"/>
              </a:spcBef>
              <a:buNone/>
            </a:pPr>
            <a:r>
              <a:rPr lang="en-CA" sz="1800" b="1" dirty="0"/>
              <a:t>Risks:</a:t>
            </a:r>
            <a:endParaRPr lang="en-CA" sz="1200" dirty="0"/>
          </a:p>
          <a:p>
            <a:pPr marL="0" indent="0">
              <a:spcBef>
                <a:spcPts val="0"/>
              </a:spcBef>
              <a:buNone/>
            </a:pPr>
            <a:r>
              <a:rPr lang="en-CA" sz="1800" b="1" dirty="0"/>
              <a:t>Symptoms: </a:t>
            </a:r>
          </a:p>
          <a:p>
            <a:pPr marL="0" indent="0">
              <a:spcBef>
                <a:spcPts val="0"/>
              </a:spcBef>
              <a:buNone/>
            </a:pPr>
            <a:r>
              <a:rPr lang="en-CA" sz="1800" b="1" dirty="0"/>
              <a:t>Signs: </a:t>
            </a:r>
          </a:p>
          <a:p>
            <a:pPr marL="0" indent="0">
              <a:spcBef>
                <a:spcPts val="0"/>
              </a:spcBef>
              <a:buNone/>
            </a:pPr>
            <a:r>
              <a:rPr lang="en-CA" sz="1800" dirty="0"/>
              <a:t>Physical Examinations: </a:t>
            </a:r>
          </a:p>
          <a:p>
            <a:pPr marL="0" indent="0">
              <a:spcBef>
                <a:spcPts val="0"/>
              </a:spcBef>
              <a:buNone/>
            </a:pPr>
            <a:endParaRPr lang="en-CA" sz="1200" b="1" dirty="0"/>
          </a:p>
          <a:p>
            <a:pPr marL="0" indent="0">
              <a:spcBef>
                <a:spcPts val="0"/>
              </a:spcBef>
              <a:buNone/>
            </a:pPr>
            <a:r>
              <a:rPr lang="en-CA" sz="1800" b="1" dirty="0"/>
              <a:t>Confirmatory Diagnostics:</a:t>
            </a:r>
            <a:r>
              <a:rPr lang="en-CA" sz="1800" dirty="0"/>
              <a:t> </a:t>
            </a:r>
          </a:p>
        </p:txBody>
      </p:sp>
    </p:spTree>
    <p:extLst>
      <p:ext uri="{BB962C8B-B14F-4D97-AF65-F5344CB8AC3E}">
        <p14:creationId xmlns:p14="http://schemas.microsoft.com/office/powerpoint/2010/main" val="393885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168E-8BF9-D0E3-B2A5-44AF8E098409}"/>
              </a:ext>
            </a:extLst>
          </p:cNvPr>
          <p:cNvSpPr>
            <a:spLocks noGrp="1"/>
          </p:cNvSpPr>
          <p:nvPr>
            <p:ph type="title"/>
          </p:nvPr>
        </p:nvSpPr>
        <p:spPr>
          <a:xfrm>
            <a:off x="607193" y="0"/>
            <a:ext cx="10515600" cy="978408"/>
          </a:xfrm>
        </p:spPr>
        <p:txBody>
          <a:bodyPr/>
          <a:lstStyle/>
          <a:p>
            <a:r>
              <a:rPr lang="en-CA" dirty="0"/>
              <a:t>Otitis Externa </a:t>
            </a:r>
          </a:p>
        </p:txBody>
      </p:sp>
      <p:sp>
        <p:nvSpPr>
          <p:cNvPr id="3" name="Content Placeholder 2">
            <a:extLst>
              <a:ext uri="{FF2B5EF4-FFF2-40B4-BE49-F238E27FC236}">
                <a16:creationId xmlns:a16="http://schemas.microsoft.com/office/drawing/2014/main" id="{78DE7B8F-770B-24A6-140B-359A245C15EC}"/>
              </a:ext>
            </a:extLst>
          </p:cNvPr>
          <p:cNvSpPr>
            <a:spLocks noGrp="1"/>
          </p:cNvSpPr>
          <p:nvPr>
            <p:ph idx="1"/>
          </p:nvPr>
        </p:nvSpPr>
        <p:spPr/>
        <p:txBody>
          <a:bodyPr>
            <a:normAutofit lnSpcReduction="10000"/>
          </a:bodyPr>
          <a:lstStyle/>
          <a:p>
            <a:pPr marL="0" indent="0">
              <a:buNone/>
            </a:pPr>
            <a:r>
              <a:rPr lang="en-CA" sz="2000" b="1" dirty="0"/>
              <a:t>Definition: </a:t>
            </a:r>
            <a:r>
              <a:rPr lang="en-CA" sz="2000" dirty="0"/>
              <a:t>infection of the external ear canal (anything before the TM)</a:t>
            </a:r>
          </a:p>
          <a:p>
            <a:pPr marL="0" indent="0">
              <a:buNone/>
            </a:pPr>
            <a:r>
              <a:rPr lang="en-CA" sz="2000" b="1" dirty="0"/>
              <a:t>Risks: </a:t>
            </a:r>
            <a:r>
              <a:rPr lang="en-CA" sz="2000" dirty="0"/>
              <a:t>adults &gt; children; swimmers, diabetes, ear pickers (Q-tips)</a:t>
            </a:r>
          </a:p>
          <a:p>
            <a:pPr marL="0" indent="0">
              <a:buNone/>
            </a:pPr>
            <a:r>
              <a:rPr lang="en-CA" sz="2000" b="1" dirty="0"/>
              <a:t>Symptoms: </a:t>
            </a:r>
            <a:r>
              <a:rPr lang="en-CA" sz="2000" dirty="0"/>
              <a:t>bilateral pain, stuffed ear, hearing loss (occasionally); may be associated with </a:t>
            </a:r>
            <a:r>
              <a:rPr lang="en-CA" sz="2000" dirty="0" err="1"/>
              <a:t>hx</a:t>
            </a:r>
            <a:r>
              <a:rPr lang="en-CA" sz="2000" dirty="0"/>
              <a:t> of swimming 1-2 days prior</a:t>
            </a:r>
          </a:p>
          <a:p>
            <a:pPr marL="0" indent="0">
              <a:buNone/>
            </a:pPr>
            <a:r>
              <a:rPr lang="en-CA" sz="2000" b="1" dirty="0"/>
              <a:t>Signs: </a:t>
            </a:r>
          </a:p>
          <a:p>
            <a:pPr marL="0" indent="0">
              <a:buNone/>
            </a:pPr>
            <a:r>
              <a:rPr lang="en-CA" sz="2000" dirty="0"/>
              <a:t>Physical Examinations: </a:t>
            </a:r>
          </a:p>
          <a:p>
            <a:pPr lvl="1"/>
            <a:r>
              <a:rPr lang="en-CA" sz="1600" dirty="0"/>
              <a:t>Visual Inspection (otoscope): inflamed, swollen external canal (canal may be swollen shut); discharge may be cheesy green-blue or grey; </a:t>
            </a:r>
            <a:r>
              <a:rPr lang="en-CA" sz="1600" b="1" dirty="0"/>
              <a:t>TM normal or not visible</a:t>
            </a:r>
            <a:r>
              <a:rPr lang="en-CA" sz="1600" dirty="0"/>
              <a:t> </a:t>
            </a:r>
          </a:p>
          <a:p>
            <a:pPr lvl="1"/>
            <a:r>
              <a:rPr lang="en-CA" sz="1600" dirty="0"/>
              <a:t>Pinna manipulation often causes ++ pain </a:t>
            </a:r>
          </a:p>
          <a:p>
            <a:pPr lvl="1"/>
            <a:r>
              <a:rPr lang="en-CA" sz="1600" dirty="0"/>
              <a:t>Enlarged preauricular or postauricular nodes </a:t>
            </a:r>
            <a:endParaRPr lang="en-CA" sz="2000" dirty="0"/>
          </a:p>
          <a:p>
            <a:pPr marL="0" indent="0">
              <a:buNone/>
            </a:pPr>
            <a:r>
              <a:rPr lang="en-CA" sz="2000" b="1" dirty="0"/>
              <a:t>Confirmatory Diagnostics: </a:t>
            </a:r>
            <a:r>
              <a:rPr lang="en-CA" sz="2000" dirty="0"/>
              <a:t>none</a:t>
            </a:r>
            <a:r>
              <a:rPr lang="en-CA" sz="2000" b="1" dirty="0"/>
              <a:t> </a:t>
            </a:r>
            <a:endParaRPr lang="en-CA" sz="2000" dirty="0"/>
          </a:p>
          <a:p>
            <a:pPr marL="0" indent="0">
              <a:buNone/>
            </a:pPr>
            <a:endParaRPr lang="en-CA" sz="2000" dirty="0"/>
          </a:p>
        </p:txBody>
      </p:sp>
    </p:spTree>
    <p:extLst>
      <p:ext uri="{BB962C8B-B14F-4D97-AF65-F5344CB8AC3E}">
        <p14:creationId xmlns:p14="http://schemas.microsoft.com/office/powerpoint/2010/main" val="1287203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proach to otitis externa | The College of Family Physicians of Canada">
            <a:extLst>
              <a:ext uri="{FF2B5EF4-FFF2-40B4-BE49-F238E27FC236}">
                <a16:creationId xmlns:a16="http://schemas.microsoft.com/office/drawing/2014/main" id="{CFD6915C-59C0-AFB5-904B-46B7F19E529D}"/>
              </a:ext>
            </a:extLst>
          </p:cNvPr>
          <p:cNvPicPr>
            <a:picLocks noChangeAspect="1"/>
          </p:cNvPicPr>
          <p:nvPr/>
        </p:nvPicPr>
        <p:blipFill>
          <a:blip r:embed="rId3"/>
          <a:stretch>
            <a:fillRect/>
          </a:stretch>
        </p:blipFill>
        <p:spPr>
          <a:xfrm>
            <a:off x="353121" y="223196"/>
            <a:ext cx="4276725" cy="4238625"/>
          </a:xfrm>
          <a:prstGeom prst="rect">
            <a:avLst/>
          </a:prstGeom>
        </p:spPr>
      </p:pic>
      <p:pic>
        <p:nvPicPr>
          <p:cNvPr id="6" name="Picture 5" descr="Otitis externa - Wikipedia">
            <a:extLst>
              <a:ext uri="{FF2B5EF4-FFF2-40B4-BE49-F238E27FC236}">
                <a16:creationId xmlns:a16="http://schemas.microsoft.com/office/drawing/2014/main" id="{8CCDF2E2-DD32-76DB-88EF-73502D3E02D6}"/>
              </a:ext>
            </a:extLst>
          </p:cNvPr>
          <p:cNvPicPr>
            <a:picLocks noChangeAspect="1"/>
          </p:cNvPicPr>
          <p:nvPr/>
        </p:nvPicPr>
        <p:blipFill>
          <a:blip r:embed="rId4"/>
          <a:stretch>
            <a:fillRect/>
          </a:stretch>
        </p:blipFill>
        <p:spPr>
          <a:xfrm>
            <a:off x="4840055" y="1990137"/>
            <a:ext cx="3324225" cy="3971925"/>
          </a:xfrm>
          <a:prstGeom prst="rect">
            <a:avLst/>
          </a:prstGeom>
        </p:spPr>
      </p:pic>
      <p:pic>
        <p:nvPicPr>
          <p:cNvPr id="8" name="Picture 7" descr="Otitis Externa: Investigation and Evidence-Based Treatment - PMC">
            <a:extLst>
              <a:ext uri="{FF2B5EF4-FFF2-40B4-BE49-F238E27FC236}">
                <a16:creationId xmlns:a16="http://schemas.microsoft.com/office/drawing/2014/main" id="{05CF01D9-4F62-B52E-073F-2A34C6F88E9A}"/>
              </a:ext>
            </a:extLst>
          </p:cNvPr>
          <p:cNvPicPr>
            <a:picLocks noChangeAspect="1"/>
          </p:cNvPicPr>
          <p:nvPr/>
        </p:nvPicPr>
        <p:blipFill>
          <a:blip r:embed="rId5"/>
          <a:stretch>
            <a:fillRect/>
          </a:stretch>
        </p:blipFill>
        <p:spPr>
          <a:xfrm>
            <a:off x="8374489" y="146096"/>
            <a:ext cx="2690777" cy="6565807"/>
          </a:xfrm>
          <a:prstGeom prst="rect">
            <a:avLst/>
          </a:prstGeom>
        </p:spPr>
      </p:pic>
    </p:spTree>
    <p:extLst>
      <p:ext uri="{BB962C8B-B14F-4D97-AF65-F5344CB8AC3E}">
        <p14:creationId xmlns:p14="http://schemas.microsoft.com/office/powerpoint/2010/main" val="4061994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A48E3-0098-E819-C2E3-46423C2A0246}"/>
              </a:ext>
            </a:extLst>
          </p:cNvPr>
          <p:cNvSpPr>
            <a:spLocks noGrp="1"/>
          </p:cNvSpPr>
          <p:nvPr>
            <p:ph type="title"/>
          </p:nvPr>
        </p:nvSpPr>
        <p:spPr/>
        <p:txBody>
          <a:bodyPr/>
          <a:lstStyle/>
          <a:p>
            <a:r>
              <a:rPr lang="en-CA" dirty="0"/>
              <a:t>Let’s Differentiate Together!</a:t>
            </a:r>
          </a:p>
        </p:txBody>
      </p:sp>
      <p:graphicFrame>
        <p:nvGraphicFramePr>
          <p:cNvPr id="4" name="Table 3">
            <a:extLst>
              <a:ext uri="{FF2B5EF4-FFF2-40B4-BE49-F238E27FC236}">
                <a16:creationId xmlns:a16="http://schemas.microsoft.com/office/drawing/2014/main" id="{977F7CC5-7C48-8562-486A-C70398D3CC25}"/>
              </a:ext>
            </a:extLst>
          </p:cNvPr>
          <p:cNvGraphicFramePr>
            <a:graphicFrameLocks noGrp="1"/>
          </p:cNvGraphicFramePr>
          <p:nvPr>
            <p:extLst>
              <p:ext uri="{D42A27DB-BD31-4B8C-83A1-F6EECF244321}">
                <p14:modId xmlns:p14="http://schemas.microsoft.com/office/powerpoint/2010/main" val="3816417257"/>
              </p:ext>
            </p:extLst>
          </p:nvPr>
        </p:nvGraphicFramePr>
        <p:xfrm>
          <a:off x="361595" y="2219693"/>
          <a:ext cx="11191729" cy="3571240"/>
        </p:xfrm>
        <a:graphic>
          <a:graphicData uri="http://schemas.openxmlformats.org/drawingml/2006/table">
            <a:tbl>
              <a:tblPr firstRow="1" bandRow="1">
                <a:tableStyleId>{5C22544A-7EE6-4342-B048-85BDC9FD1C3A}</a:tableStyleId>
              </a:tblPr>
              <a:tblGrid>
                <a:gridCol w="2489518">
                  <a:extLst>
                    <a:ext uri="{9D8B030D-6E8A-4147-A177-3AD203B41FA5}">
                      <a16:colId xmlns:a16="http://schemas.microsoft.com/office/drawing/2014/main" val="886550732"/>
                    </a:ext>
                  </a:extLst>
                </a:gridCol>
                <a:gridCol w="2900737">
                  <a:extLst>
                    <a:ext uri="{9D8B030D-6E8A-4147-A177-3AD203B41FA5}">
                      <a16:colId xmlns:a16="http://schemas.microsoft.com/office/drawing/2014/main" val="231486127"/>
                    </a:ext>
                  </a:extLst>
                </a:gridCol>
                <a:gridCol w="2900737">
                  <a:extLst>
                    <a:ext uri="{9D8B030D-6E8A-4147-A177-3AD203B41FA5}">
                      <a16:colId xmlns:a16="http://schemas.microsoft.com/office/drawing/2014/main" val="215183146"/>
                    </a:ext>
                  </a:extLst>
                </a:gridCol>
                <a:gridCol w="2900737">
                  <a:extLst>
                    <a:ext uri="{9D8B030D-6E8A-4147-A177-3AD203B41FA5}">
                      <a16:colId xmlns:a16="http://schemas.microsoft.com/office/drawing/2014/main" val="3928582135"/>
                    </a:ext>
                  </a:extLst>
                </a:gridCol>
              </a:tblGrid>
              <a:tr h="370840">
                <a:tc>
                  <a:txBody>
                    <a:bodyPr/>
                    <a:lstStyle/>
                    <a:p>
                      <a:r>
                        <a:rPr lang="en-CA" dirty="0"/>
                        <a:t>Symptom</a:t>
                      </a:r>
                    </a:p>
                  </a:txBody>
                  <a:tcPr/>
                </a:tc>
                <a:tc>
                  <a:txBody>
                    <a:bodyPr/>
                    <a:lstStyle/>
                    <a:p>
                      <a:pPr algn="ctr"/>
                      <a:r>
                        <a:rPr lang="en-CA" dirty="0"/>
                        <a:t>Acute Otitis Media</a:t>
                      </a:r>
                    </a:p>
                  </a:txBody>
                  <a:tcPr/>
                </a:tc>
                <a:tc>
                  <a:txBody>
                    <a:bodyPr/>
                    <a:lstStyle/>
                    <a:p>
                      <a:pPr algn="ctr"/>
                      <a:r>
                        <a:rPr lang="en-CA" dirty="0"/>
                        <a:t>Otitis Media with Effusion</a:t>
                      </a:r>
                    </a:p>
                  </a:txBody>
                  <a:tcPr/>
                </a:tc>
                <a:tc>
                  <a:txBody>
                    <a:bodyPr/>
                    <a:lstStyle/>
                    <a:p>
                      <a:pPr algn="ctr"/>
                      <a:r>
                        <a:rPr lang="en-CA" dirty="0"/>
                        <a:t>Otitis Externa</a:t>
                      </a:r>
                    </a:p>
                  </a:txBody>
                  <a:tcPr/>
                </a:tc>
                <a:extLst>
                  <a:ext uri="{0D108BD9-81ED-4DB2-BD59-A6C34878D82A}">
                    <a16:rowId xmlns:a16="http://schemas.microsoft.com/office/drawing/2014/main" val="3013305144"/>
                  </a:ext>
                </a:extLst>
              </a:tr>
              <a:tr h="640080">
                <a:tc>
                  <a:txBody>
                    <a:bodyPr/>
                    <a:lstStyle/>
                    <a:p>
                      <a:r>
                        <a:rPr lang="en-CA" dirty="0"/>
                        <a:t>Pain</a:t>
                      </a:r>
                    </a:p>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551290103"/>
                  </a:ext>
                </a:extLst>
              </a:tr>
              <a:tr h="640080">
                <a:tc>
                  <a:txBody>
                    <a:bodyPr/>
                    <a:lstStyle/>
                    <a:p>
                      <a:r>
                        <a:rPr lang="en-CA" dirty="0"/>
                        <a:t>Hearing Loss</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4088515027"/>
                  </a:ext>
                </a:extLst>
              </a:tr>
              <a:tr h="640080">
                <a:tc>
                  <a:txBody>
                    <a:bodyPr/>
                    <a:lstStyle/>
                    <a:p>
                      <a:r>
                        <a:rPr lang="en-CA" dirty="0"/>
                        <a:t>Bubbling/</a:t>
                      </a:r>
                    </a:p>
                    <a:p>
                      <a:r>
                        <a:rPr lang="en-CA" dirty="0"/>
                        <a:t>Popping Sensation</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3259656828"/>
                  </a:ext>
                </a:extLst>
              </a:tr>
              <a:tr h="640080">
                <a:tc>
                  <a:txBody>
                    <a:bodyPr/>
                    <a:lstStyle/>
                    <a:p>
                      <a:r>
                        <a:rPr lang="en-CA" dirty="0"/>
                        <a:t>Stuffed ear sensation</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609732244"/>
                  </a:ext>
                </a:extLst>
              </a:tr>
              <a:tr h="640080">
                <a:tc>
                  <a:txBody>
                    <a:bodyPr/>
                    <a:lstStyle/>
                    <a:p>
                      <a:r>
                        <a:rPr lang="en-CA" dirty="0"/>
                        <a:t>Children vs Adults</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498679915"/>
                  </a:ext>
                </a:extLst>
              </a:tr>
            </a:tbl>
          </a:graphicData>
        </a:graphic>
      </p:graphicFrame>
    </p:spTree>
    <p:extLst>
      <p:ext uri="{BB962C8B-B14F-4D97-AF65-F5344CB8AC3E}">
        <p14:creationId xmlns:p14="http://schemas.microsoft.com/office/powerpoint/2010/main" val="1453390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BC907-8BB9-16AF-1C12-9D51EA8D3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55C1-BF92-98B6-6F9E-AFF95D6C8B8F}"/>
              </a:ext>
            </a:extLst>
          </p:cNvPr>
          <p:cNvSpPr>
            <a:spLocks noGrp="1"/>
          </p:cNvSpPr>
          <p:nvPr>
            <p:ph type="title"/>
          </p:nvPr>
        </p:nvSpPr>
        <p:spPr/>
        <p:txBody>
          <a:bodyPr/>
          <a:lstStyle/>
          <a:p>
            <a:r>
              <a:rPr lang="en-CA" dirty="0"/>
              <a:t>Let’s Differentiate Together!</a:t>
            </a:r>
          </a:p>
        </p:txBody>
      </p:sp>
      <p:graphicFrame>
        <p:nvGraphicFramePr>
          <p:cNvPr id="4" name="Table 3">
            <a:extLst>
              <a:ext uri="{FF2B5EF4-FFF2-40B4-BE49-F238E27FC236}">
                <a16:creationId xmlns:a16="http://schemas.microsoft.com/office/drawing/2014/main" id="{1E53812D-7FBC-AE98-CD7B-391BADAE7D7E}"/>
              </a:ext>
            </a:extLst>
          </p:cNvPr>
          <p:cNvGraphicFramePr>
            <a:graphicFrameLocks noGrp="1"/>
          </p:cNvGraphicFramePr>
          <p:nvPr>
            <p:extLst>
              <p:ext uri="{D42A27DB-BD31-4B8C-83A1-F6EECF244321}">
                <p14:modId xmlns:p14="http://schemas.microsoft.com/office/powerpoint/2010/main" val="696494676"/>
              </p:ext>
            </p:extLst>
          </p:nvPr>
        </p:nvGraphicFramePr>
        <p:xfrm>
          <a:off x="747730" y="1849823"/>
          <a:ext cx="11184147" cy="4211320"/>
        </p:xfrm>
        <a:graphic>
          <a:graphicData uri="http://schemas.openxmlformats.org/drawingml/2006/table">
            <a:tbl>
              <a:tblPr firstRow="1" bandRow="1">
                <a:tableStyleId>{5C22544A-7EE6-4342-B048-85BDC9FD1C3A}</a:tableStyleId>
              </a:tblPr>
              <a:tblGrid>
                <a:gridCol w="2564130">
                  <a:extLst>
                    <a:ext uri="{9D8B030D-6E8A-4147-A177-3AD203B41FA5}">
                      <a16:colId xmlns:a16="http://schemas.microsoft.com/office/drawing/2014/main" val="886550732"/>
                    </a:ext>
                  </a:extLst>
                </a:gridCol>
                <a:gridCol w="2873339">
                  <a:extLst>
                    <a:ext uri="{9D8B030D-6E8A-4147-A177-3AD203B41FA5}">
                      <a16:colId xmlns:a16="http://schemas.microsoft.com/office/drawing/2014/main" val="231486127"/>
                    </a:ext>
                  </a:extLst>
                </a:gridCol>
                <a:gridCol w="2873339">
                  <a:extLst>
                    <a:ext uri="{9D8B030D-6E8A-4147-A177-3AD203B41FA5}">
                      <a16:colId xmlns:a16="http://schemas.microsoft.com/office/drawing/2014/main" val="215183146"/>
                    </a:ext>
                  </a:extLst>
                </a:gridCol>
                <a:gridCol w="2873339">
                  <a:extLst>
                    <a:ext uri="{9D8B030D-6E8A-4147-A177-3AD203B41FA5}">
                      <a16:colId xmlns:a16="http://schemas.microsoft.com/office/drawing/2014/main" val="3928582135"/>
                    </a:ext>
                  </a:extLst>
                </a:gridCol>
              </a:tblGrid>
              <a:tr h="370840">
                <a:tc>
                  <a:txBody>
                    <a:bodyPr/>
                    <a:lstStyle/>
                    <a:p>
                      <a:r>
                        <a:rPr lang="en-CA" dirty="0"/>
                        <a:t>Physical Exam</a:t>
                      </a:r>
                    </a:p>
                  </a:txBody>
                  <a:tcPr/>
                </a:tc>
                <a:tc>
                  <a:txBody>
                    <a:bodyPr/>
                    <a:lstStyle/>
                    <a:p>
                      <a:r>
                        <a:rPr lang="en-CA" dirty="0"/>
                        <a:t>Acute Otitis Media</a:t>
                      </a:r>
                    </a:p>
                  </a:txBody>
                  <a:tcPr/>
                </a:tc>
                <a:tc>
                  <a:txBody>
                    <a:bodyPr/>
                    <a:lstStyle/>
                    <a:p>
                      <a:r>
                        <a:rPr lang="en-CA" dirty="0"/>
                        <a:t>Otitis Media with Effusion</a:t>
                      </a:r>
                    </a:p>
                  </a:txBody>
                  <a:tcPr/>
                </a:tc>
                <a:tc>
                  <a:txBody>
                    <a:bodyPr/>
                    <a:lstStyle/>
                    <a:p>
                      <a:r>
                        <a:rPr lang="en-CA" dirty="0"/>
                        <a:t>Otitis Externa</a:t>
                      </a:r>
                    </a:p>
                  </a:txBody>
                  <a:tcPr/>
                </a:tc>
                <a:extLst>
                  <a:ext uri="{0D108BD9-81ED-4DB2-BD59-A6C34878D82A}">
                    <a16:rowId xmlns:a16="http://schemas.microsoft.com/office/drawing/2014/main" val="3013305144"/>
                  </a:ext>
                </a:extLst>
              </a:tr>
              <a:tr h="640080">
                <a:tc>
                  <a:txBody>
                    <a:bodyPr/>
                    <a:lstStyle/>
                    <a:p>
                      <a:r>
                        <a:rPr lang="en-CA" dirty="0"/>
                        <a:t>Fever</a:t>
                      </a:r>
                    </a:p>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551290103"/>
                  </a:ext>
                </a:extLst>
              </a:tr>
              <a:tr h="640080">
                <a:tc>
                  <a:txBody>
                    <a:bodyPr/>
                    <a:lstStyle/>
                    <a:p>
                      <a:r>
                        <a:rPr lang="en-CA" dirty="0"/>
                        <a:t>Tympanic Membrane </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4088515027"/>
                  </a:ext>
                </a:extLst>
              </a:tr>
              <a:tr h="640080">
                <a:tc>
                  <a:txBody>
                    <a:bodyPr/>
                    <a:lstStyle/>
                    <a:p>
                      <a:r>
                        <a:rPr lang="en-CA" dirty="0"/>
                        <a:t>Fluid Level</a:t>
                      </a:r>
                    </a:p>
                  </a:txBody>
                  <a:tcPr/>
                </a:tc>
                <a:tc>
                  <a:txBody>
                    <a:bodyPr/>
                    <a:lstStyle/>
                    <a:p>
                      <a:endParaRPr lang="en-CA" dirty="0"/>
                    </a:p>
                  </a:txBody>
                  <a:tcPr/>
                </a:tc>
                <a:tc>
                  <a:txBody>
                    <a:bodyPr/>
                    <a:lstStyle/>
                    <a:p>
                      <a:endParaRPr lang="en-CA" dirty="0"/>
                    </a:p>
                  </a:txBody>
                  <a:tcPr/>
                </a:tc>
                <a:tc>
                  <a:txBody>
                    <a:bodyPr/>
                    <a:lstStyle/>
                    <a:p>
                      <a:endParaRPr lang="en-CA" dirty="0"/>
                    </a:p>
                    <a:p>
                      <a:endParaRPr lang="en-CA" dirty="0"/>
                    </a:p>
                  </a:txBody>
                  <a:tcPr/>
                </a:tc>
                <a:extLst>
                  <a:ext uri="{0D108BD9-81ED-4DB2-BD59-A6C34878D82A}">
                    <a16:rowId xmlns:a16="http://schemas.microsoft.com/office/drawing/2014/main" val="3259656828"/>
                  </a:ext>
                </a:extLst>
              </a:tr>
              <a:tr h="640080">
                <a:tc>
                  <a:txBody>
                    <a:bodyPr/>
                    <a:lstStyle/>
                    <a:p>
                      <a:r>
                        <a:rPr lang="en-CA" dirty="0"/>
                        <a:t>Discharge</a:t>
                      </a:r>
                    </a:p>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609732244"/>
                  </a:ext>
                </a:extLst>
              </a:tr>
              <a:tr h="640080">
                <a:tc>
                  <a:txBody>
                    <a:bodyPr/>
                    <a:lstStyle/>
                    <a:p>
                      <a:r>
                        <a:rPr lang="en-CA" dirty="0"/>
                        <a:t>Lymph Nodes</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2498679915"/>
                  </a:ext>
                </a:extLst>
              </a:tr>
              <a:tr h="640080">
                <a:tc>
                  <a:txBody>
                    <a:bodyPr/>
                    <a:lstStyle/>
                    <a:p>
                      <a:r>
                        <a:rPr lang="en-CA" dirty="0"/>
                        <a:t>Pinna Manipulation</a:t>
                      </a:r>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714748340"/>
                  </a:ext>
                </a:extLst>
              </a:tr>
            </a:tbl>
          </a:graphicData>
        </a:graphic>
      </p:graphicFrame>
    </p:spTree>
    <p:extLst>
      <p:ext uri="{BB962C8B-B14F-4D97-AF65-F5344CB8AC3E}">
        <p14:creationId xmlns:p14="http://schemas.microsoft.com/office/powerpoint/2010/main" val="2204925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82D87-2E27-F680-A8E5-977188AAA5A4}"/>
              </a:ext>
            </a:extLst>
          </p:cNvPr>
          <p:cNvSpPr>
            <a:spLocks noGrp="1"/>
          </p:cNvSpPr>
          <p:nvPr>
            <p:ph type="title"/>
          </p:nvPr>
        </p:nvSpPr>
        <p:spPr/>
        <p:txBody>
          <a:bodyPr/>
          <a:lstStyle/>
          <a:p>
            <a:r>
              <a:rPr lang="en-CA" dirty="0"/>
              <a:t>Don’t Miss Diagnosis: Mastoiditis</a:t>
            </a:r>
          </a:p>
        </p:txBody>
      </p:sp>
      <p:sp>
        <p:nvSpPr>
          <p:cNvPr id="3" name="Content Placeholder 2">
            <a:extLst>
              <a:ext uri="{FF2B5EF4-FFF2-40B4-BE49-F238E27FC236}">
                <a16:creationId xmlns:a16="http://schemas.microsoft.com/office/drawing/2014/main" id="{10E4C8F0-0B5A-6B1C-5AEA-3F2505CF0243}"/>
              </a:ext>
            </a:extLst>
          </p:cNvPr>
          <p:cNvSpPr>
            <a:spLocks noGrp="1"/>
          </p:cNvSpPr>
          <p:nvPr>
            <p:ph idx="1"/>
          </p:nvPr>
        </p:nvSpPr>
        <p:spPr/>
        <p:txBody>
          <a:bodyPr/>
          <a:lstStyle/>
          <a:p>
            <a:pPr marL="0" indent="0">
              <a:buNone/>
            </a:pPr>
            <a:r>
              <a:rPr lang="en-CA" dirty="0"/>
              <a:t>	</a:t>
            </a:r>
          </a:p>
        </p:txBody>
      </p:sp>
      <p:sp>
        <p:nvSpPr>
          <p:cNvPr id="4" name="Content Placeholder 2">
            <a:extLst>
              <a:ext uri="{FF2B5EF4-FFF2-40B4-BE49-F238E27FC236}">
                <a16:creationId xmlns:a16="http://schemas.microsoft.com/office/drawing/2014/main" id="{CF2CE291-19B3-63DA-BBA9-7A6743C077FF}"/>
              </a:ext>
            </a:extLst>
          </p:cNvPr>
          <p:cNvSpPr txBox="1">
            <a:spLocks/>
          </p:cNvSpPr>
          <p:nvPr/>
        </p:nvSpPr>
        <p:spPr>
          <a:xfrm>
            <a:off x="699660" y="1605244"/>
            <a:ext cx="10946258" cy="474983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CA" sz="1800" b="1"/>
              <a:t>Definition:</a:t>
            </a:r>
            <a:endParaRPr lang="en-CA" sz="1200"/>
          </a:p>
          <a:p>
            <a:pPr marL="0" indent="0">
              <a:spcBef>
                <a:spcPts val="0"/>
              </a:spcBef>
              <a:buFont typeface="Arial" panose="020B0604020202020204" pitchFamily="34" charset="0"/>
              <a:buNone/>
            </a:pPr>
            <a:r>
              <a:rPr lang="en-CA" sz="1800" b="1"/>
              <a:t>Risks:</a:t>
            </a:r>
            <a:endParaRPr lang="en-CA" sz="1200"/>
          </a:p>
          <a:p>
            <a:pPr marL="0" indent="0">
              <a:spcBef>
                <a:spcPts val="0"/>
              </a:spcBef>
              <a:buFont typeface="Arial" panose="020B0604020202020204" pitchFamily="34" charset="0"/>
              <a:buNone/>
            </a:pPr>
            <a:r>
              <a:rPr lang="en-CA" sz="1800" b="1"/>
              <a:t>Symptoms: </a:t>
            </a:r>
          </a:p>
          <a:p>
            <a:pPr marL="0" indent="0">
              <a:spcBef>
                <a:spcPts val="0"/>
              </a:spcBef>
              <a:buFont typeface="Arial" panose="020B0604020202020204" pitchFamily="34" charset="0"/>
              <a:buNone/>
            </a:pPr>
            <a:r>
              <a:rPr lang="en-CA" sz="1800" b="1"/>
              <a:t>Signs: </a:t>
            </a:r>
          </a:p>
          <a:p>
            <a:pPr marL="0" indent="0">
              <a:spcBef>
                <a:spcPts val="0"/>
              </a:spcBef>
              <a:buFont typeface="Arial" panose="020B0604020202020204" pitchFamily="34" charset="0"/>
              <a:buNone/>
            </a:pPr>
            <a:r>
              <a:rPr lang="en-CA" sz="1800"/>
              <a:t>Physical Examinations: </a:t>
            </a:r>
          </a:p>
          <a:p>
            <a:pPr marL="0" indent="0">
              <a:spcBef>
                <a:spcPts val="0"/>
              </a:spcBef>
              <a:buFont typeface="Arial" panose="020B0604020202020204" pitchFamily="34" charset="0"/>
              <a:buNone/>
            </a:pPr>
            <a:endParaRPr lang="en-CA" sz="1200" b="1"/>
          </a:p>
          <a:p>
            <a:pPr marL="0" indent="0">
              <a:spcBef>
                <a:spcPts val="0"/>
              </a:spcBef>
              <a:buFont typeface="Arial" panose="020B0604020202020204" pitchFamily="34" charset="0"/>
              <a:buNone/>
            </a:pPr>
            <a:r>
              <a:rPr lang="en-CA" sz="1800" b="1"/>
              <a:t>Confirmatory Diagnostics:</a:t>
            </a:r>
            <a:r>
              <a:rPr lang="en-CA" sz="1800"/>
              <a:t> </a:t>
            </a:r>
            <a:endParaRPr lang="en-CA" sz="1800" dirty="0"/>
          </a:p>
        </p:txBody>
      </p:sp>
    </p:spTree>
    <p:extLst>
      <p:ext uri="{BB962C8B-B14F-4D97-AF65-F5344CB8AC3E}">
        <p14:creationId xmlns:p14="http://schemas.microsoft.com/office/powerpoint/2010/main" val="3882639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BD134-9DD1-CF63-7494-10B3524D5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74D98-FAA1-1FB7-2F92-F1645C9ADB9B}"/>
              </a:ext>
            </a:extLst>
          </p:cNvPr>
          <p:cNvSpPr>
            <a:spLocks noGrp="1"/>
          </p:cNvSpPr>
          <p:nvPr>
            <p:ph type="title"/>
          </p:nvPr>
        </p:nvSpPr>
        <p:spPr/>
        <p:txBody>
          <a:bodyPr/>
          <a:lstStyle/>
          <a:p>
            <a:r>
              <a:rPr lang="en-CA" dirty="0"/>
              <a:t>Mastoiditis</a:t>
            </a:r>
          </a:p>
        </p:txBody>
      </p:sp>
      <p:sp>
        <p:nvSpPr>
          <p:cNvPr id="3" name="Content Placeholder 2">
            <a:extLst>
              <a:ext uri="{FF2B5EF4-FFF2-40B4-BE49-F238E27FC236}">
                <a16:creationId xmlns:a16="http://schemas.microsoft.com/office/drawing/2014/main" id="{66F6C86F-B88C-9B6B-65B4-CDF3358E650E}"/>
              </a:ext>
            </a:extLst>
          </p:cNvPr>
          <p:cNvSpPr>
            <a:spLocks noGrp="1"/>
          </p:cNvSpPr>
          <p:nvPr>
            <p:ph idx="1"/>
          </p:nvPr>
        </p:nvSpPr>
        <p:spPr/>
        <p:txBody>
          <a:bodyPr/>
          <a:lstStyle/>
          <a:p>
            <a:pPr marL="0" indent="0">
              <a:buNone/>
            </a:pPr>
            <a:r>
              <a:rPr lang="en-CA" dirty="0"/>
              <a:t>	</a:t>
            </a:r>
          </a:p>
          <a:p>
            <a:pPr marL="0" indent="0">
              <a:buNone/>
            </a:pPr>
            <a:endParaRPr lang="en-CA" dirty="0"/>
          </a:p>
          <a:p>
            <a:pPr marL="0" indent="0">
              <a:buNone/>
            </a:pPr>
            <a:endParaRPr lang="en-CA" dirty="0"/>
          </a:p>
        </p:txBody>
      </p:sp>
      <p:sp>
        <p:nvSpPr>
          <p:cNvPr id="4" name="Content Placeholder 2">
            <a:extLst>
              <a:ext uri="{FF2B5EF4-FFF2-40B4-BE49-F238E27FC236}">
                <a16:creationId xmlns:a16="http://schemas.microsoft.com/office/drawing/2014/main" id="{9B588280-F5F0-7B99-1977-9A6BA59A6AEB}"/>
              </a:ext>
            </a:extLst>
          </p:cNvPr>
          <p:cNvSpPr txBox="1">
            <a:spLocks/>
          </p:cNvSpPr>
          <p:nvPr/>
        </p:nvSpPr>
        <p:spPr>
          <a:xfrm>
            <a:off x="699660" y="1605244"/>
            <a:ext cx="10946258" cy="474983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CA" sz="1800" b="1" dirty="0"/>
              <a:t>Definition: </a:t>
            </a:r>
            <a:r>
              <a:rPr lang="en-CA" sz="1800" dirty="0"/>
              <a:t>infection of the soft tissue surrounding the air spaces in the mastoid bone</a:t>
            </a:r>
            <a:endParaRPr lang="en-CA" sz="1200" dirty="0"/>
          </a:p>
          <a:p>
            <a:pPr marL="0" indent="0">
              <a:spcBef>
                <a:spcPts val="0"/>
              </a:spcBef>
              <a:buFont typeface="Arial" panose="020B0604020202020204" pitchFamily="34" charset="0"/>
              <a:buNone/>
            </a:pPr>
            <a:endParaRPr lang="en-CA" sz="1800" b="1" dirty="0"/>
          </a:p>
          <a:p>
            <a:pPr marL="0" indent="0">
              <a:spcBef>
                <a:spcPts val="0"/>
              </a:spcBef>
              <a:buFont typeface="Arial" panose="020B0604020202020204" pitchFamily="34" charset="0"/>
              <a:buNone/>
            </a:pPr>
            <a:r>
              <a:rPr lang="en-CA" sz="1800" b="1" dirty="0"/>
              <a:t>Risks: </a:t>
            </a:r>
            <a:r>
              <a:rPr lang="en-CA" sz="1800" dirty="0"/>
              <a:t>associated with bacterial otitis media</a:t>
            </a:r>
          </a:p>
          <a:p>
            <a:pPr marL="0" indent="0">
              <a:spcBef>
                <a:spcPts val="0"/>
              </a:spcBef>
              <a:buFont typeface="Arial" panose="020B0604020202020204" pitchFamily="34" charset="0"/>
              <a:buNone/>
            </a:pPr>
            <a:endParaRPr lang="en-CA" sz="1200" dirty="0"/>
          </a:p>
          <a:p>
            <a:pPr marL="0" indent="0">
              <a:spcBef>
                <a:spcPts val="0"/>
              </a:spcBef>
              <a:buFont typeface="Arial" panose="020B0604020202020204" pitchFamily="34" charset="0"/>
              <a:buNone/>
            </a:pPr>
            <a:r>
              <a:rPr lang="en-CA" sz="1800" b="1" dirty="0"/>
              <a:t>Symptoms: </a:t>
            </a:r>
            <a:r>
              <a:rPr lang="en-CA" sz="1800" dirty="0"/>
              <a:t>chronic otitis, pain behind the ear</a:t>
            </a:r>
            <a:r>
              <a:rPr lang="en-CA" sz="1800" b="1" dirty="0"/>
              <a:t> </a:t>
            </a:r>
          </a:p>
          <a:p>
            <a:pPr marL="0" indent="0">
              <a:spcBef>
                <a:spcPts val="0"/>
              </a:spcBef>
              <a:buFont typeface="Arial" panose="020B0604020202020204" pitchFamily="34" charset="0"/>
              <a:buNone/>
            </a:pPr>
            <a:endParaRPr lang="en-CA" sz="1800" b="1" dirty="0"/>
          </a:p>
          <a:p>
            <a:pPr marL="0" indent="0">
              <a:spcBef>
                <a:spcPts val="0"/>
              </a:spcBef>
              <a:buFont typeface="Arial" panose="020B0604020202020204" pitchFamily="34" charset="0"/>
              <a:buNone/>
            </a:pPr>
            <a:r>
              <a:rPr lang="en-CA" sz="1800" b="1" dirty="0"/>
              <a:t>Signs: </a:t>
            </a:r>
          </a:p>
          <a:p>
            <a:pPr marL="0" indent="0">
              <a:spcBef>
                <a:spcPts val="0"/>
              </a:spcBef>
              <a:buFont typeface="Arial" panose="020B0604020202020204" pitchFamily="34" charset="0"/>
              <a:buNone/>
            </a:pPr>
            <a:r>
              <a:rPr lang="en-CA" sz="1800" dirty="0"/>
              <a:t>Physical Examinations: </a:t>
            </a:r>
          </a:p>
          <a:p>
            <a:pPr lvl="1">
              <a:spcBef>
                <a:spcPts val="0"/>
              </a:spcBef>
            </a:pPr>
            <a:r>
              <a:rPr lang="en-CA" sz="1800" dirty="0"/>
              <a:t>Visual inspection reveals erythema &amp; swelling</a:t>
            </a:r>
          </a:p>
          <a:p>
            <a:pPr lvl="1">
              <a:spcBef>
                <a:spcPts val="0"/>
              </a:spcBef>
            </a:pPr>
            <a:r>
              <a:rPr lang="en-CA" sz="1800" dirty="0"/>
              <a:t>Palpation of mastoid process reveals swelling &amp; tenderness</a:t>
            </a:r>
          </a:p>
          <a:p>
            <a:pPr lvl="1">
              <a:spcBef>
                <a:spcPts val="0"/>
              </a:spcBef>
            </a:pPr>
            <a:r>
              <a:rPr lang="en-CA" sz="1800" dirty="0"/>
              <a:t>Vitals: fever </a:t>
            </a:r>
          </a:p>
          <a:p>
            <a:pPr marL="0" indent="0">
              <a:spcBef>
                <a:spcPts val="0"/>
              </a:spcBef>
              <a:buFont typeface="Arial" panose="020B0604020202020204" pitchFamily="34" charset="0"/>
              <a:buNone/>
            </a:pPr>
            <a:endParaRPr lang="en-CA" sz="1200" b="1" dirty="0"/>
          </a:p>
          <a:p>
            <a:pPr marL="0" indent="0">
              <a:spcBef>
                <a:spcPts val="0"/>
              </a:spcBef>
              <a:buFont typeface="Arial" panose="020B0604020202020204" pitchFamily="34" charset="0"/>
              <a:buNone/>
            </a:pPr>
            <a:r>
              <a:rPr lang="en-CA" sz="1800" b="1" dirty="0"/>
              <a:t>Confirmatory Diagnostics:</a:t>
            </a:r>
            <a:r>
              <a:rPr lang="en-CA" sz="1800" dirty="0"/>
              <a:t> </a:t>
            </a:r>
          </a:p>
          <a:p>
            <a:pPr>
              <a:spcBef>
                <a:spcPts val="0"/>
              </a:spcBef>
            </a:pPr>
            <a:r>
              <a:rPr lang="en-CA" sz="1800" dirty="0"/>
              <a:t>X-ray of the mastoid sinus</a:t>
            </a:r>
          </a:p>
          <a:p>
            <a:pPr>
              <a:spcBef>
                <a:spcPts val="0"/>
              </a:spcBef>
            </a:pPr>
            <a:endParaRPr lang="en-CA" sz="1800" dirty="0"/>
          </a:p>
          <a:p>
            <a:pPr marL="0" indent="0">
              <a:spcBef>
                <a:spcPts val="0"/>
              </a:spcBef>
              <a:buNone/>
            </a:pPr>
            <a:r>
              <a:rPr lang="en-CA" sz="1800" dirty="0"/>
              <a:t>** If advanced, referral to ER for ? surgery</a:t>
            </a:r>
          </a:p>
        </p:txBody>
      </p:sp>
    </p:spTree>
    <p:extLst>
      <p:ext uri="{BB962C8B-B14F-4D97-AF65-F5344CB8AC3E}">
        <p14:creationId xmlns:p14="http://schemas.microsoft.com/office/powerpoint/2010/main" val="2898041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1EBC4-E9D1-91D9-83C9-4326EF9088D5}"/>
              </a:ext>
            </a:extLst>
          </p:cNvPr>
          <p:cNvSpPr>
            <a:spLocks noGrp="1"/>
          </p:cNvSpPr>
          <p:nvPr>
            <p:ph type="title"/>
          </p:nvPr>
        </p:nvSpPr>
        <p:spPr>
          <a:xfrm>
            <a:off x="709934" y="112502"/>
            <a:ext cx="10515600" cy="978408"/>
          </a:xfrm>
        </p:spPr>
        <p:txBody>
          <a:bodyPr/>
          <a:lstStyle/>
          <a:p>
            <a:r>
              <a:rPr lang="en-CA" dirty="0"/>
              <a:t>Case Study #2</a:t>
            </a:r>
          </a:p>
        </p:txBody>
      </p:sp>
      <p:sp>
        <p:nvSpPr>
          <p:cNvPr id="3" name="Content Placeholder 2">
            <a:extLst>
              <a:ext uri="{FF2B5EF4-FFF2-40B4-BE49-F238E27FC236}">
                <a16:creationId xmlns:a16="http://schemas.microsoft.com/office/drawing/2014/main" id="{54BDAB5A-0D42-6BC5-6364-EF4DE33B42CB}"/>
              </a:ext>
            </a:extLst>
          </p:cNvPr>
          <p:cNvSpPr>
            <a:spLocks noGrp="1"/>
          </p:cNvSpPr>
          <p:nvPr>
            <p:ph idx="1"/>
          </p:nvPr>
        </p:nvSpPr>
        <p:spPr>
          <a:xfrm>
            <a:off x="838200" y="1203926"/>
            <a:ext cx="10515600" cy="4695635"/>
          </a:xfrm>
        </p:spPr>
        <p:txBody>
          <a:bodyPr>
            <a:noAutofit/>
          </a:bodyPr>
          <a:lstStyle/>
          <a:p>
            <a:pPr marL="0" indent="0">
              <a:buNone/>
            </a:pPr>
            <a:r>
              <a:rPr lang="en-CA" sz="1800" dirty="0"/>
              <a:t>Beth (she/her), a 33-year-old early childhood educator, reports "excruciating pain in the left ear for the past 24 hours." She has no history of ear problems. The history reveals that she teaches swimming part-time for a competitive swim team at the local YMCA. She presents today because the pain is worsening, and she noticed white-to-yellowish drainage from her ear on her pillow this morning. She has no fever.</a:t>
            </a:r>
          </a:p>
          <a:p>
            <a:pPr marL="0" indent="0">
              <a:buNone/>
            </a:pPr>
            <a:endParaRPr lang="en-CA" sz="1800" b="1" dirty="0"/>
          </a:p>
          <a:p>
            <a:pPr marL="0" indent="0">
              <a:buNone/>
            </a:pPr>
            <a:r>
              <a:rPr lang="en-CA" sz="1800" b="1" dirty="0"/>
              <a:t>Questions — Case #2</a:t>
            </a:r>
            <a:endParaRPr lang="en-CA" sz="1800" dirty="0"/>
          </a:p>
          <a:p>
            <a:pPr marL="514350" indent="-514350">
              <a:buFont typeface="+mj-lt"/>
              <a:buAutoNum type="arabicPeriod"/>
            </a:pPr>
            <a:r>
              <a:rPr lang="en-CA" sz="1800" dirty="0"/>
              <a:t>At this stage, list the differential diagnoses the NP should consider based on Beth's presenting symptoms.</a:t>
            </a:r>
          </a:p>
          <a:p>
            <a:pPr marL="514350" indent="-514350">
              <a:buFont typeface="+mj-lt"/>
              <a:buAutoNum type="arabicPeriod"/>
            </a:pPr>
            <a:r>
              <a:rPr lang="en-CA" sz="1800" dirty="0"/>
              <a:t>What physical findings would the NP expect to observe during the examination?</a:t>
            </a:r>
          </a:p>
          <a:p>
            <a:pPr marL="514350" indent="-514350">
              <a:buFont typeface="+mj-lt"/>
              <a:buAutoNum type="arabicPeriod"/>
            </a:pPr>
            <a:r>
              <a:rPr lang="en-CA" sz="1800" dirty="0"/>
              <a:t>What is the most likely causative microorganism?</a:t>
            </a:r>
          </a:p>
          <a:p>
            <a:pPr marL="514350" indent="-514350">
              <a:buFont typeface="+mj-lt"/>
              <a:buAutoNum type="arabicPeriod"/>
            </a:pPr>
            <a:r>
              <a:rPr lang="en-CA" sz="1800" dirty="0"/>
              <a:t>If the tympanic membrane could not be visualized, how should the NP rule out a middle ear infection?</a:t>
            </a:r>
          </a:p>
          <a:p>
            <a:pPr marL="0" indent="0">
              <a:buNone/>
            </a:pPr>
            <a:endParaRPr lang="en-CA" sz="1800" dirty="0"/>
          </a:p>
        </p:txBody>
      </p:sp>
    </p:spTree>
    <p:extLst>
      <p:ext uri="{BB962C8B-B14F-4D97-AF65-F5344CB8AC3E}">
        <p14:creationId xmlns:p14="http://schemas.microsoft.com/office/powerpoint/2010/main" val="2787675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55CE0-B535-CFCC-5A74-DCB9CB43AA7B}"/>
              </a:ext>
            </a:extLst>
          </p:cNvPr>
          <p:cNvSpPr>
            <a:spLocks noGrp="1"/>
          </p:cNvSpPr>
          <p:nvPr>
            <p:ph type="title"/>
          </p:nvPr>
        </p:nvSpPr>
        <p:spPr/>
        <p:txBody>
          <a:bodyPr/>
          <a:lstStyle/>
          <a:p>
            <a:r>
              <a:rPr lang="en-CA" dirty="0"/>
              <a:t>Practice OSCE</a:t>
            </a:r>
          </a:p>
        </p:txBody>
      </p:sp>
    </p:spTree>
    <p:extLst>
      <p:ext uri="{BB962C8B-B14F-4D97-AF65-F5344CB8AC3E}">
        <p14:creationId xmlns:p14="http://schemas.microsoft.com/office/powerpoint/2010/main" val="2145371671"/>
      </p:ext>
    </p:extLst>
  </p:cSld>
  <p:clrMapOvr>
    <a:masterClrMapping/>
  </p:clrMapOvr>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School Days</Template>
  <TotalTime>43</TotalTime>
  <Words>1022</Words>
  <Application>Microsoft Office PowerPoint</Application>
  <PresentationFormat>Widescreen</PresentationFormat>
  <Paragraphs>169</Paragraphs>
  <Slides>19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JasmineUPC</vt:lpstr>
      <vt:lpstr>Raleway</vt:lpstr>
      <vt:lpstr>School Days</vt:lpstr>
      <vt:lpstr>Common Ear Conditions</vt:lpstr>
      <vt:lpstr>PowerPoint Presentation</vt:lpstr>
      <vt:lpstr>PowerPoint Presentation</vt:lpstr>
      <vt:lpstr>Acute Otitis Media (AOM) </vt:lpstr>
      <vt:lpstr>Acute Otitis Media (AOM) </vt:lpstr>
      <vt:lpstr>PowerPoint Presentation</vt:lpstr>
      <vt:lpstr>PowerPoint Presentation</vt:lpstr>
      <vt:lpstr>Otitis Media with Effusion</vt:lpstr>
      <vt:lpstr>Otitis Media with Effusion </vt:lpstr>
      <vt:lpstr>PowerPoint Presentation</vt:lpstr>
      <vt:lpstr>Otitis Externa (External Otitis)</vt:lpstr>
      <vt:lpstr>Otitis Externa </vt:lpstr>
      <vt:lpstr>PowerPoint Presentation</vt:lpstr>
      <vt:lpstr>Let’s Differentiate Together!</vt:lpstr>
      <vt:lpstr>Let’s Differentiate Together!</vt:lpstr>
      <vt:lpstr>Don’t Miss Diagnosis: Mastoiditis</vt:lpstr>
      <vt:lpstr>Mastoiditis</vt:lpstr>
      <vt:lpstr>Case Study #2</vt:lpstr>
      <vt:lpstr>Practice OSCE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Gabrielle Heil</dc:creator>
  <cp:lastModifiedBy>Gabrielle Heil</cp:lastModifiedBy>
  <cp:revision>1</cp:revision>
  <dcterms:created xsi:type="dcterms:W3CDTF">2026-09-16T16:38:49Z</dcterms:created>
  <dcterms:modified xsi:type="dcterms:W3CDTF">2026-09-16T17:21:49Z</dcterms:modified>
</cp:coreProperties>
</file>