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3" r:id="rId5"/>
    <p:sldId id="266" r:id="rId6"/>
    <p:sldId id="258" r:id="rId7"/>
    <p:sldId id="267" r:id="rId8"/>
    <p:sldId id="260" r:id="rId9"/>
    <p:sldId id="268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B5AC9-AE77-2376-907D-82868F35D413}" v="37" dt="2025-06-18T22:59:08.387"/>
    <p1510:client id="{F01C818F-53DF-44FE-855D-43D33E7AEAFE}" v="3" dt="2025-06-18T21:27:59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9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ry Morrell" userId="S::morrells@uwindsor.ca::039425e2-a958-4179-845e-b15ea1621667" providerId="AD" clId="Web-{641B5AC9-AE77-2376-907D-82868F35D413}"/>
    <pc:docChg chg="modSld">
      <pc:chgData name="Sherry Morrell" userId="S::morrells@uwindsor.ca::039425e2-a958-4179-845e-b15ea1621667" providerId="AD" clId="Web-{641B5AC9-AE77-2376-907D-82868F35D413}" dt="2025-06-18T22:59:08.387" v="36" actId="20577"/>
      <pc:docMkLst>
        <pc:docMk/>
      </pc:docMkLst>
      <pc:sldChg chg="addSp modSp">
        <pc:chgData name="Sherry Morrell" userId="S::morrells@uwindsor.ca::039425e2-a958-4179-845e-b15ea1621667" providerId="AD" clId="Web-{641B5AC9-AE77-2376-907D-82868F35D413}" dt="2025-06-18T22:55:33.258" v="31" actId="14100"/>
        <pc:sldMkLst>
          <pc:docMk/>
          <pc:sldMk cId="0" sldId="257"/>
        </pc:sldMkLst>
        <pc:picChg chg="add mod">
          <ac:chgData name="Sherry Morrell" userId="S::morrells@uwindsor.ca::039425e2-a958-4179-845e-b15ea1621667" providerId="AD" clId="Web-{641B5AC9-AE77-2376-907D-82868F35D413}" dt="2025-06-18T22:55:14.774" v="26" actId="14100"/>
          <ac:picMkLst>
            <pc:docMk/>
            <pc:sldMk cId="0" sldId="257"/>
            <ac:picMk id="4" creationId="{4DBB05E6-7922-9655-BDA1-19E088BD0C58}"/>
          </ac:picMkLst>
        </pc:picChg>
        <pc:picChg chg="mod">
          <ac:chgData name="Sherry Morrell" userId="S::morrells@uwindsor.ca::039425e2-a958-4179-845e-b15ea1621667" providerId="AD" clId="Web-{641B5AC9-AE77-2376-907D-82868F35D413}" dt="2025-06-18T22:55:19.883" v="27" actId="14100"/>
          <ac:picMkLst>
            <pc:docMk/>
            <pc:sldMk cId="0" sldId="257"/>
            <ac:picMk id="5" creationId="{4C7CF8D3-9E93-2B52-4CF9-FDE33A217C37}"/>
          </ac:picMkLst>
        </pc:picChg>
        <pc:picChg chg="mod">
          <ac:chgData name="Sherry Morrell" userId="S::morrells@uwindsor.ca::039425e2-a958-4179-845e-b15ea1621667" providerId="AD" clId="Web-{641B5AC9-AE77-2376-907D-82868F35D413}" dt="2025-06-18T22:55:33.258" v="31" actId="14100"/>
          <ac:picMkLst>
            <pc:docMk/>
            <pc:sldMk cId="0" sldId="257"/>
            <ac:picMk id="7" creationId="{3AE03507-905C-69BC-7643-6C3A30499B9A}"/>
          </ac:picMkLst>
        </pc:picChg>
        <pc:picChg chg="mod">
          <ac:chgData name="Sherry Morrell" userId="S::morrells@uwindsor.ca::039425e2-a958-4179-845e-b15ea1621667" providerId="AD" clId="Web-{641B5AC9-AE77-2376-907D-82868F35D413}" dt="2025-06-18T22:55:26.493" v="29" actId="14100"/>
          <ac:picMkLst>
            <pc:docMk/>
            <pc:sldMk cId="0" sldId="257"/>
            <ac:picMk id="9" creationId="{02E94E95-11C9-7B57-C33D-FED3B164D8D9}"/>
          </ac:picMkLst>
        </pc:picChg>
      </pc:sldChg>
      <pc:sldChg chg="modSp">
        <pc:chgData name="Sherry Morrell" userId="S::morrells@uwindsor.ca::039425e2-a958-4179-845e-b15ea1621667" providerId="AD" clId="Web-{641B5AC9-AE77-2376-907D-82868F35D413}" dt="2025-06-18T22:59:08.387" v="36" actId="20577"/>
        <pc:sldMkLst>
          <pc:docMk/>
          <pc:sldMk cId="0" sldId="260"/>
        </pc:sldMkLst>
        <pc:spChg chg="mod">
          <ac:chgData name="Sherry Morrell" userId="S::morrells@uwindsor.ca::039425e2-a958-4179-845e-b15ea1621667" providerId="AD" clId="Web-{641B5AC9-AE77-2376-907D-82868F35D413}" dt="2025-06-18T22:59:08.387" v="36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  <pc:docChgLst>
    <pc:chgData name="Sherry Morrell" userId="039425e2-a958-4179-845e-b15ea1621667" providerId="ADAL" clId="{F01C818F-53DF-44FE-855D-43D33E7AEAFE}"/>
    <pc:docChg chg="undo custSel addSld delSld modSld sldOrd">
      <pc:chgData name="Sherry Morrell" userId="039425e2-a958-4179-845e-b15ea1621667" providerId="ADAL" clId="{F01C818F-53DF-44FE-855D-43D33E7AEAFE}" dt="2025-06-18T21:30:52.660" v="98" actId="20577"/>
      <pc:docMkLst>
        <pc:docMk/>
      </pc:docMkLst>
      <pc:sldChg chg="del">
        <pc:chgData name="Sherry Morrell" userId="039425e2-a958-4179-845e-b15ea1621667" providerId="ADAL" clId="{F01C818F-53DF-44FE-855D-43D33E7AEAFE}" dt="2025-06-18T21:12:58.138" v="5" actId="47"/>
        <pc:sldMkLst>
          <pc:docMk/>
          <pc:sldMk cId="204145784" sldId="264"/>
        </pc:sldMkLst>
      </pc:sldChg>
      <pc:sldChg chg="addSp delSp modSp new mod ord delAnim modAnim">
        <pc:chgData name="Sherry Morrell" userId="039425e2-a958-4179-845e-b15ea1621667" providerId="ADAL" clId="{F01C818F-53DF-44FE-855D-43D33E7AEAFE}" dt="2025-06-18T21:30:52.660" v="98" actId="20577"/>
        <pc:sldMkLst>
          <pc:docMk/>
          <pc:sldMk cId="1380594351" sldId="268"/>
        </pc:sldMkLst>
        <pc:spChg chg="mod">
          <ac:chgData name="Sherry Morrell" userId="039425e2-a958-4179-845e-b15ea1621667" providerId="ADAL" clId="{F01C818F-53DF-44FE-855D-43D33E7AEAFE}" dt="2025-06-18T21:30:52.660" v="98" actId="20577"/>
          <ac:spMkLst>
            <pc:docMk/>
            <pc:sldMk cId="1380594351" sldId="268"/>
            <ac:spMk id="2" creationId="{BE871385-ECDC-24E4-189D-05E760000D77}"/>
          </ac:spMkLst>
        </pc:spChg>
        <pc:spChg chg="mod">
          <ac:chgData name="Sherry Morrell" userId="039425e2-a958-4179-845e-b15ea1621667" providerId="ADAL" clId="{F01C818F-53DF-44FE-855D-43D33E7AEAFE}" dt="2025-06-18T21:13:28.340" v="44" actId="20577"/>
          <ac:spMkLst>
            <pc:docMk/>
            <pc:sldMk cId="1380594351" sldId="268"/>
            <ac:spMk id="3" creationId="{CB7AB1FC-4D8A-246F-1F44-1E4AFAAAB682}"/>
          </ac:spMkLst>
        </pc:spChg>
        <pc:spChg chg="del">
          <ac:chgData name="Sherry Morrell" userId="039425e2-a958-4179-845e-b15ea1621667" providerId="ADAL" clId="{F01C818F-53DF-44FE-855D-43D33E7AEAFE}" dt="2025-06-18T21:14:00.994" v="45"/>
          <ac:spMkLst>
            <pc:docMk/>
            <pc:sldMk cId="1380594351" sldId="268"/>
            <ac:spMk id="4" creationId="{AA3FEEEF-F3B0-0025-AA5D-7ADFF717AE8D}"/>
          </ac:spMkLst>
        </pc:spChg>
        <pc:spChg chg="mod">
          <ac:chgData name="Sherry Morrell" userId="039425e2-a958-4179-845e-b15ea1621667" providerId="ADAL" clId="{F01C818F-53DF-44FE-855D-43D33E7AEAFE}" dt="2025-06-18T21:30:29.039" v="90" actId="20577"/>
          <ac:spMkLst>
            <pc:docMk/>
            <pc:sldMk cId="1380594351" sldId="268"/>
            <ac:spMk id="5" creationId="{0190B632-4AE9-3E20-3787-25141D4B65E3}"/>
          </ac:spMkLst>
        </pc:spChg>
        <pc:spChg chg="del">
          <ac:chgData name="Sherry Morrell" userId="039425e2-a958-4179-845e-b15ea1621667" providerId="ADAL" clId="{F01C818F-53DF-44FE-855D-43D33E7AEAFE}" dt="2025-06-18T21:15:48.886" v="46"/>
          <ac:spMkLst>
            <pc:docMk/>
            <pc:sldMk cId="1380594351" sldId="268"/>
            <ac:spMk id="6" creationId="{865E97E4-A82D-9838-F0D1-194655136267}"/>
          </ac:spMkLst>
        </pc:spChg>
        <pc:spChg chg="add del mod">
          <ac:chgData name="Sherry Morrell" userId="039425e2-a958-4179-845e-b15ea1621667" providerId="ADAL" clId="{F01C818F-53DF-44FE-855D-43D33E7AEAFE}" dt="2025-06-18T21:27:59.874" v="66"/>
          <ac:spMkLst>
            <pc:docMk/>
            <pc:sldMk cId="1380594351" sldId="268"/>
            <ac:spMk id="10" creationId="{3551E16F-E124-8FED-3EDF-2272AC94290D}"/>
          </ac:spMkLst>
        </pc:spChg>
        <pc:picChg chg="add mod">
          <ac:chgData name="Sherry Morrell" userId="039425e2-a958-4179-845e-b15ea1621667" providerId="ADAL" clId="{F01C818F-53DF-44FE-855D-43D33E7AEAFE}" dt="2025-06-18T21:28:02.619" v="67" actId="1076"/>
          <ac:picMkLst>
            <pc:docMk/>
            <pc:sldMk cId="1380594351" sldId="268"/>
            <ac:picMk id="7" creationId="{779E6D4F-9B10-3C69-7C12-B2B006B64E27}"/>
          </ac:picMkLst>
        </pc:picChg>
        <pc:picChg chg="add del mod">
          <ac:chgData name="Sherry Morrell" userId="039425e2-a958-4179-845e-b15ea1621667" providerId="ADAL" clId="{F01C818F-53DF-44FE-855D-43D33E7AEAFE}" dt="2025-06-18T21:25:33.278" v="65" actId="478"/>
          <ac:picMkLst>
            <pc:docMk/>
            <pc:sldMk cId="1380594351" sldId="268"/>
            <ac:picMk id="8" creationId="{728B488C-1509-FAAB-7857-B7815717E3A7}"/>
          </ac:picMkLst>
        </pc:picChg>
        <pc:picChg chg="add mod">
          <ac:chgData name="Sherry Morrell" userId="039425e2-a958-4179-845e-b15ea1621667" providerId="ADAL" clId="{F01C818F-53DF-44FE-855D-43D33E7AEAFE}" dt="2025-06-18T21:30:32.342" v="91" actId="1076"/>
          <ac:picMkLst>
            <pc:docMk/>
            <pc:sldMk cId="1380594351" sldId="268"/>
            <ac:picMk id="11" creationId="{F02F7B5E-437C-524E-12B1-0BDFA3A48429}"/>
          </ac:picMkLst>
        </pc:picChg>
      </pc:sldChg>
      <pc:sldChg chg="new del">
        <pc:chgData name="Sherry Morrell" userId="039425e2-a958-4179-845e-b15ea1621667" providerId="ADAL" clId="{F01C818F-53DF-44FE-855D-43D33E7AEAFE}" dt="2025-06-18T21:12:40.359" v="1" actId="680"/>
        <pc:sldMkLst>
          <pc:docMk/>
          <pc:sldMk cId="3238640453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https://www.youtube.com/embed/Zyb048DOIBo?feature=oembed" TargetMode="External"/><Relationship Id="rId1" Type="http://schemas.openxmlformats.org/officeDocument/2006/relationships/video" Target="https://www.youtube.com/embed/fkfPh9O2c6Q?feature=oembed" TargetMode="Externa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books/NBK48238%200/" TargetMode="External"/><Relationship Id="rId2" Type="http://schemas.openxmlformats.org/officeDocument/2006/relationships/hyperlink" Target="https://dermnetnz.org/topics/electrosurger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4103/JCAS.JCAS_226_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Electrocoagulation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dirty="0"/>
              <a:t>lectrocoagulation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6201" y="1166018"/>
            <a:ext cx="8905875" cy="4525963"/>
          </a:xfrm>
        </p:spPr>
        <p:txBody>
          <a:bodyPr>
            <a:normAutofit/>
          </a:bodyPr>
          <a:lstStyle/>
          <a:p>
            <a:r>
              <a:rPr lang="en-US" dirty="0"/>
              <a:t>De</a:t>
            </a:r>
            <a:r>
              <a:rPr dirty="0"/>
              <a:t>rmatological procedure</a:t>
            </a:r>
            <a:r>
              <a:rPr lang="en-US" dirty="0"/>
              <a:t>s- hemostasis or destruction of abnormal skin growths</a:t>
            </a:r>
          </a:p>
          <a:p>
            <a:r>
              <a:rPr lang="en-US" dirty="0"/>
              <a:t>monopolar or bipolar electrodes to produce low voltage and high-amperage current at low power</a:t>
            </a:r>
            <a:endParaRPr lang="en-CA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CF8D3-9E93-2B52-4CF9-FDE33A217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2" y="3807597"/>
            <a:ext cx="3446144" cy="30461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E03507-905C-69BC-7643-6C3A30499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40" y="3807597"/>
            <a:ext cx="2110863" cy="15237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E94E95-11C9-7B57-C33D-FED3B164D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207" y="5341913"/>
            <a:ext cx="2086920" cy="15308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BB05E6-7922-9655-BDA1-19E088BD0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742" y="3803466"/>
            <a:ext cx="2869477" cy="27780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2E31-A60F-519F-E9BB-F7CBCF35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3E8A2-E712-9115-AB0A-32C290E45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Superficial skin ablation: acrochordons (skin tag), actinic keratosis, small angiomas, epidermal nevus, seborrheic keratosis, verruca plana, or hemostasis for capillary bleeding</a:t>
            </a:r>
          </a:p>
          <a:p>
            <a:r>
              <a:rPr lang="en-CA" dirty="0"/>
              <a:t>Deep skin ablation: </a:t>
            </a:r>
            <a:r>
              <a:rPr lang="en-CA" dirty="0" err="1"/>
              <a:t>angiofibromas</a:t>
            </a:r>
            <a:r>
              <a:rPr lang="en-CA" dirty="0"/>
              <a:t>, basal cell carcinoma, Bowen’s disease, squamous cell carcinoma, ingrown toenail </a:t>
            </a:r>
            <a:r>
              <a:rPr lang="en-CA" dirty="0" err="1"/>
              <a:t>matrixectomy</a:t>
            </a:r>
            <a:r>
              <a:rPr lang="en-CA" dirty="0"/>
              <a:t>, sebaceous hyperplasia, hemostasis from arterial bleeding, benign adnexal tumors (</a:t>
            </a:r>
            <a:r>
              <a:rPr lang="en-CA" dirty="0" err="1"/>
              <a:t>syringoma</a:t>
            </a:r>
            <a:r>
              <a:rPr lang="en-CA" dirty="0"/>
              <a:t>, trichoepithelioma), or verruca vulgaris</a:t>
            </a:r>
          </a:p>
        </p:txBody>
      </p:sp>
    </p:spTree>
    <p:extLst>
      <p:ext uri="{BB962C8B-B14F-4D97-AF65-F5344CB8AC3E}">
        <p14:creationId xmlns:p14="http://schemas.microsoft.com/office/powerpoint/2010/main" val="2289701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09DE5-E5C4-9897-ABFD-13ADFA2F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Contraindications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FCA5D-FB26-FCE0-C7E4-FEA061378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Infection at the treatment site</a:t>
            </a:r>
          </a:p>
          <a:p>
            <a:r>
              <a:rPr lang="en-US" dirty="0"/>
              <a:t>Not an absolute contraindication- electrosurgery in patients with cardiac pacemakers or implantable cardiac defibrillator (ICD) devices-  flow of electrical can interfere with the functioning of these devices</a:t>
            </a:r>
          </a:p>
          <a:p>
            <a:r>
              <a:rPr lang="en-US" dirty="0"/>
              <a:t>Electrocautery-harmless to the fetus when used in the mother- reduce smoke plume exposure which can be mutagenic and carcinogenic</a:t>
            </a:r>
          </a:p>
        </p:txBody>
      </p:sp>
    </p:spTree>
    <p:extLst>
      <p:ext uri="{BB962C8B-B14F-4D97-AF65-F5344CB8AC3E}">
        <p14:creationId xmlns:p14="http://schemas.microsoft.com/office/powerpoint/2010/main" val="1407548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C49D5-93C8-2614-82FB-8FF40A925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DDEC-591C-6633-4359-036404293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1C1A2-90E9-0302-2CA6-752C383E4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Surrounding skin cleansed with an antiseptic agent (chlorhexidine or povidone-iodine)</a:t>
            </a:r>
          </a:p>
          <a:p>
            <a:r>
              <a:rPr lang="en-US" dirty="0"/>
              <a:t>Alcohol should be avoided or allowed to dry- can ignite with electrosurgery</a:t>
            </a:r>
          </a:p>
          <a:p>
            <a:r>
              <a:rPr lang="en-US" dirty="0"/>
              <a:t>Sterile sleeves are placed over the wand handle</a:t>
            </a:r>
          </a:p>
          <a:p>
            <a:r>
              <a:rPr lang="en-US" dirty="0"/>
              <a:t>New disposable electrode tips </a:t>
            </a:r>
          </a:p>
          <a:p>
            <a:r>
              <a:rPr lang="en-US" dirty="0"/>
              <a:t>Eye protection, gloves, and masks worn by operator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6571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 takes a few minutes</a:t>
            </a:r>
          </a:p>
          <a:p>
            <a:r>
              <a:rPr lang="en-US" dirty="0"/>
              <a:t>Apply current- </a:t>
            </a:r>
            <a:r>
              <a:rPr dirty="0"/>
              <a:t>heat</a:t>
            </a:r>
            <a:r>
              <a:rPr lang="en-US" dirty="0"/>
              <a:t>ed </a:t>
            </a:r>
            <a:r>
              <a:rPr dirty="0"/>
              <a:t>filament</a:t>
            </a:r>
            <a:r>
              <a:rPr lang="en-US" dirty="0"/>
              <a:t>/</a:t>
            </a:r>
            <a:r>
              <a:rPr dirty="0"/>
              <a:t>probe, which is gently touched to the skin</a:t>
            </a:r>
          </a:p>
          <a:p>
            <a:r>
              <a:rPr lang="en-US" dirty="0"/>
              <a:t>H</a:t>
            </a:r>
            <a:r>
              <a:rPr dirty="0"/>
              <a:t>eat cauterizes the tissue, destroying or coagulating the lesion or blood vesse</a:t>
            </a:r>
            <a:r>
              <a:rPr lang="en-US" dirty="0"/>
              <a:t>l</a:t>
            </a:r>
          </a:p>
          <a:p>
            <a:r>
              <a:rPr lang="en-US" dirty="0"/>
              <a:t>Post application- cleanse &amp; antibiotic ointment prn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CB226-B036-1B4A-35D8-4DA4CCC8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Complications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BE13-6C09-9653-63F8-B4F9727A2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Delayed bleeding and scarring with hypopigmentation</a:t>
            </a:r>
          </a:p>
          <a:p>
            <a:r>
              <a:rPr lang="en-US" dirty="0"/>
              <a:t>Infection</a:t>
            </a:r>
          </a:p>
          <a:p>
            <a:r>
              <a:rPr lang="en-US" dirty="0"/>
              <a:t>Thermoelectric burns</a:t>
            </a:r>
          </a:p>
          <a:p>
            <a:r>
              <a:rPr lang="en-US" dirty="0"/>
              <a:t>Fire risk in presence of alcohol, oxygen, or bowel gases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83704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Information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Clean the affected area with cleansing solution and apply topical ointment twice daily if ordered</a:t>
            </a:r>
          </a:p>
          <a:p>
            <a:r>
              <a:rPr lang="en-US" dirty="0"/>
              <a:t>Scab may form- 5 - 14 days to drop off</a:t>
            </a:r>
            <a:endParaRPr dirty="0"/>
          </a:p>
          <a:p>
            <a:r>
              <a:rPr lang="en-US" dirty="0"/>
              <a:t>Avoid excessive sun exposure- minimize </a:t>
            </a:r>
            <a:r>
              <a:rPr lang="en-US" dirty="0">
                <a:solidFill>
                  <a:srgbClr val="000000"/>
                </a:solidFill>
              </a:rPr>
              <a:t>hyperpigmentation</a:t>
            </a:r>
            <a:endParaRPr lang="en-US" dirty="0"/>
          </a:p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1385-ECDC-24E4-189D-05E76000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YouTube Videos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AB1FC-4D8A-246F-1F44-1E4AFAAAB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Wart Removal</a:t>
            </a:r>
            <a:endParaRPr lang="en-CA" dirty="0"/>
          </a:p>
        </p:txBody>
      </p:sp>
      <p:pic>
        <p:nvPicPr>
          <p:cNvPr id="7" name="Online Media 6" title="WART REMOVAL WITH ELECTROCAUTERY EXPLAINED">
            <a:hlinkClick r:id="" action="ppaction://media"/>
            <a:extLst>
              <a:ext uri="{FF2B5EF4-FFF2-40B4-BE49-F238E27FC236}">
                <a16:creationId xmlns:a16="http://schemas.microsoft.com/office/drawing/2014/main" id="{779E6D4F-9B10-3C69-7C12-B2B006B64E27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9563" y="2174875"/>
            <a:ext cx="4040188" cy="228282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0B632-4AE9-3E20-3787-25141D4B6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Skin Tag Removal</a:t>
            </a:r>
            <a:endParaRPr lang="en-CA" dirty="0"/>
          </a:p>
        </p:txBody>
      </p:sp>
      <p:pic>
        <p:nvPicPr>
          <p:cNvPr id="11" name="Online Media 10" title="How to Remove Skin Tags around Neck with Electric Cautery | Skin Tag Removal Procedure">
            <a:hlinkClick r:id="" action="ppaction://media"/>
            <a:extLst>
              <a:ext uri="{FF2B5EF4-FFF2-40B4-BE49-F238E27FC236}">
                <a16:creationId xmlns:a16="http://schemas.microsoft.com/office/drawing/2014/main" id="{F02F7B5E-437C-524E-12B1-0BDFA3A48429}"/>
              </a:ext>
            </a:extLst>
          </p:cNvPr>
          <p:cNvPicPr>
            <a:picLocks noGrp="1" noRot="1" noChangeAspect="1"/>
          </p:cNvPicPr>
          <p:nvPr>
            <p:ph sz="quarter" idx="4"/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4645024" y="2195511"/>
            <a:ext cx="4041775" cy="228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9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Electrosurgery. </a:t>
            </a:r>
            <a:r>
              <a:rPr lang="en-US" dirty="0" err="1"/>
              <a:t>DermNet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https://dermnetnz.org/topics/electrosurgery</a:t>
            </a:r>
            <a:endParaRPr lang="en-US" dirty="0"/>
          </a:p>
          <a:p>
            <a:r>
              <a:rPr lang="en-CA" dirty="0"/>
              <a:t>Baigrie D, </a:t>
            </a:r>
            <a:r>
              <a:rPr lang="en-CA" dirty="0" err="1"/>
              <a:t>Qafiti</a:t>
            </a:r>
            <a:r>
              <a:rPr lang="en-CA" dirty="0"/>
              <a:t> FN, </a:t>
            </a:r>
            <a:r>
              <a:rPr lang="en-CA" dirty="0" err="1"/>
              <a:t>Buicko</a:t>
            </a:r>
            <a:r>
              <a:rPr lang="en-CA" dirty="0"/>
              <a:t> Lopez JL. Electrosurgery. [Updated 2023 May 22]. In: </a:t>
            </a:r>
            <a:r>
              <a:rPr lang="en-CA" dirty="0" err="1"/>
              <a:t>StatPearls</a:t>
            </a:r>
            <a:r>
              <a:rPr lang="en-CA" dirty="0"/>
              <a:t> [Internet]. Treasure Island (FL): </a:t>
            </a:r>
            <a:r>
              <a:rPr lang="en-CA" dirty="0" err="1"/>
              <a:t>StatPearls</a:t>
            </a:r>
            <a:r>
              <a:rPr lang="en-CA" dirty="0"/>
              <a:t> Publishing; 2025 Jan-. Available from: </a:t>
            </a:r>
            <a:r>
              <a:rPr lang="en-CA" dirty="0">
                <a:hlinkClick r:id="rId3"/>
              </a:rPr>
              <a:t>https://www.ncbi.nlm.nih.gov/books/NBK48238 0/</a:t>
            </a:r>
            <a:r>
              <a:rPr lang="en-CA" dirty="0"/>
              <a:t> </a:t>
            </a:r>
          </a:p>
          <a:p>
            <a:r>
              <a:rPr lang="en-US" dirty="0"/>
              <a:t>Garg, A. M., &amp; Mysore, V. (2022). Dermatologic and Cosmetic Procedures in Pregnancy. </a:t>
            </a:r>
            <a:r>
              <a:rPr lang="en-US" i="1" dirty="0"/>
              <a:t>Journal of cutaneous and aesthetic surgery</a:t>
            </a:r>
            <a:r>
              <a:rPr lang="en-US" dirty="0"/>
              <a:t>, </a:t>
            </a:r>
            <a:r>
              <a:rPr lang="en-US" i="1" dirty="0"/>
              <a:t>15</a:t>
            </a:r>
            <a:r>
              <a:rPr lang="en-US" dirty="0"/>
              <a:t>(2), 108–117. </a:t>
            </a:r>
            <a:r>
              <a:rPr lang="en-US" dirty="0">
                <a:hlinkClick r:id="rId4"/>
              </a:rPr>
              <a:t>https://doi.org/10.4103/JCAS.JCAS_226_20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427</Words>
  <Application>Microsoft Office PowerPoint</Application>
  <PresentationFormat>On-screen Show (4:3)</PresentationFormat>
  <Paragraphs>40</Paragraphs>
  <Slides>10</Slides>
  <Notes>0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Electrocoagulation</vt:lpstr>
      <vt:lpstr>Electrocoagulation</vt:lpstr>
      <vt:lpstr>Indication</vt:lpstr>
      <vt:lpstr>Contraindications</vt:lpstr>
      <vt:lpstr>Preparation</vt:lpstr>
      <vt:lpstr>Technique</vt:lpstr>
      <vt:lpstr>Complications</vt:lpstr>
      <vt:lpstr>Patient Information</vt:lpstr>
      <vt:lpstr>YouTube Videos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Sherry Morrell</cp:lastModifiedBy>
  <cp:revision>24</cp:revision>
  <dcterms:created xsi:type="dcterms:W3CDTF">2013-01-27T09:14:16Z</dcterms:created>
  <dcterms:modified xsi:type="dcterms:W3CDTF">2025-06-18T22:59:08Z</dcterms:modified>
  <cp:category/>
</cp:coreProperties>
</file>