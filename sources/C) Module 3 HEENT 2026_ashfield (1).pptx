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5"/>
  </p:sldMasterIdLst>
  <p:notesMasterIdLst>
    <p:notesMasterId r:id="rId21"/>
  </p:notesMasterIdLst>
  <p:handoutMasterIdLst>
    <p:handoutMasterId r:id="rId22"/>
  </p:handoutMasterIdLst>
  <p:sldIdLst>
    <p:sldId id="256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6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81" autoAdjust="0"/>
    <p:restoredTop sz="94605" autoAdjust="0"/>
  </p:normalViewPr>
  <p:slideViewPr>
    <p:cSldViewPr snapToGrid="0">
      <p:cViewPr varScale="1">
        <p:scale>
          <a:sx n="127" d="100"/>
          <a:sy n="127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acc.org/cln/articles/2018/september/the-evolution-of-group-a-streptococcus-pharyngitis-testing" TargetMode="External"/><Relationship Id="rId2" Type="http://schemas.openxmlformats.org/officeDocument/2006/relationships/hyperlink" Target="https://cps.ca/en/documents/position/group-a-streptococc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285" y="965709"/>
            <a:ext cx="6565391" cy="2730498"/>
          </a:xfrm>
        </p:spPr>
        <p:txBody>
          <a:bodyPr>
            <a:normAutofit/>
          </a:bodyPr>
          <a:lstStyle/>
          <a:p>
            <a:r>
              <a:rPr lang="en-US" altLang="en-US" sz="3600" b="1" dirty="0"/>
              <a:t>An Evidence Based Approach to Investigations for the  Ear, Nose &amp; Throat System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4165600"/>
            <a:ext cx="5280027" cy="1371599"/>
          </a:xfrm>
        </p:spPr>
        <p:txBody>
          <a:bodyPr>
            <a:normAutofit/>
          </a:bodyPr>
          <a:lstStyle/>
          <a:p>
            <a:r>
              <a:rPr lang="en-US" altLang="en-US" sz="1600" dirty="0"/>
              <a:t>Developed by Joanne Opsteen NP-PHC BScN MSc</a:t>
            </a:r>
          </a:p>
          <a:p>
            <a:r>
              <a:rPr lang="en-US" altLang="en-US" sz="1200" dirty="0"/>
              <a:t>Revised by dr </a:t>
            </a:r>
            <a:r>
              <a:rPr lang="en-US" altLang="en-US" sz="1200" dirty="0" err="1"/>
              <a:t>lynne</a:t>
            </a:r>
            <a:r>
              <a:rPr lang="en-US" altLang="en-US" sz="1200" dirty="0"/>
              <a:t> Thibeault, NP-PHC  &amp; Dr. Sarah Ashfield NP-PHC, PhD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cap="none" dirty="0"/>
              <a:t>Common tests used for the 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cap="none" dirty="0"/>
              <a:t>Throat culture for group A streptococcus (GAS)</a:t>
            </a:r>
          </a:p>
          <a:p>
            <a:r>
              <a:rPr lang="en-CA" cap="none" dirty="0"/>
              <a:t>Rapid antigen detection tests for group A streptococcus (GAS) (rat)</a:t>
            </a:r>
          </a:p>
          <a:p>
            <a:r>
              <a:rPr lang="en-CA" cap="none" dirty="0"/>
              <a:t>Culture and sensitivity (C&amp;S) (indicate site)</a:t>
            </a:r>
          </a:p>
          <a:p>
            <a:r>
              <a:rPr lang="en-CA" cap="none" dirty="0"/>
              <a:t>CBC with differential</a:t>
            </a:r>
          </a:p>
          <a:p>
            <a:r>
              <a:rPr lang="en-CA" cap="none" dirty="0"/>
              <a:t>Heterophile antibody test (</a:t>
            </a:r>
            <a:r>
              <a:rPr lang="en-CA" cap="none" dirty="0" err="1"/>
              <a:t>monospot</a:t>
            </a:r>
            <a:r>
              <a:rPr lang="en-CA" cap="none" dirty="0"/>
              <a:t>) for </a:t>
            </a:r>
            <a:r>
              <a:rPr lang="en-CA" cap="none" dirty="0" err="1"/>
              <a:t>epstein-barr</a:t>
            </a:r>
            <a:r>
              <a:rPr lang="en-CA" cap="none" dirty="0"/>
              <a:t> virus</a:t>
            </a:r>
          </a:p>
          <a:p>
            <a:r>
              <a:rPr lang="en-CA" cap="none"/>
              <a:t>ESR</a:t>
            </a:r>
            <a:endParaRPr lang="en-CA" cap="none" dirty="0"/>
          </a:p>
          <a:p>
            <a:r>
              <a:rPr lang="en-CA" cap="none" dirty="0"/>
              <a:t>Audiometry – test for hearing loss</a:t>
            </a:r>
          </a:p>
          <a:p>
            <a:r>
              <a:rPr lang="en-CA" cap="none" dirty="0"/>
              <a:t>Tympanometry – tests middle ear function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6551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/>
              <a:t>Pharyngitis</a:t>
            </a:r>
            <a:endParaRPr lang="en-CA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altLang="en-US" cap="none" dirty="0"/>
              <a:t>Mark is a </a:t>
            </a:r>
            <a:r>
              <a:rPr lang="en-US" altLang="en-US" b="1" cap="none" dirty="0"/>
              <a:t>13-year-old male </a:t>
            </a:r>
            <a:r>
              <a:rPr lang="en-US" altLang="en-US" cap="none" dirty="0"/>
              <a:t>who presents with a 3-day history of fever, fatigue, sore throat and swollen tender glands. He </a:t>
            </a:r>
            <a:r>
              <a:rPr lang="en-US" altLang="en-US" b="1" cap="none" dirty="0"/>
              <a:t>denies any cough</a:t>
            </a:r>
            <a:r>
              <a:rPr lang="en-US" altLang="en-US" cap="none" dirty="0"/>
              <a:t>.  His past medical history is unremarkable.</a:t>
            </a:r>
          </a:p>
          <a:p>
            <a:pPr>
              <a:buNone/>
            </a:pPr>
            <a:r>
              <a:rPr lang="en-US" altLang="en-US" dirty="0"/>
              <a:t> </a:t>
            </a:r>
            <a:r>
              <a:rPr lang="en-US" altLang="en-US" cap="none" dirty="0"/>
              <a:t>Physical exam: t 37.8 c with </a:t>
            </a:r>
            <a:r>
              <a:rPr lang="en-US" altLang="en-US" b="1" cap="none" dirty="0"/>
              <a:t>anterior and posterior cervical node lymphadenopathy</a:t>
            </a:r>
            <a:r>
              <a:rPr lang="en-US" altLang="en-US" cap="none" dirty="0"/>
              <a:t>, and </a:t>
            </a:r>
            <a:r>
              <a:rPr lang="en-US" altLang="en-US" b="1" cap="none" dirty="0"/>
              <a:t>tonsillar exudate and swelling</a:t>
            </a:r>
            <a:r>
              <a:rPr lang="en-US" altLang="en-US" cap="none" dirty="0"/>
              <a:t>. No splenomegaly.  </a:t>
            </a:r>
            <a:r>
              <a:rPr lang="en-US" altLang="en-US" b="1" cap="none" dirty="0"/>
              <a:t>Sore throat score = 4.</a:t>
            </a:r>
          </a:p>
          <a:p>
            <a:pPr>
              <a:buNone/>
            </a:pPr>
            <a:r>
              <a:rPr lang="en-US" altLang="en-US" cap="none" dirty="0"/>
              <a:t>	The office rapid antigen detection test (rapid strep) is negative. </a:t>
            </a:r>
          </a:p>
          <a:p>
            <a:pPr>
              <a:buNone/>
            </a:pPr>
            <a:r>
              <a:rPr lang="en-US" altLang="en-US" cap="none" dirty="0"/>
              <a:t>The np orders </a:t>
            </a:r>
            <a:r>
              <a:rPr lang="en-US" altLang="en-US" cap="none" dirty="0" err="1"/>
              <a:t>cbc</a:t>
            </a:r>
            <a:r>
              <a:rPr lang="en-US" altLang="en-US" cap="none" dirty="0"/>
              <a:t>, heterophile antibody “</a:t>
            </a:r>
            <a:r>
              <a:rPr lang="en-US" altLang="en-US" cap="none" dirty="0" err="1"/>
              <a:t>monospot</a:t>
            </a:r>
            <a:r>
              <a:rPr lang="en-US" altLang="en-US" cap="none" dirty="0"/>
              <a:t>” test and throat culture.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3602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/>
              <a:t>Rapid antigen detection tests (RAT) for </a:t>
            </a:r>
            <a:r>
              <a:rPr lang="en-US" b="1" cap="none" dirty="0"/>
              <a:t>group A streptococcus (</a:t>
            </a:r>
            <a:r>
              <a:rPr lang="en-CA" b="1" cap="none" dirty="0"/>
              <a:t>GAS</a:t>
            </a:r>
            <a:r>
              <a:rPr lang="en-US" b="1" cap="none" dirty="0"/>
              <a:t>) </a:t>
            </a:r>
            <a:endParaRPr lang="en-CA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cap="none" dirty="0"/>
              <a:t>Sensitivity of 70-90%; specificity 95-100%</a:t>
            </a:r>
          </a:p>
          <a:p>
            <a:r>
              <a:rPr lang="en-US" altLang="en-US" cap="none" dirty="0"/>
              <a:t>Negative RAT in </a:t>
            </a:r>
            <a:r>
              <a:rPr lang="en-US" altLang="en-US" b="1" cap="none" dirty="0"/>
              <a:t>children and adolescents</a:t>
            </a:r>
            <a:r>
              <a:rPr lang="en-US" altLang="en-US" cap="none" dirty="0"/>
              <a:t> (age 3-14 year of age) </a:t>
            </a:r>
            <a:r>
              <a:rPr lang="en-US" altLang="en-US" b="1" cap="none" dirty="0"/>
              <a:t>needs confirmation with culture</a:t>
            </a:r>
            <a:r>
              <a:rPr lang="en-US" altLang="en-US" cap="none" dirty="0"/>
              <a:t>. </a:t>
            </a:r>
          </a:p>
          <a:p>
            <a:r>
              <a:rPr lang="en-US" altLang="en-US" cap="none" dirty="0"/>
              <a:t>Positive RAT do not necessitate a back-up culture </a:t>
            </a:r>
          </a:p>
          <a:p>
            <a:r>
              <a:rPr lang="en-US" altLang="en-US" cap="none" dirty="0"/>
              <a:t>Does not differentiate between viable and nonviable bacteria </a:t>
            </a:r>
          </a:p>
          <a:p>
            <a:r>
              <a:rPr lang="en-US" altLang="en-US" cap="none" dirty="0"/>
              <a:t>False positive = non-pathogenic oral streptococci. </a:t>
            </a:r>
            <a:r>
              <a:rPr lang="en-US" altLang="en-US" b="1" cap="none" dirty="0"/>
              <a:t>Wait 3-4 weeks after treatment</a:t>
            </a:r>
            <a:r>
              <a:rPr lang="en-US" altLang="en-US" cap="none" dirty="0"/>
              <a:t> of confirmed cause of GAS. Perform culture if questioning possible reoccurrence.</a:t>
            </a:r>
          </a:p>
          <a:p>
            <a:endParaRPr lang="en-US" altLang="en-US" dirty="0"/>
          </a:p>
          <a:p>
            <a:pPr>
              <a:lnSpc>
                <a:spcPct val="90000"/>
              </a:lnSpc>
              <a:buNone/>
            </a:pPr>
            <a:r>
              <a:rPr lang="en-US" altLang="en-US" sz="1400" dirty="0">
                <a:hlinkClick r:id="rId2"/>
              </a:rPr>
              <a:t>https://cps.ca/en/documents/position/group-a-streptococcal</a:t>
            </a:r>
            <a:r>
              <a:rPr lang="en-US" altLang="en-US" sz="1400" dirty="0"/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1400" dirty="0"/>
              <a:t>Gerber et al (2004). Rapid </a:t>
            </a:r>
            <a:r>
              <a:rPr lang="en-US" altLang="en-US" sz="1400" dirty="0" err="1"/>
              <a:t>Dx</a:t>
            </a:r>
            <a:r>
              <a:rPr lang="en-US" altLang="en-US" sz="1400" dirty="0"/>
              <a:t> of pharyngitis caused by GAS. Clinical </a:t>
            </a:r>
            <a:r>
              <a:rPr lang="en-US" altLang="en-US" sz="1400" dirty="0" err="1"/>
              <a:t>Microbio</a:t>
            </a:r>
            <a:r>
              <a:rPr lang="en-US" altLang="en-US" sz="1400" dirty="0"/>
              <a:t> Rev, 17, 3, 571-580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/>
              <a:t>Shulman et al (2012). CPG for </a:t>
            </a:r>
            <a:r>
              <a:rPr lang="en-US" altLang="en-US" sz="1400" dirty="0" err="1"/>
              <a:t>Dx</a:t>
            </a:r>
            <a:r>
              <a:rPr lang="en-US" altLang="en-US" sz="1400" dirty="0"/>
              <a:t> &amp; </a:t>
            </a:r>
            <a:r>
              <a:rPr lang="en-US" altLang="en-US" sz="1400" dirty="0" err="1"/>
              <a:t>Mgt</a:t>
            </a:r>
            <a:r>
              <a:rPr lang="en-US" altLang="en-US" sz="1400" dirty="0"/>
              <a:t> GAS pharyngitis. </a:t>
            </a:r>
            <a:r>
              <a:rPr lang="en-US" altLang="en-US" sz="1400" dirty="0" err="1"/>
              <a:t>Clin</a:t>
            </a:r>
            <a:r>
              <a:rPr lang="en-US" altLang="en-US" sz="1400" dirty="0"/>
              <a:t> Infect Disease, 55,10, e86-e102</a:t>
            </a:r>
          </a:p>
          <a:p>
            <a:pPr marL="0" indent="0">
              <a:buNone/>
            </a:pPr>
            <a:r>
              <a:rPr lang="en-CA" sz="1400" dirty="0">
                <a:hlinkClick r:id="rId3"/>
              </a:rPr>
              <a:t>https://www.aacc.org/cln/articles/2018/september/the-evolution-of-group-a-streptococcus-pharyngitis-testing</a:t>
            </a:r>
            <a:endParaRPr lang="en-CA" sz="1400" dirty="0"/>
          </a:p>
          <a:p>
            <a:pPr marL="0" indent="0"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79482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cap="none" dirty="0"/>
              <a:t>Pharyngitis</a:t>
            </a:r>
            <a:endParaRPr lang="en-CA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89654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80000"/>
              </a:lnSpc>
              <a:buNone/>
            </a:pPr>
            <a:r>
              <a:rPr lang="en-CA" sz="6200" cap="none" dirty="0"/>
              <a:t>Mark’s results: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Hgb 158 g/l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b="1" cap="none" dirty="0">
                <a:sym typeface="Wingdings" panose="05000000000000000000" pitchFamily="2" charset="2"/>
              </a:rPr>
              <a:t></a:t>
            </a:r>
            <a:r>
              <a:rPr lang="en-US" altLang="en-US" sz="6200" cap="none" dirty="0"/>
              <a:t> </a:t>
            </a:r>
            <a:r>
              <a:rPr lang="en-US" altLang="en-US" sz="6200" b="1" cap="none" dirty="0" err="1"/>
              <a:t>Wbc</a:t>
            </a:r>
            <a:r>
              <a:rPr lang="en-US" altLang="en-US" sz="6200" cap="none" dirty="0"/>
              <a:t>	13.0x10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 (3.5-10.5)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Platelets	150x10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Differential: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>
                <a:sym typeface="Wingdings" panose="05000000000000000000" pitchFamily="2" charset="2"/>
              </a:rPr>
              <a:t> </a:t>
            </a:r>
            <a:r>
              <a:rPr lang="en-US" altLang="en-US" sz="6200" cap="none" dirty="0"/>
              <a:t>Neutrophils	1.9x10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 (2-7)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b="1" cap="none" dirty="0">
                <a:sym typeface="Wingdings" panose="05000000000000000000" pitchFamily="2" charset="2"/>
              </a:rPr>
              <a:t></a:t>
            </a:r>
            <a:r>
              <a:rPr lang="en-US" altLang="en-US" sz="6200" cap="none" dirty="0"/>
              <a:t> </a:t>
            </a:r>
            <a:r>
              <a:rPr lang="en-US" altLang="en-US" sz="6200" b="1" cap="none" dirty="0" err="1"/>
              <a:t>Lymphs</a:t>
            </a:r>
            <a:r>
              <a:rPr lang="en-US" altLang="en-US" sz="6200" cap="none" dirty="0"/>
              <a:t>	10.0 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 (1.5-3.4)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	Monocytes	0.8x10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	Eosinophils	0.4x10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	Basophils	0.0x10</a:t>
            </a:r>
            <a:r>
              <a:rPr lang="en-US" altLang="en-US" sz="6200" cap="none" baseline="30000" dirty="0"/>
              <a:t>9</a:t>
            </a:r>
            <a:r>
              <a:rPr lang="en-US" altLang="en-US" sz="6200" cap="none" dirty="0"/>
              <a:t>/L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cap="none" dirty="0"/>
              <a:t>Comment: </a:t>
            </a:r>
            <a:r>
              <a:rPr lang="en-US" altLang="en-US" sz="6200" u="sng" cap="none" dirty="0"/>
              <a:t>moderate</a:t>
            </a:r>
            <a:r>
              <a:rPr lang="en-US" altLang="en-US" sz="6200" cap="none" dirty="0"/>
              <a:t> atypical lymphocytes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b="1" cap="none" dirty="0"/>
              <a:t>Heterophile test</a:t>
            </a:r>
            <a:r>
              <a:rPr lang="en-US" altLang="en-US" sz="6200" cap="none" dirty="0"/>
              <a:t> </a:t>
            </a:r>
            <a:r>
              <a:rPr lang="en-US" altLang="en-US" sz="6200" b="1" cap="none" dirty="0"/>
              <a:t>negative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6200" b="1" cap="none" dirty="0"/>
              <a:t>Throat culture negative for GAS</a:t>
            </a:r>
          </a:p>
          <a:p>
            <a:endParaRPr lang="en-CA" dirty="0"/>
          </a:p>
          <a:p>
            <a:endParaRPr lang="en-CA" dirty="0"/>
          </a:p>
        </p:txBody>
      </p:sp>
      <p:pic>
        <p:nvPicPr>
          <p:cNvPr id="4" name="Picture 8" descr="BD10637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047997"/>
            <a:ext cx="2514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761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2" descr="hemopoie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89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56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WBC </a:t>
            </a:r>
            <a:r>
              <a:rPr lang="en-US" altLang="en-US" sz="4400" kern="0" cap="none" dirty="0">
                <a:solidFill>
                  <a:srgbClr val="333399"/>
                </a:solidFill>
                <a:latin typeface="Tahoma"/>
              </a:rPr>
              <a:t>(3.5-10.5 </a:t>
            </a:r>
            <a:r>
              <a:rPr lang="en-US" altLang="en-US" sz="2400" kern="0" cap="none" dirty="0">
                <a:solidFill>
                  <a:srgbClr val="333399"/>
                </a:solidFill>
                <a:latin typeface="Tahoma"/>
              </a:rPr>
              <a:t>x10 9/L</a:t>
            </a:r>
            <a:r>
              <a:rPr lang="en-US" altLang="en-US" sz="4400" kern="0" cap="none" dirty="0">
                <a:solidFill>
                  <a:srgbClr val="333399"/>
                </a:solidFill>
                <a:latin typeface="Tahoma"/>
              </a:rPr>
              <a:t>)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Leukocytosis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Reactive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b="1" kern="0" cap="none" dirty="0">
                <a:solidFill>
                  <a:srgbClr val="000000"/>
                </a:solidFill>
                <a:latin typeface="Tahoma"/>
              </a:rPr>
              <a:t>Infection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kern="0" cap="none" dirty="0">
                <a:solidFill>
                  <a:srgbClr val="000000"/>
                </a:solidFill>
                <a:latin typeface="Tahoma"/>
              </a:rPr>
              <a:t>Inflammation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kern="0" cap="none" dirty="0">
                <a:solidFill>
                  <a:srgbClr val="000000"/>
                </a:solidFill>
                <a:latin typeface="Tahoma"/>
              </a:rPr>
              <a:t>Stress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Neoplastic 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en-US" kern="0" cap="none" dirty="0">
                <a:solidFill>
                  <a:srgbClr val="000000"/>
                </a:solidFill>
                <a:latin typeface="Tahoma"/>
              </a:rPr>
              <a:t>Leukemias &amp; other hematologic disorders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None/>
            </a:pPr>
            <a:r>
              <a:rPr lang="en-US" altLang="en-US" b="1" kern="0" cap="none" dirty="0">
                <a:solidFill>
                  <a:srgbClr val="000000"/>
                </a:solidFill>
                <a:latin typeface="Tahoma"/>
              </a:rPr>
              <a:t>*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Differential </a:t>
            </a:r>
            <a:r>
              <a:rPr lang="en-US" altLang="en-US" sz="2400" b="1" kern="0" cap="none" dirty="0" err="1">
                <a:solidFill>
                  <a:srgbClr val="000000"/>
                </a:solidFill>
                <a:latin typeface="Tahoma"/>
              </a:rPr>
              <a:t>wbc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 count usually abnormal </a:t>
            </a:r>
          </a:p>
          <a:p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Leukopenia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Overwhelming infection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Bone marrow failure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Autoimmune disease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Drugs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- most common cause of acquired leukopenia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More common in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Black &amp; Asian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population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AutoNum type="arabicPeriod"/>
            </a:pP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pPr marL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cap="none" dirty="0">
                <a:solidFill>
                  <a:srgbClr val="FF3300"/>
                </a:solidFill>
                <a:latin typeface="Arial" panose="020B0604020202020204" pitchFamily="34" charset="0"/>
              </a:rPr>
              <a:t>Maunder, R. (2011). Understanding laboratory tests. Elsevier Saunders, Toronto</a:t>
            </a:r>
          </a:p>
          <a:p>
            <a:endParaRPr lang="en-CA" dirty="0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92F1A3E-A66E-4742-8D84-745A73FD44E3}"/>
              </a:ext>
            </a:extLst>
          </p:cNvPr>
          <p:cNvSpPr/>
          <p:nvPr/>
        </p:nvSpPr>
        <p:spPr>
          <a:xfrm>
            <a:off x="4937760" y="2214694"/>
            <a:ext cx="484632" cy="53612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C17E7D32-6EFC-4C93-84CD-B56F8AFAABC0}"/>
              </a:ext>
            </a:extLst>
          </p:cNvPr>
          <p:cNvSpPr/>
          <p:nvPr/>
        </p:nvSpPr>
        <p:spPr>
          <a:xfrm rot="10800000">
            <a:off x="10313670" y="2099028"/>
            <a:ext cx="484632" cy="53612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Neutrophils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Neutrophilia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Acute bacterial 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infection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Tissue necrosis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Hemolysis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Acute hemorrhage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Leukemia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Neutropenia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Infections: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viral 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illnesses (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HIV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, hepatitis), malaria, typhoid fever 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Drugs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Bone marrow suppression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Splenomegaly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Severe and prolonged illness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Lower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Blacks and Asians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387D0-7B58-4A29-9E35-0FADDD21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223305" y="2034369"/>
            <a:ext cx="542591" cy="513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8ED597-A3FC-4920-8BC0-216AC742D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949" y="2086651"/>
            <a:ext cx="542591" cy="5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7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Lymphocytes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Lymphocytosis</a:t>
            </a:r>
          </a:p>
          <a:p>
            <a:pPr marL="533400" lvl="0" indent="-533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Acute </a:t>
            </a:r>
            <a:r>
              <a:rPr lang="en-US" altLang="en-US" sz="2800" b="1" kern="0" cap="none" dirty="0">
                <a:solidFill>
                  <a:srgbClr val="000000"/>
                </a:solidFill>
                <a:latin typeface="Tahoma"/>
              </a:rPr>
              <a:t>viral</a:t>
            </a: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 infections (mono)</a:t>
            </a:r>
          </a:p>
          <a:p>
            <a:pPr marL="533400" lvl="0" indent="-533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Some chronic infections: viral hepatitis</a:t>
            </a:r>
          </a:p>
          <a:p>
            <a:pPr marL="533400" lvl="0" indent="-533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Malignancies</a:t>
            </a:r>
          </a:p>
          <a:p>
            <a:pPr marL="533400" lvl="0" indent="-5334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Adrenal insufficiency</a:t>
            </a:r>
          </a:p>
          <a:p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Lymphocytopenia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 kern="0" cap="none" dirty="0">
                <a:solidFill>
                  <a:srgbClr val="000000"/>
                </a:solidFill>
                <a:latin typeface="Tahoma"/>
              </a:rPr>
              <a:t>Immunodeficiency diseases (AIDS)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Bone marrow suppression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Malignancies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Steroid use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Systemic lupus</a:t>
            </a:r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9920D-D91D-42B4-AF96-54F0B34C0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04" y="2214694"/>
            <a:ext cx="542591" cy="5433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CD2A5E-A29F-450E-A4C8-5BA61019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35009" y="2214694"/>
            <a:ext cx="542591" cy="5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5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Monocytes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Monocytosis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Recovery phase of acute bacterial infections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Chronic bacterial infections (TB) 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Chronic inflammatory disorders (Crohn’s disease)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Proliferative bone marrow disorders</a:t>
            </a:r>
          </a:p>
          <a:p>
            <a:pPr marL="533400" lvl="0" indent="-533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400" b="1" kern="0" cap="none" dirty="0">
              <a:solidFill>
                <a:srgbClr val="000000"/>
              </a:solidFill>
              <a:latin typeface="Tahoma"/>
            </a:endParaRPr>
          </a:p>
          <a:p>
            <a:pPr marL="533400" lvl="0" indent="-533400" algn="ctr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endParaRPr lang="en-US" altLang="en-US" sz="2400" b="1" kern="0" cap="none" dirty="0">
              <a:solidFill>
                <a:srgbClr val="000000"/>
              </a:solidFill>
              <a:latin typeface="Tahoma"/>
            </a:endParaRPr>
          </a:p>
          <a:p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Monocytopenia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Corticosteroid use</a:t>
            </a:r>
          </a:p>
          <a:p>
            <a:endParaRPr lang="en-CA" dirty="0"/>
          </a:p>
        </p:txBody>
      </p:sp>
      <p:pic>
        <p:nvPicPr>
          <p:cNvPr id="5" name="Picture 5" descr="j02509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20" y="3733797"/>
            <a:ext cx="21907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2BCB3D-9E60-4E8E-9170-DCB25FC1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114" y="2214694"/>
            <a:ext cx="542591" cy="546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E46F46-4108-4DE0-BA00-7582D9D4E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193044" y="2214694"/>
            <a:ext cx="542591" cy="5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95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Eosinophils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Eosinophilia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3 W’s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Worms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- parasitic infections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Wheezes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– allergic disorders, drug reactions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Weird diseases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–Addison, neoplasms</a:t>
            </a:r>
          </a:p>
          <a:p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ctr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FF0000"/>
                </a:solidFill>
                <a:latin typeface="Tahoma"/>
              </a:rPr>
              <a:t>Eosinopenia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Corticosteroid use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Stress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Drugs</a:t>
            </a:r>
          </a:p>
          <a:p>
            <a:endParaRPr lang="en-CA" dirty="0"/>
          </a:p>
        </p:txBody>
      </p:sp>
      <p:pic>
        <p:nvPicPr>
          <p:cNvPr id="5" name="Picture 5" descr="j02889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3962397"/>
            <a:ext cx="1346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4167F4-8199-4CCB-8A6C-1A85F7D3C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54" y="2214694"/>
            <a:ext cx="542591" cy="560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B7BA27-891A-43B8-ABC3-D0017BF9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071100" y="2286276"/>
            <a:ext cx="542591" cy="5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0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Basophils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33400" lvl="0" indent="-533400" algn="ctr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Basophilia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Myeloproliferative disease </a:t>
            </a:r>
            <a:r>
              <a:rPr lang="en-US" altLang="en-US" sz="2800" b="1" kern="0" cap="none" dirty="0">
                <a:solidFill>
                  <a:srgbClr val="000000"/>
                </a:solidFill>
                <a:latin typeface="Tahoma"/>
              </a:rPr>
              <a:t>(leukemia) until proven otherwise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Acute inflammation</a:t>
            </a:r>
          </a:p>
          <a:p>
            <a:pPr marL="533400" lvl="0" indent="-5334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Allergic reaction</a:t>
            </a:r>
          </a:p>
          <a:p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800" b="1" kern="0" cap="none" dirty="0">
                <a:solidFill>
                  <a:srgbClr val="FF0000"/>
                </a:solidFill>
                <a:latin typeface="Tahoma"/>
              </a:rPr>
              <a:t>Basopenia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kern="0" cap="none" dirty="0">
                <a:solidFill>
                  <a:srgbClr val="000000"/>
                </a:solidFill>
                <a:latin typeface="Tahoma"/>
              </a:rPr>
              <a:t>Not generally a clinical problem</a:t>
            </a:r>
          </a:p>
          <a:p>
            <a:endParaRPr lang="en-CA" dirty="0"/>
          </a:p>
        </p:txBody>
      </p:sp>
      <p:pic>
        <p:nvPicPr>
          <p:cNvPr id="5" name="Picture 5" descr="hm00361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959224"/>
            <a:ext cx="3011488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4D1F55-E195-4708-B754-60925D714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44" y="2214694"/>
            <a:ext cx="542591" cy="68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57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kern="0" cap="none" dirty="0">
                <a:solidFill>
                  <a:srgbClr val="333399"/>
                </a:solidFill>
                <a:latin typeface="Tahoma"/>
              </a:rPr>
              <a:t>Pharyngitis</a:t>
            </a:r>
            <a:endParaRPr lang="en-CA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Hb 		158g/L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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WBC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	13.0x10</a:t>
            </a:r>
            <a:r>
              <a:rPr lang="en-US" altLang="en-US" sz="24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/L (3.5-10.5)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Platelets	150x10</a:t>
            </a:r>
            <a:r>
              <a:rPr lang="en-US" altLang="en-US" sz="24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/L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Differential: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 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Neutrophils	1.9x10</a:t>
            </a:r>
            <a:r>
              <a:rPr lang="en-US" altLang="en-US" sz="18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/L (2-7)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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altLang="en-US" sz="1800" b="1" kern="0" cap="none" dirty="0" err="1">
                <a:solidFill>
                  <a:srgbClr val="000000"/>
                </a:solidFill>
                <a:latin typeface="Tahoma"/>
              </a:rPr>
              <a:t>Lymphs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	10.0 x10</a:t>
            </a:r>
            <a:r>
              <a:rPr lang="en-US" altLang="en-US" sz="18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/L (1.5-3.4)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	Monocytes	0.8x10</a:t>
            </a:r>
            <a:r>
              <a:rPr lang="en-US" altLang="en-US" sz="18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/L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	Eosinophils	0.4x10</a:t>
            </a:r>
            <a:r>
              <a:rPr lang="en-US" altLang="en-US" sz="18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/l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	Basophils	0.0x10</a:t>
            </a:r>
            <a:r>
              <a:rPr lang="en-US" altLang="en-US" sz="1800" kern="0" cap="none" baseline="30000" dirty="0">
                <a:solidFill>
                  <a:srgbClr val="000000"/>
                </a:solidFill>
                <a:latin typeface="Tahoma"/>
              </a:rPr>
              <a:t>9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/L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Comment: </a:t>
            </a:r>
            <a:r>
              <a:rPr lang="en-US" altLang="en-US" sz="1800" u="sng" kern="0" cap="none" dirty="0">
                <a:solidFill>
                  <a:srgbClr val="000000"/>
                </a:solidFill>
                <a:latin typeface="Tahoma"/>
              </a:rPr>
              <a:t>moderate</a:t>
            </a:r>
            <a:r>
              <a:rPr lang="en-US" altLang="en-US" sz="1800" kern="0" cap="none" dirty="0">
                <a:solidFill>
                  <a:srgbClr val="000000"/>
                </a:solidFill>
                <a:latin typeface="Tahoma"/>
              </a:rPr>
              <a:t> atypical lymphocytes</a:t>
            </a: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endParaRPr lang="en-CA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Heterophile “ </a:t>
            </a:r>
            <a:r>
              <a:rPr lang="en-US" altLang="en-US" sz="2400" kern="0" cap="none" dirty="0" err="1">
                <a:solidFill>
                  <a:srgbClr val="000000"/>
                </a:solidFill>
                <a:latin typeface="Tahoma"/>
              </a:rPr>
              <a:t>monospot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” 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test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negative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Leukocytosis (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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WBC)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Neutropenia (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 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Neutrophils)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Lymphocytosis (</a:t>
            </a:r>
            <a:r>
              <a:rPr lang="en-US" altLang="en-US" sz="2800" b="1" kern="0" cap="none" dirty="0">
                <a:solidFill>
                  <a:srgbClr val="000000"/>
                </a:solidFill>
                <a:latin typeface="Tahoma"/>
                <a:sym typeface="Wingdings" panose="05000000000000000000" pitchFamily="2" charset="2"/>
              </a:rPr>
              <a:t>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altLang="en-US" sz="2400" kern="0" cap="none" dirty="0" err="1">
                <a:solidFill>
                  <a:srgbClr val="000000"/>
                </a:solidFill>
                <a:latin typeface="Tahoma"/>
              </a:rPr>
              <a:t>Lymphs</a:t>
            </a: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)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Throat culture </a:t>
            </a:r>
            <a:r>
              <a:rPr lang="en-US" altLang="en-US" sz="2400" b="1" kern="0" cap="none" dirty="0">
                <a:solidFill>
                  <a:srgbClr val="000000"/>
                </a:solidFill>
                <a:latin typeface="Tahoma"/>
              </a:rPr>
              <a:t>negative GAS</a:t>
            </a: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  <a:p>
            <a:pPr marL="0" lvl="0" indent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2400" kern="0" cap="none" dirty="0">
                <a:solidFill>
                  <a:srgbClr val="000000"/>
                </a:solidFill>
                <a:latin typeface="Tahoma"/>
              </a:rPr>
              <a:t>Diagnosis:  Viral </a:t>
            </a:r>
            <a:r>
              <a:rPr lang="en-CA" altLang="en-US" sz="2400" kern="0" cap="none" dirty="0">
                <a:solidFill>
                  <a:srgbClr val="000000"/>
                </a:solidFill>
                <a:latin typeface="Tahoma"/>
              </a:rPr>
              <a:t>etiology</a:t>
            </a:r>
            <a:endParaRPr lang="en-US" altLang="en-US" sz="2400" kern="0" cap="none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8" name="Picture 6" descr="BD10637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352" y="4835049"/>
            <a:ext cx="20574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343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kern="0" cap="none" dirty="0">
                <a:solidFill>
                  <a:srgbClr val="333399"/>
                </a:solidFill>
                <a:latin typeface="Tahoma"/>
              </a:rPr>
              <a:t>Heterophile antibody (Monospot)</a:t>
            </a:r>
            <a:r>
              <a:rPr lang="en-US" altLang="en-US" sz="4400" kern="0" cap="none" dirty="0">
                <a:solidFill>
                  <a:srgbClr val="333399"/>
                </a:solidFill>
                <a:latin typeface="Tahoma"/>
              </a:rPr>
              <a:t> </a:t>
            </a:r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kern="0" cap="none" dirty="0" err="1">
                <a:solidFill>
                  <a:srgbClr val="000000"/>
                </a:solidFill>
                <a:latin typeface="Tahoma"/>
              </a:rPr>
              <a:t>Monospot</a:t>
            </a:r>
            <a:r>
              <a:rPr lang="en-US" altLang="en-US" sz="3200" kern="0" cap="none" dirty="0">
                <a:solidFill>
                  <a:srgbClr val="000000"/>
                </a:solidFill>
                <a:latin typeface="Tahoma"/>
              </a:rPr>
              <a:t> test </a:t>
            </a:r>
            <a:r>
              <a:rPr lang="en-US" altLang="en-US" sz="3200" b="1" kern="0" cap="none" dirty="0">
                <a:solidFill>
                  <a:srgbClr val="000000"/>
                </a:solidFill>
                <a:latin typeface="Tahoma"/>
              </a:rPr>
              <a:t>25% false negative rate in first week &amp; 5% in week 3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b="1" kern="0" cap="none" dirty="0">
                <a:solidFill>
                  <a:srgbClr val="000000"/>
                </a:solidFill>
                <a:latin typeface="Tahoma"/>
              </a:rPr>
              <a:t>Consider repeating</a:t>
            </a:r>
            <a:r>
              <a:rPr lang="en-US" altLang="en-US" sz="3200" kern="0" cap="none" dirty="0">
                <a:solidFill>
                  <a:srgbClr val="000000"/>
                </a:solidFill>
                <a:latin typeface="Tahoma"/>
              </a:rPr>
              <a:t> heterophile antibody in 7-14 days if patient still symptomatic to rule in/out mononucleosis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3200" kern="0" cap="none" dirty="0">
                <a:solidFill>
                  <a:srgbClr val="000000"/>
                </a:solidFill>
                <a:latin typeface="Tahoma"/>
              </a:rPr>
              <a:t>Lower sensitivity in children &lt; 12 years of age &amp; immunocompromised  - order </a:t>
            </a:r>
            <a:r>
              <a:rPr lang="en-US" altLang="en-US" sz="3200" kern="0" cap="none" dirty="0" err="1">
                <a:solidFill>
                  <a:srgbClr val="000000"/>
                </a:solidFill>
                <a:latin typeface="Tahoma"/>
              </a:rPr>
              <a:t>epstein-barr</a:t>
            </a:r>
            <a:r>
              <a:rPr lang="en-US" altLang="en-US" sz="3200" kern="0" cap="none" dirty="0">
                <a:solidFill>
                  <a:srgbClr val="000000"/>
                </a:solidFill>
                <a:latin typeface="Tahoma"/>
              </a:rPr>
              <a:t> serology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3200" kern="0" cap="none" dirty="0">
              <a:solidFill>
                <a:srgbClr val="000000"/>
              </a:solidFill>
              <a:latin typeface="Tahoma"/>
            </a:endParaRPr>
          </a:p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endParaRPr lang="en-US" altLang="en-US" sz="3200" kern="0" cap="none" dirty="0">
              <a:solidFill>
                <a:srgbClr val="000000"/>
              </a:solidFill>
              <a:latin typeface="Tahoma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</a:pPr>
            <a:r>
              <a:rPr lang="en-US" altLang="en-US" sz="1200" kern="0" cap="none" dirty="0" err="1">
                <a:solidFill>
                  <a:srgbClr val="000000"/>
                </a:solidFill>
                <a:latin typeface="Tahoma"/>
              </a:rPr>
              <a:t>Smellie</a:t>
            </a:r>
            <a:r>
              <a:rPr lang="en-US" altLang="en-US" sz="1200" kern="0" cap="none" dirty="0">
                <a:solidFill>
                  <a:srgbClr val="000000"/>
                </a:solidFill>
                <a:latin typeface="Tahoma"/>
              </a:rPr>
              <a:t> W.S.A. et al (2007). Best practice in primary care pathology: review 7. </a:t>
            </a:r>
            <a:r>
              <a:rPr lang="en-US" altLang="en-US" sz="1200" i="1" kern="0" cap="none" dirty="0">
                <a:solidFill>
                  <a:srgbClr val="000000"/>
                </a:solidFill>
                <a:latin typeface="Tahoma"/>
              </a:rPr>
              <a:t>J. </a:t>
            </a:r>
            <a:r>
              <a:rPr lang="en-US" altLang="en-US" sz="1200" i="1" kern="0" cap="none" dirty="0" err="1">
                <a:solidFill>
                  <a:srgbClr val="000000"/>
                </a:solidFill>
                <a:latin typeface="Tahoma"/>
              </a:rPr>
              <a:t>Clin</a:t>
            </a:r>
            <a:r>
              <a:rPr lang="en-US" altLang="en-US" sz="1200" i="1" kern="0" cap="none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altLang="en-US" sz="1200" i="1" kern="0" cap="none" dirty="0" err="1">
                <a:solidFill>
                  <a:srgbClr val="000000"/>
                </a:solidFill>
                <a:latin typeface="Tahoma"/>
              </a:rPr>
              <a:t>Pathol</a:t>
            </a:r>
            <a:r>
              <a:rPr lang="en-US" altLang="en-US" sz="1200" i="1" kern="0" cap="none" dirty="0">
                <a:solidFill>
                  <a:srgbClr val="000000"/>
                </a:solidFill>
                <a:latin typeface="Tahoma"/>
              </a:rPr>
              <a:t>. </a:t>
            </a:r>
            <a:r>
              <a:rPr lang="en-US" altLang="en-US" sz="1200" kern="0" cap="none" dirty="0">
                <a:solidFill>
                  <a:srgbClr val="000000"/>
                </a:solidFill>
                <a:latin typeface="Tahoma"/>
              </a:rPr>
              <a:t>60, 458-465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7541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fr-CA" sz="1600" cap="none" dirty="0">
                <a:latin typeface="Arial Rounded MT Bold" panose="020F0704030504030204" pitchFamily="34" charset="0"/>
              </a:rPr>
              <a:t>Anti-</a:t>
            </a:r>
            <a:r>
              <a:rPr lang="fr-CA" sz="1600" cap="none" dirty="0" err="1">
                <a:latin typeface="Arial Rounded MT Bold" panose="020F0704030504030204" pitchFamily="34" charset="0"/>
              </a:rPr>
              <a:t>Infective</a:t>
            </a:r>
            <a:r>
              <a:rPr lang="fr-CA" sz="1600" cap="none" dirty="0">
                <a:latin typeface="Arial Rounded MT Bold" panose="020F0704030504030204" pitchFamily="34" charset="0"/>
              </a:rPr>
              <a:t> </a:t>
            </a:r>
            <a:r>
              <a:rPr lang="fr-CA" sz="1600" cap="none" dirty="0" err="1">
                <a:latin typeface="Arial Rounded MT Bold" panose="020F0704030504030204" pitchFamily="34" charset="0"/>
              </a:rPr>
              <a:t>Review</a:t>
            </a:r>
            <a:r>
              <a:rPr lang="fr-CA" sz="1600" cap="none" dirty="0">
                <a:latin typeface="Arial Rounded MT Bold" panose="020F0704030504030204" pitchFamily="34" charset="0"/>
              </a:rPr>
              <a:t> Panel. (2019). </a:t>
            </a:r>
            <a:r>
              <a:rPr lang="fr-CA" sz="1600" i="1" cap="none" dirty="0">
                <a:latin typeface="Arial Rounded MT Bold" panose="020F0704030504030204" pitchFamily="34" charset="0"/>
              </a:rPr>
              <a:t>Anti-</a:t>
            </a:r>
            <a:r>
              <a:rPr lang="fr-CA" sz="1600" i="1" cap="none" dirty="0" err="1">
                <a:latin typeface="Arial Rounded MT Bold" panose="020F0704030504030204" pitchFamily="34" charset="0"/>
              </a:rPr>
              <a:t>infective</a:t>
            </a:r>
            <a:r>
              <a:rPr lang="fr-CA" sz="1600" i="1" cap="none" dirty="0">
                <a:latin typeface="Arial Rounded MT Bold" panose="020F0704030504030204" pitchFamily="34" charset="0"/>
              </a:rPr>
              <a:t> guidelines for </a:t>
            </a:r>
            <a:r>
              <a:rPr lang="fr-CA" sz="1600" i="1" cap="none" dirty="0" err="1">
                <a:latin typeface="Arial Rounded MT Bold" panose="020F0704030504030204" pitchFamily="34" charset="0"/>
              </a:rPr>
              <a:t>community-acquired</a:t>
            </a:r>
            <a:r>
              <a:rPr lang="fr-CA" sz="1600" i="1" cap="none" dirty="0">
                <a:latin typeface="Arial Rounded MT Bold" panose="020F0704030504030204" pitchFamily="34" charset="0"/>
              </a:rPr>
              <a:t> infections</a:t>
            </a:r>
            <a:r>
              <a:rPr lang="fr-CA" sz="1600" cap="none" dirty="0">
                <a:latin typeface="Arial Rounded MT Bold" panose="020F0704030504030204" pitchFamily="34" charset="0"/>
              </a:rPr>
              <a:t>. Toronto: MUMS.</a:t>
            </a:r>
            <a:endParaRPr lang="en-US" altLang="en-US" sz="1600" cap="none" dirty="0">
              <a:latin typeface="Arial Rounded MT Bold" panose="020F07040305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600" cap="none" dirty="0">
                <a:latin typeface="Arial Rounded MT Bold" panose="020F0704030504030204" pitchFamily="34" charset="0"/>
              </a:rPr>
              <a:t>Gerber et al (2004). Rapid dx of pharyngitis caused by GAS. Clinical </a:t>
            </a:r>
            <a:r>
              <a:rPr lang="en-US" altLang="en-US" sz="1600" cap="none" dirty="0" err="1">
                <a:latin typeface="Arial Rounded MT Bold" panose="020F0704030504030204" pitchFamily="34" charset="0"/>
              </a:rPr>
              <a:t>Microbio</a:t>
            </a:r>
            <a:r>
              <a:rPr lang="en-US" altLang="en-US" sz="1600" cap="none" dirty="0">
                <a:latin typeface="Arial Rounded MT Bold" panose="020F0704030504030204" pitchFamily="34" charset="0"/>
              </a:rPr>
              <a:t> Rev, 17, 3, 571-580 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600" cap="none" dirty="0">
                <a:latin typeface="Arial Rounded MT Bold" panose="020F0704030504030204" pitchFamily="34" charset="0"/>
              </a:rPr>
              <a:t>Maunder, R. (2011). Understanding laboratory tests. Elsevier Saunders, Toronto</a:t>
            </a:r>
          </a:p>
          <a:p>
            <a:pPr>
              <a:spcBef>
                <a:spcPct val="0"/>
              </a:spcBef>
              <a:buClrTx/>
            </a:pPr>
            <a:r>
              <a:rPr lang="en-CA" sz="1600" cap="none" dirty="0">
                <a:latin typeface="Arial Rounded MT Bold" panose="020F0704030504030204" pitchFamily="34" charset="0"/>
              </a:rPr>
              <a:t>Pagana K.&amp; Pagana T. Editor Macdonald, S. (2018). Mosby’s Canadian Manual of Diagnostic and Laboratory Tests. 2</a:t>
            </a:r>
            <a:r>
              <a:rPr lang="en-CA" sz="1600" cap="none" baseline="30000" dirty="0">
                <a:latin typeface="Arial Rounded MT Bold" panose="020F0704030504030204" pitchFamily="34" charset="0"/>
              </a:rPr>
              <a:t>nd</a:t>
            </a:r>
            <a:r>
              <a:rPr lang="en-CA" sz="1600" cap="none" dirty="0">
                <a:latin typeface="Arial Rounded MT Bold" panose="020F0704030504030204" pitchFamily="34" charset="0"/>
              </a:rPr>
              <a:t>  Canadian edition. Toronto: Elsevier Mosby.</a:t>
            </a:r>
          </a:p>
          <a:p>
            <a:pPr>
              <a:spcBef>
                <a:spcPct val="0"/>
              </a:spcBef>
              <a:buClrTx/>
            </a:pPr>
            <a:r>
              <a:rPr lang="fr-CA" sz="1600" cap="none" dirty="0" err="1">
                <a:latin typeface="Arial Rounded MT Bold" panose="020F0704030504030204" pitchFamily="34" charset="0"/>
              </a:rPr>
              <a:t>Shafarenko</a:t>
            </a:r>
            <a:r>
              <a:rPr lang="fr-CA" sz="1600" cap="none" dirty="0">
                <a:latin typeface="Arial Rounded MT Bold" panose="020F0704030504030204" pitchFamily="34" charset="0"/>
              </a:rPr>
              <a:t>, Mark and </a:t>
            </a:r>
            <a:r>
              <a:rPr lang="fr-CA" sz="1600" cap="none" dirty="0" err="1">
                <a:latin typeface="Arial Rounded MT Bold" panose="020F0704030504030204" pitchFamily="34" charset="0"/>
              </a:rPr>
              <a:t>Tofighi</a:t>
            </a:r>
            <a:r>
              <a:rPr lang="fr-CA" sz="1600" cap="none" dirty="0">
                <a:latin typeface="Arial Rounded MT Bold" panose="020F0704030504030204" pitchFamily="34" charset="0"/>
              </a:rPr>
              <a:t>, Tara (2019).</a:t>
            </a:r>
            <a:r>
              <a:rPr lang="fr-CA" sz="1600" i="1" cap="none" dirty="0">
                <a:latin typeface="Arial Rounded MT Bold" panose="020F0704030504030204" pitchFamily="34" charset="0"/>
              </a:rPr>
              <a:t> Toronto notes: </a:t>
            </a:r>
            <a:r>
              <a:rPr lang="fr-CA" sz="1600" i="1" cap="none" dirty="0" err="1">
                <a:latin typeface="Arial Rounded MT Bold" panose="020F0704030504030204" pitchFamily="34" charset="0"/>
              </a:rPr>
              <a:t>Comprehensive</a:t>
            </a:r>
            <a:r>
              <a:rPr lang="fr-CA" sz="1600" i="1" cap="none" dirty="0">
                <a:latin typeface="Arial Rounded MT Bold" panose="020F0704030504030204" pitchFamily="34" charset="0"/>
              </a:rPr>
              <a:t> </a:t>
            </a:r>
            <a:r>
              <a:rPr lang="fr-CA" sz="1600" i="1" cap="none" dirty="0" err="1">
                <a:latin typeface="Arial Rounded MT Bold" panose="020F0704030504030204" pitchFamily="34" charset="0"/>
              </a:rPr>
              <a:t>Medical</a:t>
            </a:r>
            <a:r>
              <a:rPr lang="fr-CA" sz="1600" i="1" cap="none" dirty="0">
                <a:latin typeface="Arial Rounded MT Bold" panose="020F0704030504030204" pitchFamily="34" charset="0"/>
              </a:rPr>
              <a:t> Reference and </a:t>
            </a:r>
            <a:r>
              <a:rPr lang="fr-CA" sz="1600" i="1" cap="none" dirty="0" err="1">
                <a:latin typeface="Arial Rounded MT Bold" panose="020F0704030504030204" pitchFamily="34" charset="0"/>
              </a:rPr>
              <a:t>Review</a:t>
            </a:r>
            <a:r>
              <a:rPr lang="fr-CA" sz="1600" i="1" cap="none" dirty="0">
                <a:latin typeface="Arial Rounded MT Bold" panose="020F0704030504030204" pitchFamily="34" charset="0"/>
              </a:rPr>
              <a:t> for MCCQE I &amp; USMLE II</a:t>
            </a:r>
            <a:r>
              <a:rPr lang="fr-CA" sz="1600" cap="none" dirty="0">
                <a:latin typeface="Arial Rounded MT Bold" panose="020F0704030504030204" pitchFamily="34" charset="0"/>
              </a:rPr>
              <a:t>. 35</a:t>
            </a:r>
            <a:r>
              <a:rPr lang="fr-CA" sz="1600" cap="none" baseline="30000" dirty="0">
                <a:latin typeface="Arial Rounded MT Bold" panose="020F0704030504030204" pitchFamily="34" charset="0"/>
              </a:rPr>
              <a:t>th</a:t>
            </a:r>
            <a:r>
              <a:rPr lang="fr-CA" sz="1600" cap="none" dirty="0">
                <a:latin typeface="Arial Rounded MT Bold" panose="020F0704030504030204" pitchFamily="34" charset="0"/>
              </a:rPr>
              <a:t> Edition Toronto: Toronto notes for </a:t>
            </a:r>
            <a:r>
              <a:rPr lang="fr-CA" sz="1600" cap="none" dirty="0" err="1">
                <a:latin typeface="Arial Rounded MT Bold" panose="020F0704030504030204" pitchFamily="34" charset="0"/>
              </a:rPr>
              <a:t>medical</a:t>
            </a:r>
            <a:r>
              <a:rPr lang="fr-CA" sz="1600" cap="none" dirty="0">
                <a:latin typeface="Arial Rounded MT Bold" panose="020F0704030504030204" pitchFamily="34" charset="0"/>
              </a:rPr>
              <a:t> </a:t>
            </a:r>
            <a:r>
              <a:rPr lang="fr-CA" sz="1600" cap="none" dirty="0" err="1">
                <a:latin typeface="Arial Rounded MT Bold" panose="020F0704030504030204" pitchFamily="34" charset="0"/>
              </a:rPr>
              <a:t>students</a:t>
            </a:r>
            <a:r>
              <a:rPr lang="fr-CA" sz="1600" cap="none" dirty="0">
                <a:latin typeface="Arial Rounded MT Bold" panose="020F0704030504030204" pitchFamily="34" charset="0"/>
              </a:rPr>
              <a:t> </a:t>
            </a:r>
            <a:r>
              <a:rPr lang="fr-CA" sz="1600" cap="none" dirty="0" err="1">
                <a:latin typeface="Arial Rounded MT Bold" panose="020F0704030504030204" pitchFamily="34" charset="0"/>
              </a:rPr>
              <a:t>inc.</a:t>
            </a:r>
            <a:r>
              <a:rPr lang="fr-CA" sz="1600" cap="none" dirty="0">
                <a:latin typeface="Arial Rounded MT Bold" panose="020F0704030504030204" pitchFamily="34" charset="0"/>
              </a:rPr>
              <a:t> </a:t>
            </a:r>
            <a:endParaRPr lang="en-US" altLang="en-US" sz="1600" cap="none" dirty="0">
              <a:latin typeface="Arial Rounded MT Bold" panose="020F0704030504030204" pitchFamily="34" charset="0"/>
            </a:endParaRPr>
          </a:p>
          <a:p>
            <a:pPr>
              <a:spcBef>
                <a:spcPct val="0"/>
              </a:spcBef>
              <a:buClrTx/>
            </a:pPr>
            <a:r>
              <a:rPr lang="en-US" altLang="en-US" sz="1600" cap="none" dirty="0">
                <a:latin typeface="Arial Rounded MT Bold" panose="020F0704030504030204" pitchFamily="34" charset="0"/>
              </a:rPr>
              <a:t>Shulman et al (2012). CPG for dx &amp; mgt GAS pharyngitis. Clin Infect Disease, 55,10, e86-e102</a:t>
            </a:r>
          </a:p>
          <a:p>
            <a:pPr>
              <a:spcBef>
                <a:spcPct val="0"/>
              </a:spcBef>
              <a:buClrTx/>
            </a:pPr>
            <a:r>
              <a:rPr lang="en-US" altLang="en-US" sz="1600" cap="none" dirty="0">
                <a:latin typeface="Arial Rounded MT Bold" panose="020F0704030504030204" pitchFamily="34" charset="0"/>
              </a:rPr>
              <a:t>Smellie W.S.A. Et al (2007). Best practice in primary care pathology: Review 7. </a:t>
            </a:r>
            <a:r>
              <a:rPr lang="en-US" altLang="en-US" sz="1600" i="1" cap="none" dirty="0">
                <a:latin typeface="Arial Rounded MT Bold" panose="020F0704030504030204" pitchFamily="34" charset="0"/>
              </a:rPr>
              <a:t>J. Clin. </a:t>
            </a:r>
            <a:r>
              <a:rPr lang="en-US" altLang="en-US" sz="1600" i="1" cap="none" dirty="0" err="1">
                <a:latin typeface="Arial Rounded MT Bold" panose="020F0704030504030204" pitchFamily="34" charset="0"/>
              </a:rPr>
              <a:t>Pathol</a:t>
            </a:r>
            <a:r>
              <a:rPr lang="en-US" altLang="en-US" sz="1600" i="1" cap="none" dirty="0">
                <a:latin typeface="Arial Rounded MT Bold" panose="020F0704030504030204" pitchFamily="34" charset="0"/>
              </a:rPr>
              <a:t>. </a:t>
            </a:r>
            <a:r>
              <a:rPr lang="en-US" altLang="en-US" sz="1600" cap="none" dirty="0">
                <a:latin typeface="Arial Rounded MT Bold" panose="020F0704030504030204" pitchFamily="34" charset="0"/>
              </a:rPr>
              <a:t>60, 458-465</a:t>
            </a:r>
          </a:p>
          <a:p>
            <a:r>
              <a:rPr lang="en-US" altLang="en-US" sz="1600" cap="none" dirty="0" err="1">
                <a:latin typeface="Arial Rounded MT Bold" panose="020F0704030504030204" pitchFamily="34" charset="0"/>
              </a:rPr>
              <a:t>Trelease</a:t>
            </a:r>
            <a:r>
              <a:rPr lang="en-US" altLang="en-US" sz="1600" cap="none" dirty="0">
                <a:latin typeface="Arial Rounded MT Bold" panose="020F0704030504030204" pitchFamily="34" charset="0"/>
              </a:rPr>
              <a:t>, Bell, et al (2006). What test is the best for diagnosing infectious mononucleosis. The Journal of Family Practice, 55, 9, 799-802. </a:t>
            </a:r>
          </a:p>
          <a:p>
            <a:pPr>
              <a:buNone/>
            </a:pPr>
            <a:endParaRPr lang="en-US" alt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443810_Laboratory Droplet design_SL_V1.potx" id="{9EEFE6ED-ED6C-4238-B6CC-49FEA5C5B53A}" vid="{1A2AC40C-025B-4795-9EF9-54168E9320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1329fae2-bb7b-4810-9a7f-68c209e8917f">Final</Status>
    <Comment xmlns="8ecba0e0-c0b5-40b1-ac25-b16b8fba1f8a" xsi:nil="true"/>
    <_dlc_DocId xmlns="9c3a31af-34cd-4815-a782-ff627de391f9">QSQUREXY3ZVK-162-300</_dlc_DocId>
    <_dlc_DocIdUrl xmlns="9c3a31af-34cd-4815-a782-ff627de391f9">
      <Url>http://137.122.214.103/Faculties/ahad/_layouts/DocIdRedir.aspx?ID=QSQUREXY3ZVK-162-300</Url>
      <Description>QSQUREXY3ZVK-162-300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BAD2CD8DBC143B834EC320135B9D1" ma:contentTypeVersion="3" ma:contentTypeDescription="Create a new document." ma:contentTypeScope="" ma:versionID="ebef8f2e1730b8383d10329753f2e71f">
  <xsd:schema xmlns:xsd="http://www.w3.org/2001/XMLSchema" xmlns:xs="http://www.w3.org/2001/XMLSchema" xmlns:p="http://schemas.microsoft.com/office/2006/metadata/properties" xmlns:ns2="9c3a31af-34cd-4815-a782-ff627de391f9" xmlns:ns3="1329fae2-bb7b-4810-9a7f-68c209e8917f" xmlns:ns4="8ecba0e0-c0b5-40b1-ac25-b16b8fba1f8a" targetNamespace="http://schemas.microsoft.com/office/2006/metadata/properties" ma:root="true" ma:fieldsID="dde761b9c1d5e7aab941cfa498917b1b" ns2:_="" ns3:_="" ns4:_="">
    <xsd:import namespace="9c3a31af-34cd-4815-a782-ff627de391f9"/>
    <xsd:import namespace="1329fae2-bb7b-4810-9a7f-68c209e8917f"/>
    <xsd:import namespace="8ecba0e0-c0b5-40b1-ac25-b16b8fba1f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tatus" minOccurs="0"/>
                <xsd:element ref="ns4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a31af-34cd-4815-a782-ff627de391f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29fae2-bb7b-4810-9a7f-68c209e8917f" elementFormDefault="qualified">
    <xsd:import namespace="http://schemas.microsoft.com/office/2006/documentManagement/types"/>
    <xsd:import namespace="http://schemas.microsoft.com/office/infopath/2007/PartnerControls"/>
    <xsd:element name="Status" ma:index="11" nillable="true" ma:displayName="Status" ma:default="Working Copy" ma:format="Dropdown" ma:internalName="Status">
      <xsd:simpleType>
        <xsd:restriction base="dms:Choice">
          <xsd:enumeration value="Working Copy"/>
          <xsd:enumeration value="Final"/>
          <xsd:enumeration value="Online (LMS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cba0e0-c0b5-40b1-ac25-b16b8fba1f8a" elementFormDefault="qualified">
    <xsd:import namespace="http://schemas.microsoft.com/office/2006/documentManagement/types"/>
    <xsd:import namespace="http://schemas.microsoft.com/office/infopath/2007/PartnerControls"/>
    <xsd:element name="Comment" ma:index="12" nillable="true" ma:displayName="Comment" ma:internalName="Comment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783F2E-97E2-484E-BF92-B33AEA715C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AB9843-8233-452C-82B9-ECE749792D29}">
  <ds:schemaRefs>
    <ds:schemaRef ds:uri="http://schemas.microsoft.com/office/2006/documentManagement/types"/>
    <ds:schemaRef ds:uri="http://purl.org/dc/elements/1.1/"/>
    <ds:schemaRef ds:uri="9c3a31af-34cd-4815-a782-ff627de391f9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8ecba0e0-c0b5-40b1-ac25-b16b8fba1f8a"/>
    <ds:schemaRef ds:uri="1329fae2-bb7b-4810-9a7f-68c209e8917f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BBD796F-8214-4A6B-934A-36F5BA87D2D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57C977D-CAAB-49A9-BE72-6098C0F60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3a31af-34cd-4815-a782-ff627de391f9"/>
    <ds:schemaRef ds:uri="1329fae2-bb7b-4810-9a7f-68c209e8917f"/>
    <ds:schemaRef ds:uri="8ecba0e0-c0b5-40b1-ac25-b16b8fba1f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Droplet design(2)</Template>
  <TotalTime>0</TotalTime>
  <Words>1020</Words>
  <Application>Microsoft Macintosh PowerPoint</Application>
  <PresentationFormat>Widescreen</PresentationFormat>
  <Paragraphs>149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Rounded MT Bold</vt:lpstr>
      <vt:lpstr>Calibri</vt:lpstr>
      <vt:lpstr>Tahoma</vt:lpstr>
      <vt:lpstr>Tw Cen MT</vt:lpstr>
      <vt:lpstr>Wingdings</vt:lpstr>
      <vt:lpstr>Droplet</vt:lpstr>
      <vt:lpstr>An Evidence Based Approach to Investigations for the  Ear, Nose &amp; Throat System</vt:lpstr>
      <vt:lpstr>Common tests used for the ENT system</vt:lpstr>
      <vt:lpstr>Pharyngitis</vt:lpstr>
      <vt:lpstr>Rapid antigen detection tests (RAT) for group A streptococcus (GAS) </vt:lpstr>
      <vt:lpstr>Pharyngitis</vt:lpstr>
      <vt:lpstr>PowerPoint Presentation</vt:lpstr>
      <vt:lpstr>WBC (3.5-10.5 x10 9/L)</vt:lpstr>
      <vt:lpstr>Neutrophils</vt:lpstr>
      <vt:lpstr>Lymphocytes</vt:lpstr>
      <vt:lpstr>Monocytes</vt:lpstr>
      <vt:lpstr>Eosinophils</vt:lpstr>
      <vt:lpstr>Basophils</vt:lpstr>
      <vt:lpstr>Pharyngitis</vt:lpstr>
      <vt:lpstr>Heterophile antibody (Monospot) </vt:lpstr>
      <vt:lpstr>References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2019-07-15T20:41:35Z</dcterms:created>
  <dcterms:modified xsi:type="dcterms:W3CDTF">2026-07-12T15:55:31Z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0x0101005B6BAD2CD8DBC143B834EC320135B9D1</vt:lpwstr>
  </property>
  <property fmtid="{D5CDD505-2E9C-101B-9397-08002B2CF9AE}" pid="3" name="_dlc_DocIdItemGuid">
    <vt:lpwstr>6127212b-b496-4d17-8820-5fea750117a9</vt:lpwstr>
  </property>
</Properties>
</file>